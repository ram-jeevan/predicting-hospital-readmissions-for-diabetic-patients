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rial Bold" charset="1" panose="020B0704020202020204"/>
      <p:regular r:id="rId22"/>
    </p:embeddedFont>
    <p:embeddedFont>
      <p:font typeface="Arial" charset="1" panose="020B0604020202020204"/>
      <p:regular r:id="rId24"/>
    </p:embeddedFont>
    <p:embeddedFont>
      <p:font typeface="Calibri (MS)" charset="1" panose="020F0502020204030204"/>
      <p:regular r:id="rId25"/>
    </p:embeddedFont>
    <p:embeddedFont>
      <p:font typeface="Arial Italics" charset="1" panose="020B0604020202090204"/>
      <p:regular r:id="rId30"/>
    </p:embeddedFont>
    <p:embeddedFont>
      <p:font typeface="Trebuchet MS Bold" charset="1" panose="020B0703020202020204"/>
      <p:regular r:id="rId36"/>
    </p:embeddedFont>
    <p:embeddedFont>
      <p:font typeface="Calibri (MS) Italics" charset="1" panose="020F05020202040A0204"/>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notesSlides/notesSlide2.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notesSlides/notesSlide3.xml" Type="http://schemas.openxmlformats.org/officeDocument/2006/relationships/notesSlide"/><Relationship Id="rId27" Target="notesSlides/notesSlide4.xml" Type="http://schemas.openxmlformats.org/officeDocument/2006/relationships/notesSlide"/><Relationship Id="rId28" Target="notesSlides/notesSlide5.xml" Type="http://schemas.openxmlformats.org/officeDocument/2006/relationships/notesSlide"/><Relationship Id="rId29" Target="notesSlides/notesSlide6.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fonts/font36.fntdata" Type="http://schemas.openxmlformats.org/officeDocument/2006/relationships/font"/><Relationship Id="rId37" Target="notesSlides/notesSlide12.xml" Type="http://schemas.openxmlformats.org/officeDocument/2006/relationships/notesSlide"/><Relationship Id="rId38" Target="fonts/font38.fntdata" Type="http://schemas.openxmlformats.org/officeDocument/2006/relationships/font"/><Relationship Id="rId39" Target="notesSlides/notesSlide13.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It is an inpatient encounter (a hospital admission).</a:t>
            </a:r>
          </a:p>
          <a:p>
            <a:r>
              <a:rPr lang="en-US"/>
              <a:t>(2)	It is a diabetic encounter, that is, one during which any kind of diabetes was entered into the system as a diagnosis.</a:t>
            </a:r>
          </a:p>
          <a:p>
            <a:r>
              <a:rPr lang="en-US"/>
              <a:t>(3)	The length of stay was at least 1 day and at most 14 days.</a:t>
            </a:r>
          </a:p>
          <a:p>
            <a:r>
              <a:rPr lang="en-US"/>
              <a:t>(4)	Laboratory tests were performed during the encounter.</a:t>
            </a:r>
          </a:p>
          <a:p>
            <a:r>
              <a:rPr lang="en-US"/>
              <a:t>(5)	Medications were administered during the encounter.</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strongest predictor of future admissions is past admissions.</a:t>
            </a:r>
          </a:p>
          <a:p>
            <a:r>
              <a:rPr lang="en-US"/>
              <a:t>Other strong predictors: number of medications, discharge destination</a:t>
            </a:r>
          </a:p>
          <a:p>
            <a:r>
              <a:rPr lang="en-US"/>
              <a:t>Removing prior visit history drops model accuracy from 70% to 57%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clinical applications, generally this is a decent guideline and companion, not a substitute for clinical judgement. Healthcare is generally complex and determinant on socio economic factors, lifestyle, genetics, body types etc, so it would not be realistic to aim for something like an 80%.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a possible depiction of how the model could be implemented in practice - it could pop up as an additional field under the patient’s data, which would allow planning teams to have an instant view of the risk scores before going granular into the details of each patient. This gives a big picture view of how many high-risk patients there are. Additionally, they can be colour coded based on their risk range, which can group them into different support tiers and groups.</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the bigger picture, a weekly discharge review can be churned out. This allows hospital teams to have a broad overview/ estimation of how many beds would be needed, allowing for better preparedness.</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Using the False Positive Data to study why a person predicted readmitted was not readmitted</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 Id="rId4" Target="../media/image4.png" Type="http://schemas.openxmlformats.org/officeDocument/2006/relationships/image"/><Relationship Id="rId5" Target="../media/image5.jpeg" Type="http://schemas.openxmlformats.org/officeDocument/2006/relationships/image"/><Relationship Id="rId6"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jpeg" Type="http://schemas.openxmlformats.org/officeDocument/2006/relationships/image"/><Relationship Id="rId4" Target="../media/image7.jpeg" Type="http://schemas.openxmlformats.org/officeDocument/2006/relationships/image"/><Relationship Id="rId5" Target="../media/image8.jpeg" Type="http://schemas.openxmlformats.org/officeDocument/2006/relationships/image"/><Relationship Id="rId6" Target="../media/image9.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jpeg" Type="http://schemas.openxmlformats.org/officeDocument/2006/relationships/image"/><Relationship Id="rId4"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jpeg" Type="http://schemas.openxmlformats.org/officeDocument/2006/relationships/image"/><Relationship Id="rId4"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jpeg" Type="http://schemas.openxmlformats.org/officeDocument/2006/relationships/image"/><Relationship Id="rId4" Target="../media/image1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2.jpe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jpeg" Type="http://schemas.openxmlformats.org/officeDocument/2006/relationships/image"/><Relationship Id="rId4" Target="../media/image1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16585" r="0" b="-16585"/>
            </a:stretch>
          </a:blipFill>
        </p:spPr>
      </p:sp>
      <p:grpSp>
        <p:nvGrpSpPr>
          <p:cNvPr name="Group 3" id="3"/>
          <p:cNvGrpSpPr/>
          <p:nvPr/>
        </p:nvGrpSpPr>
        <p:grpSpPr>
          <a:xfrm rot="0">
            <a:off x="1371600" y="2743200"/>
            <a:ext cx="15544800" cy="3657600"/>
            <a:chOff x="0" y="0"/>
            <a:chExt cx="20726400" cy="4876800"/>
          </a:xfrm>
        </p:grpSpPr>
        <p:sp>
          <p:nvSpPr>
            <p:cNvPr name="Freeform 4" id="4"/>
            <p:cNvSpPr/>
            <p:nvPr/>
          </p:nvSpPr>
          <p:spPr>
            <a:xfrm flipH="false" flipV="false" rot="0">
              <a:off x="0" y="0"/>
              <a:ext cx="20726400" cy="4876800"/>
            </a:xfrm>
            <a:custGeom>
              <a:avLst/>
              <a:gdLst/>
              <a:ahLst/>
              <a:cxnLst/>
              <a:rect r="r" b="b" t="t" l="l"/>
              <a:pathLst>
                <a:path h="4876800" w="20726400">
                  <a:moveTo>
                    <a:pt x="0" y="0"/>
                  </a:moveTo>
                  <a:lnTo>
                    <a:pt x="20726400" y="0"/>
                  </a:lnTo>
                  <a:lnTo>
                    <a:pt x="20726400" y="4876800"/>
                  </a:lnTo>
                  <a:lnTo>
                    <a:pt x="0" y="4876800"/>
                  </a:lnTo>
                  <a:close/>
                </a:path>
              </a:pathLst>
            </a:custGeom>
            <a:blipFill>
              <a:blip r:embed="rId4">
                <a:alphaModFix amt="0"/>
              </a:blip>
              <a:stretch>
                <a:fillRect l="0" t="-32811" r="0" b="-32811"/>
              </a:stretch>
            </a:blipFill>
          </p:spPr>
        </p:sp>
        <p:sp>
          <p:nvSpPr>
            <p:cNvPr name="TextBox 5" id="5"/>
            <p:cNvSpPr txBox="true"/>
            <p:nvPr/>
          </p:nvSpPr>
          <p:spPr>
            <a:xfrm>
              <a:off x="0" y="-219075"/>
              <a:ext cx="20726400" cy="5095875"/>
            </a:xfrm>
            <a:prstGeom prst="rect">
              <a:avLst/>
            </a:prstGeom>
          </p:spPr>
          <p:txBody>
            <a:bodyPr anchor="ctr" rtlCol="false" tIns="0" lIns="0" bIns="0" rIns="0"/>
            <a:lstStyle/>
            <a:p>
              <a:pPr algn="l">
                <a:lnSpc>
                  <a:spcPts val="12479"/>
                </a:lnSpc>
              </a:pPr>
              <a:r>
                <a:rPr lang="en-US" b="true" sz="8800">
                  <a:solidFill>
                    <a:srgbClr val="FFFFFF"/>
                  </a:solidFill>
                  <a:latin typeface="Arial Bold"/>
                  <a:ea typeface="Arial Bold"/>
                  <a:cs typeface="Arial Bold"/>
                  <a:sym typeface="Arial Bold"/>
                </a:rPr>
                <a:t>Predicting Diabetes Patient</a:t>
              </a:r>
            </a:p>
            <a:p>
              <a:pPr algn="l">
                <a:lnSpc>
                  <a:spcPts val="12479"/>
                </a:lnSpc>
              </a:pPr>
              <a:r>
                <a:rPr lang="en-US" b="true" sz="8800">
                  <a:solidFill>
                    <a:srgbClr val="FFFFFF"/>
                  </a:solidFill>
                  <a:latin typeface="Arial Bold"/>
                  <a:ea typeface="Arial Bold"/>
                  <a:cs typeface="Arial Bold"/>
                  <a:sym typeface="Arial Bold"/>
                </a:rPr>
                <a:t>Hospital Readmissions</a:t>
              </a:r>
            </a:p>
          </p:txBody>
        </p:sp>
      </p:grpSp>
      <p:grpSp>
        <p:nvGrpSpPr>
          <p:cNvPr name="Group 6" id="6"/>
          <p:cNvGrpSpPr/>
          <p:nvPr/>
        </p:nvGrpSpPr>
        <p:grpSpPr>
          <a:xfrm rot="0">
            <a:off x="1371600" y="6583680"/>
            <a:ext cx="15544800" cy="914400"/>
            <a:chOff x="0" y="0"/>
            <a:chExt cx="20726400" cy="1219200"/>
          </a:xfrm>
        </p:grpSpPr>
        <p:sp>
          <p:nvSpPr>
            <p:cNvPr name="Freeform 7" id="7"/>
            <p:cNvSpPr/>
            <p:nvPr/>
          </p:nvSpPr>
          <p:spPr>
            <a:xfrm flipH="false" flipV="false" rot="0">
              <a:off x="0" y="0"/>
              <a:ext cx="20726400" cy="1219200"/>
            </a:xfrm>
            <a:custGeom>
              <a:avLst/>
              <a:gdLst/>
              <a:ahLst/>
              <a:cxnLst/>
              <a:rect r="r" b="b" t="t" l="l"/>
              <a:pathLst>
                <a:path h="1219200" w="20726400">
                  <a:moveTo>
                    <a:pt x="0" y="0"/>
                  </a:moveTo>
                  <a:lnTo>
                    <a:pt x="20726400" y="0"/>
                  </a:lnTo>
                  <a:lnTo>
                    <a:pt x="20726400" y="1219200"/>
                  </a:lnTo>
                  <a:lnTo>
                    <a:pt x="0" y="1219200"/>
                  </a:lnTo>
                  <a:close/>
                </a:path>
              </a:pathLst>
            </a:custGeom>
            <a:blipFill>
              <a:blip r:embed="rId5">
                <a:alphaModFix amt="0"/>
              </a:blip>
              <a:stretch>
                <a:fillRect l="0" t="-586727" r="0" b="-586727"/>
              </a:stretch>
            </a:blipFill>
          </p:spPr>
        </p:sp>
        <p:sp>
          <p:nvSpPr>
            <p:cNvPr name="TextBox 8" id="8"/>
            <p:cNvSpPr txBox="true"/>
            <p:nvPr/>
          </p:nvSpPr>
          <p:spPr>
            <a:xfrm>
              <a:off x="0" y="-19050"/>
              <a:ext cx="20726400" cy="1238250"/>
            </a:xfrm>
            <a:prstGeom prst="rect">
              <a:avLst/>
            </a:prstGeom>
          </p:spPr>
          <p:txBody>
            <a:bodyPr anchor="ctr" rtlCol="false" tIns="0" lIns="0" bIns="0" rIns="0"/>
            <a:lstStyle/>
            <a:p>
              <a:pPr algn="l">
                <a:lnSpc>
                  <a:spcPts val="4800"/>
                </a:lnSpc>
              </a:pPr>
              <a:r>
                <a:rPr lang="en-US" b="true" sz="4000">
                  <a:solidFill>
                    <a:srgbClr val="10B981"/>
                  </a:solidFill>
                  <a:latin typeface="Arial Bold"/>
                  <a:ea typeface="Arial Bold"/>
                  <a:cs typeface="Arial Bold"/>
                  <a:sym typeface="Arial Bold"/>
                </a:rPr>
                <a:t>A Risk Scoring System for Hospital Planning Teams</a:t>
              </a:r>
            </a:p>
          </p:txBody>
        </p:sp>
      </p:grpSp>
      <p:grpSp>
        <p:nvGrpSpPr>
          <p:cNvPr name="Group 9" id="9"/>
          <p:cNvGrpSpPr/>
          <p:nvPr/>
        </p:nvGrpSpPr>
        <p:grpSpPr>
          <a:xfrm rot="0">
            <a:off x="1371600" y="8229600"/>
            <a:ext cx="15544800" cy="572765"/>
            <a:chOff x="0" y="0"/>
            <a:chExt cx="20726400" cy="763687"/>
          </a:xfrm>
        </p:grpSpPr>
        <p:sp>
          <p:nvSpPr>
            <p:cNvPr name="Freeform 10" id="10"/>
            <p:cNvSpPr/>
            <p:nvPr/>
          </p:nvSpPr>
          <p:spPr>
            <a:xfrm flipH="false" flipV="false" rot="0">
              <a:off x="0" y="0"/>
              <a:ext cx="20726400" cy="763684"/>
            </a:xfrm>
            <a:custGeom>
              <a:avLst/>
              <a:gdLst/>
              <a:ahLst/>
              <a:cxnLst/>
              <a:rect r="r" b="b" t="t" l="l"/>
              <a:pathLst>
                <a:path h="763684" w="20726400">
                  <a:moveTo>
                    <a:pt x="0" y="0"/>
                  </a:moveTo>
                  <a:lnTo>
                    <a:pt x="20726400" y="0"/>
                  </a:lnTo>
                  <a:lnTo>
                    <a:pt x="20726400" y="763684"/>
                  </a:lnTo>
                  <a:lnTo>
                    <a:pt x="0" y="763684"/>
                  </a:lnTo>
                  <a:close/>
                </a:path>
              </a:pathLst>
            </a:custGeom>
            <a:blipFill>
              <a:blip r:embed="rId4">
                <a:alphaModFix amt="0"/>
              </a:blip>
              <a:stretch>
                <a:fillRect l="0" t="-480950" r="0" b="-476697"/>
              </a:stretch>
            </a:blipFill>
          </p:spPr>
        </p:sp>
        <p:sp>
          <p:nvSpPr>
            <p:cNvPr name="TextBox 11" id="11"/>
            <p:cNvSpPr txBox="true"/>
            <p:nvPr/>
          </p:nvSpPr>
          <p:spPr>
            <a:xfrm>
              <a:off x="0" y="-19050"/>
              <a:ext cx="20726400" cy="782737"/>
            </a:xfrm>
            <a:prstGeom prst="rect">
              <a:avLst/>
            </a:prstGeom>
          </p:spPr>
          <p:txBody>
            <a:bodyPr anchor="ctr" rtlCol="false" tIns="0" lIns="0" bIns="0" rIns="0"/>
            <a:lstStyle/>
            <a:p>
              <a:pPr algn="l">
                <a:lnSpc>
                  <a:spcPts val="3359"/>
                </a:lnSpc>
              </a:pPr>
              <a:r>
                <a:rPr lang="en-US" b="true" sz="2799">
                  <a:solidFill>
                    <a:srgbClr val="FFFFFF"/>
                  </a:solidFill>
                  <a:latin typeface="Arial Bold"/>
                  <a:ea typeface="Arial Bold"/>
                  <a:cs typeface="Arial Bold"/>
                  <a:sym typeface="Arial Bold"/>
                </a:rPr>
                <a:t>Data Analytics Capstone Project  |  General Assembly DABPT03</a:t>
              </a:r>
            </a:p>
          </p:txBody>
        </p:sp>
      </p:grpSp>
      <p:grpSp>
        <p:nvGrpSpPr>
          <p:cNvPr name="Group 12" id="12"/>
          <p:cNvGrpSpPr/>
          <p:nvPr/>
        </p:nvGrpSpPr>
        <p:grpSpPr>
          <a:xfrm rot="0">
            <a:off x="1371600" y="8961120"/>
            <a:ext cx="15544800" cy="572765"/>
            <a:chOff x="0" y="0"/>
            <a:chExt cx="20726400" cy="763687"/>
          </a:xfrm>
        </p:grpSpPr>
        <p:sp>
          <p:nvSpPr>
            <p:cNvPr name="Freeform 13" id="13"/>
            <p:cNvSpPr/>
            <p:nvPr/>
          </p:nvSpPr>
          <p:spPr>
            <a:xfrm flipH="false" flipV="false" rot="0">
              <a:off x="0" y="0"/>
              <a:ext cx="20726400" cy="763684"/>
            </a:xfrm>
            <a:custGeom>
              <a:avLst/>
              <a:gdLst/>
              <a:ahLst/>
              <a:cxnLst/>
              <a:rect r="r" b="b" t="t" l="l"/>
              <a:pathLst>
                <a:path h="763684" w="20726400">
                  <a:moveTo>
                    <a:pt x="0" y="0"/>
                  </a:moveTo>
                  <a:lnTo>
                    <a:pt x="20726400" y="0"/>
                  </a:lnTo>
                  <a:lnTo>
                    <a:pt x="20726400" y="763684"/>
                  </a:lnTo>
                  <a:lnTo>
                    <a:pt x="0" y="763684"/>
                  </a:lnTo>
                  <a:close/>
                </a:path>
              </a:pathLst>
            </a:custGeom>
            <a:blipFill>
              <a:blip r:embed="rId4">
                <a:alphaModFix amt="0"/>
              </a:blip>
              <a:stretch>
                <a:fillRect l="0" t="-480950" r="0" b="-476697"/>
              </a:stretch>
            </a:blipFill>
          </p:spPr>
        </p:sp>
        <p:sp>
          <p:nvSpPr>
            <p:cNvPr name="TextBox 14" id="14"/>
            <p:cNvSpPr txBox="true"/>
            <p:nvPr/>
          </p:nvSpPr>
          <p:spPr>
            <a:xfrm>
              <a:off x="0" y="-19050"/>
              <a:ext cx="20726400" cy="782737"/>
            </a:xfrm>
            <a:prstGeom prst="rect">
              <a:avLst/>
            </a:prstGeom>
          </p:spPr>
          <p:txBody>
            <a:bodyPr anchor="ctr" rtlCol="false" tIns="0" lIns="0" bIns="0" rIns="0"/>
            <a:lstStyle/>
            <a:p>
              <a:pPr algn="l">
                <a:lnSpc>
                  <a:spcPts val="3359"/>
                </a:lnSpc>
              </a:pPr>
              <a:r>
                <a:rPr lang="en-US" b="true" sz="2799">
                  <a:solidFill>
                    <a:srgbClr val="FFFFFF"/>
                  </a:solidFill>
                  <a:latin typeface="Arial Bold"/>
                  <a:ea typeface="Arial Bold"/>
                  <a:cs typeface="Arial Bold"/>
                  <a:sym typeface="Arial Bold"/>
                </a:rPr>
                <a:t>Ram Jeevan  |  February 28 2026</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914400" y="548640"/>
            <a:ext cx="16459200" cy="1097404"/>
            <a:chOff x="0" y="0"/>
            <a:chExt cx="21945600" cy="1463205"/>
          </a:xfrm>
        </p:grpSpPr>
        <p:sp>
          <p:nvSpPr>
            <p:cNvPr name="Freeform 3" id="3"/>
            <p:cNvSpPr/>
            <p:nvPr/>
          </p:nvSpPr>
          <p:spPr>
            <a:xfrm flipH="false" flipV="false" rot="0">
              <a:off x="0" y="0"/>
              <a:ext cx="21945600" cy="1463200"/>
            </a:xfrm>
            <a:custGeom>
              <a:avLst/>
              <a:gdLst/>
              <a:ahLst/>
              <a:cxnLst/>
              <a:rect r="r" b="b" t="t" l="l"/>
              <a:pathLst>
                <a:path h="1463200" w="21945600">
                  <a:moveTo>
                    <a:pt x="0" y="0"/>
                  </a:moveTo>
                  <a:lnTo>
                    <a:pt x="21945600" y="0"/>
                  </a:lnTo>
                  <a:lnTo>
                    <a:pt x="21945600" y="1463200"/>
                  </a:lnTo>
                  <a:lnTo>
                    <a:pt x="0" y="1463200"/>
                  </a:lnTo>
                  <a:close/>
                </a:path>
              </a:pathLst>
            </a:custGeom>
            <a:blipFill>
              <a:blip r:embed="rId3">
                <a:alphaModFix amt="0"/>
              </a:blip>
              <a:stretch>
                <a:fillRect l="0" t="-242243" r="0" b="-242243"/>
              </a:stretch>
            </a:blipFill>
          </p:spPr>
        </p:sp>
        <p:sp>
          <p:nvSpPr>
            <p:cNvPr name="TextBox 4" id="4"/>
            <p:cNvSpPr txBox="true"/>
            <p:nvPr/>
          </p:nvSpPr>
          <p:spPr>
            <a:xfrm>
              <a:off x="0" y="-19050"/>
              <a:ext cx="21945600" cy="1482255"/>
            </a:xfrm>
            <a:prstGeom prst="rect">
              <a:avLst/>
            </a:prstGeom>
          </p:spPr>
          <p:txBody>
            <a:bodyPr anchor="ctr" rtlCol="false" tIns="0" lIns="0" bIns="0" rIns="0"/>
            <a:lstStyle/>
            <a:p>
              <a:pPr algn="l">
                <a:lnSpc>
                  <a:spcPts val="5759"/>
                </a:lnSpc>
              </a:pPr>
              <a:r>
                <a:rPr lang="en-US" b="true" sz="4800">
                  <a:solidFill>
                    <a:srgbClr val="1E3A5F"/>
                  </a:solidFill>
                  <a:latin typeface="Arial Bold"/>
                  <a:ea typeface="Arial Bold"/>
                  <a:cs typeface="Arial Bold"/>
                  <a:sym typeface="Arial Bold"/>
                </a:rPr>
                <a:t>Singapore’s Hospital Bed Occupancy </a:t>
              </a:r>
            </a:p>
          </p:txBody>
        </p:sp>
      </p:grpSp>
      <p:grpSp>
        <p:nvGrpSpPr>
          <p:cNvPr name="Group 5" id="5"/>
          <p:cNvGrpSpPr/>
          <p:nvPr/>
        </p:nvGrpSpPr>
        <p:grpSpPr>
          <a:xfrm rot="0">
            <a:off x="1163174" y="1646044"/>
            <a:ext cx="9574930" cy="8031356"/>
            <a:chOff x="0" y="0"/>
            <a:chExt cx="12766573" cy="10708475"/>
          </a:xfrm>
        </p:grpSpPr>
        <p:sp>
          <p:nvSpPr>
            <p:cNvPr name="Freeform 6" id="6"/>
            <p:cNvSpPr/>
            <p:nvPr/>
          </p:nvSpPr>
          <p:spPr>
            <a:xfrm flipH="false" flipV="false" rot="0">
              <a:off x="0" y="0"/>
              <a:ext cx="12766548" cy="10708513"/>
            </a:xfrm>
            <a:custGeom>
              <a:avLst/>
              <a:gdLst/>
              <a:ahLst/>
              <a:cxnLst/>
              <a:rect r="r" b="b" t="t" l="l"/>
              <a:pathLst>
                <a:path h="10708513" w="12766548">
                  <a:moveTo>
                    <a:pt x="0" y="0"/>
                  </a:moveTo>
                  <a:lnTo>
                    <a:pt x="12766548" y="0"/>
                  </a:lnTo>
                  <a:lnTo>
                    <a:pt x="12766548" y="10708513"/>
                  </a:lnTo>
                  <a:lnTo>
                    <a:pt x="0" y="10708513"/>
                  </a:lnTo>
                  <a:lnTo>
                    <a:pt x="0" y="0"/>
                  </a:lnTo>
                  <a:close/>
                </a:path>
              </a:pathLst>
            </a:custGeom>
            <a:blipFill>
              <a:blip r:embed="rId4"/>
              <a:stretch>
                <a:fillRect l="0" t="0" r="0" b="0"/>
              </a:stretch>
            </a:blipFill>
          </p:spPr>
        </p:sp>
      </p:grpSp>
      <p:sp>
        <p:nvSpPr>
          <p:cNvPr name="Freeform 7" id="7"/>
          <p:cNvSpPr/>
          <p:nvPr/>
        </p:nvSpPr>
        <p:spPr>
          <a:xfrm flipH="false" flipV="false" rot="0">
            <a:off x="11752187" y="6381885"/>
            <a:ext cx="5255653" cy="3081091"/>
          </a:xfrm>
          <a:custGeom>
            <a:avLst/>
            <a:gdLst/>
            <a:ahLst/>
            <a:cxnLst/>
            <a:rect r="r" b="b" t="t" l="l"/>
            <a:pathLst>
              <a:path h="3081091" w="5255653">
                <a:moveTo>
                  <a:pt x="0" y="0"/>
                </a:moveTo>
                <a:lnTo>
                  <a:pt x="5255653" y="0"/>
                </a:lnTo>
                <a:lnTo>
                  <a:pt x="5255653" y="3081091"/>
                </a:lnTo>
                <a:lnTo>
                  <a:pt x="0" y="3081091"/>
                </a:lnTo>
                <a:lnTo>
                  <a:pt x="0" y="0"/>
                </a:lnTo>
                <a:close/>
              </a:path>
            </a:pathLst>
          </a:custGeom>
          <a:blipFill>
            <a:blip r:embed="rId5"/>
            <a:stretch>
              <a:fillRect l="0" t="-3345" r="0" b="-3345"/>
            </a:stretch>
          </a:blipFill>
        </p:spPr>
      </p:sp>
      <p:grpSp>
        <p:nvGrpSpPr>
          <p:cNvPr name="Group 8" id="8"/>
          <p:cNvGrpSpPr/>
          <p:nvPr/>
        </p:nvGrpSpPr>
        <p:grpSpPr>
          <a:xfrm rot="0">
            <a:off x="11182617" y="1646044"/>
            <a:ext cx="6501603" cy="4403266"/>
            <a:chOff x="0" y="0"/>
            <a:chExt cx="8668804" cy="5871021"/>
          </a:xfrm>
        </p:grpSpPr>
        <p:sp>
          <p:nvSpPr>
            <p:cNvPr name="Freeform 9" id="9"/>
            <p:cNvSpPr/>
            <p:nvPr/>
          </p:nvSpPr>
          <p:spPr>
            <a:xfrm flipH="false" flipV="false" rot="0">
              <a:off x="0" y="0"/>
              <a:ext cx="8668800" cy="5871021"/>
            </a:xfrm>
            <a:custGeom>
              <a:avLst/>
              <a:gdLst/>
              <a:ahLst/>
              <a:cxnLst/>
              <a:rect r="r" b="b" t="t" l="l"/>
              <a:pathLst>
                <a:path h="5871021" w="8668800">
                  <a:moveTo>
                    <a:pt x="0" y="0"/>
                  </a:moveTo>
                  <a:lnTo>
                    <a:pt x="8668800" y="0"/>
                  </a:lnTo>
                  <a:lnTo>
                    <a:pt x="8668800" y="5871021"/>
                  </a:lnTo>
                  <a:lnTo>
                    <a:pt x="0" y="5871021"/>
                  </a:lnTo>
                  <a:close/>
                </a:path>
              </a:pathLst>
            </a:custGeom>
            <a:blipFill>
              <a:blip r:embed="rId6">
                <a:alphaModFix amt="0"/>
              </a:blip>
              <a:stretch>
                <a:fillRect l="-4180" t="0" r="-4180" b="0"/>
              </a:stretch>
            </a:blipFill>
          </p:spPr>
        </p:sp>
        <p:sp>
          <p:nvSpPr>
            <p:cNvPr name="TextBox 10" id="10"/>
            <p:cNvSpPr txBox="true"/>
            <p:nvPr/>
          </p:nvSpPr>
          <p:spPr>
            <a:xfrm>
              <a:off x="0" y="-19050"/>
              <a:ext cx="8668804" cy="5890071"/>
            </a:xfrm>
            <a:prstGeom prst="rect">
              <a:avLst/>
            </a:prstGeom>
          </p:spPr>
          <p:txBody>
            <a:bodyPr anchor="ctr" rtlCol="false" tIns="0" lIns="0" bIns="0" rIns="0"/>
            <a:lstStyle/>
            <a:p>
              <a:pPr algn="l">
                <a:lnSpc>
                  <a:spcPts val="3359"/>
                </a:lnSpc>
              </a:pPr>
            </a:p>
            <a:p>
              <a:pPr algn="l" marL="746760" indent="-373380" lvl="1">
                <a:lnSpc>
                  <a:spcPts val="3840"/>
                </a:lnSpc>
                <a:buFont typeface="Arial"/>
                <a:buChar char="•"/>
              </a:pPr>
              <a:r>
                <a:rPr lang="en-US" b="true" sz="3200">
                  <a:solidFill>
                    <a:srgbClr val="2C2C2C"/>
                  </a:solidFill>
                  <a:latin typeface="Arial Bold"/>
                  <a:ea typeface="Arial Bold"/>
                  <a:cs typeface="Arial Bold"/>
                  <a:sym typeface="Arial Bold"/>
                </a:rPr>
                <a:t>Rising elderly population</a:t>
              </a:r>
              <a:r>
                <a:rPr lang="en-US" sz="3200">
                  <a:solidFill>
                    <a:srgbClr val="2C2C2C"/>
                  </a:solidFill>
                  <a:latin typeface="Arial"/>
                  <a:ea typeface="Arial"/>
                  <a:cs typeface="Arial"/>
                  <a:sym typeface="Arial"/>
                </a:rPr>
                <a:t> leads to a forecasted increase in a demand for hospital beds.</a:t>
              </a:r>
            </a:p>
            <a:p>
              <a:pPr algn="l" marL="653415" indent="-326707" lvl="1">
                <a:lnSpc>
                  <a:spcPts val="3359"/>
                </a:lnSpc>
              </a:pPr>
            </a:p>
            <a:p>
              <a:pPr algn="l" marL="746760" indent="-373380" lvl="1">
                <a:lnSpc>
                  <a:spcPts val="3840"/>
                </a:lnSpc>
                <a:buFont typeface="Arial"/>
                <a:buChar char="•"/>
              </a:pPr>
              <a:r>
                <a:rPr lang="en-US" sz="3200">
                  <a:solidFill>
                    <a:srgbClr val="2C2C2C"/>
                  </a:solidFill>
                  <a:latin typeface="Arial"/>
                  <a:ea typeface="Arial"/>
                  <a:cs typeface="Arial"/>
                  <a:sym typeface="Arial"/>
                </a:rPr>
                <a:t>Beyond the system: hospital admissions are </a:t>
              </a:r>
              <a:r>
                <a:rPr lang="en-US" b="true" sz="3200">
                  <a:solidFill>
                    <a:srgbClr val="2C2C2C"/>
                  </a:solidFill>
                  <a:latin typeface="Arial Bold"/>
                  <a:ea typeface="Arial Bold"/>
                  <a:cs typeface="Arial Bold"/>
                  <a:sym typeface="Arial Bold"/>
                </a:rPr>
                <a:t>exhausting, expensive and disruptive</a:t>
              </a:r>
              <a:r>
                <a:rPr lang="en-US" sz="3200">
                  <a:solidFill>
                    <a:srgbClr val="2C2C2C"/>
                  </a:solidFill>
                  <a:latin typeface="Arial"/>
                  <a:ea typeface="Arial"/>
                  <a:cs typeface="Arial"/>
                  <a:sym typeface="Arial"/>
                </a:rPr>
                <a:t> for patients</a:t>
              </a:r>
            </a:p>
          </p:txBody>
        </p:sp>
      </p:grpSp>
      <p:grpSp>
        <p:nvGrpSpPr>
          <p:cNvPr name="Group 11" id="11"/>
          <p:cNvGrpSpPr/>
          <p:nvPr/>
        </p:nvGrpSpPr>
        <p:grpSpPr>
          <a:xfrm rot="0">
            <a:off x="914400" y="9692640"/>
            <a:ext cx="14630400" cy="548402"/>
            <a:chOff x="0" y="0"/>
            <a:chExt cx="19507200" cy="731202"/>
          </a:xfrm>
        </p:grpSpPr>
        <p:sp>
          <p:nvSpPr>
            <p:cNvPr name="Freeform 12" id="12"/>
            <p:cNvSpPr/>
            <p:nvPr/>
          </p:nvSpPr>
          <p:spPr>
            <a:xfrm flipH="false" flipV="false" rot="0">
              <a:off x="0" y="0"/>
              <a:ext cx="19507200" cy="731200"/>
            </a:xfrm>
            <a:custGeom>
              <a:avLst/>
              <a:gdLst/>
              <a:ahLst/>
              <a:cxnLst/>
              <a:rect r="r" b="b" t="t" l="l"/>
              <a:pathLst>
                <a:path h="731200" w="19507200">
                  <a:moveTo>
                    <a:pt x="0" y="0"/>
                  </a:moveTo>
                  <a:lnTo>
                    <a:pt x="19507200" y="0"/>
                  </a:lnTo>
                  <a:lnTo>
                    <a:pt x="19507200" y="731200"/>
                  </a:lnTo>
                  <a:lnTo>
                    <a:pt x="0" y="731200"/>
                  </a:lnTo>
                  <a:close/>
                </a:path>
              </a:pathLst>
            </a:custGeom>
            <a:blipFill>
              <a:blip r:embed="rId3">
                <a:alphaModFix amt="0"/>
              </a:blip>
              <a:stretch>
                <a:fillRect l="0" t="-469828" r="0" b="-469828"/>
              </a:stretch>
            </a:blipFill>
          </p:spPr>
        </p:sp>
        <p:sp>
          <p:nvSpPr>
            <p:cNvPr name="TextBox 13" id="13"/>
            <p:cNvSpPr txBox="true"/>
            <p:nvPr/>
          </p:nvSpPr>
          <p:spPr>
            <a:xfrm>
              <a:off x="0" y="-38100"/>
              <a:ext cx="19507200" cy="769302"/>
            </a:xfrm>
            <a:prstGeom prst="rect">
              <a:avLst/>
            </a:prstGeom>
          </p:spPr>
          <p:txBody>
            <a:bodyPr anchor="ctr" rtlCol="false" tIns="0" lIns="0" bIns="0" rIns="0"/>
            <a:lstStyle/>
            <a:p>
              <a:pPr algn="l">
                <a:lnSpc>
                  <a:spcPts val="2160"/>
                </a:lnSpc>
              </a:pPr>
              <a:r>
                <a:rPr lang="en-US" sz="1800">
                  <a:solidFill>
                    <a:srgbClr val="808080"/>
                  </a:solidFill>
                  <a:latin typeface="Calibri (MS)"/>
                  <a:ea typeface="Calibri (MS)"/>
                  <a:cs typeface="Calibri (MS)"/>
                  <a:sym typeface="Calibri (MS)"/>
                </a:rPr>
                <a:t>SOURCE: MOH Singapore; Department of Statistics Singapore</a:t>
              </a:r>
            </a:p>
          </p:txBody>
        </p:sp>
      </p:grpSp>
      <p:grpSp>
        <p:nvGrpSpPr>
          <p:cNvPr name="Group 14" id="14"/>
          <p:cNvGrpSpPr/>
          <p:nvPr/>
        </p:nvGrpSpPr>
        <p:grpSpPr>
          <a:xfrm rot="0">
            <a:off x="17007840" y="9692640"/>
            <a:ext cx="914400" cy="548402"/>
            <a:chOff x="0" y="0"/>
            <a:chExt cx="1219200" cy="731202"/>
          </a:xfrm>
        </p:grpSpPr>
        <p:sp>
          <p:nvSpPr>
            <p:cNvPr name="Freeform 15" id="15"/>
            <p:cNvSpPr/>
            <p:nvPr/>
          </p:nvSpPr>
          <p:spPr>
            <a:xfrm flipH="false" flipV="false" rot="0">
              <a:off x="0" y="0"/>
              <a:ext cx="1219200" cy="731200"/>
            </a:xfrm>
            <a:custGeom>
              <a:avLst/>
              <a:gdLst/>
              <a:ahLst/>
              <a:cxnLst/>
              <a:rect r="r" b="b" t="t" l="l"/>
              <a:pathLst>
                <a:path h="731200" w="1219200">
                  <a:moveTo>
                    <a:pt x="0" y="0"/>
                  </a:moveTo>
                  <a:lnTo>
                    <a:pt x="1219200" y="0"/>
                  </a:lnTo>
                  <a:lnTo>
                    <a:pt x="1219200" y="731200"/>
                  </a:lnTo>
                  <a:lnTo>
                    <a:pt x="0" y="731200"/>
                  </a:lnTo>
                  <a:close/>
                </a:path>
              </a:pathLst>
            </a:custGeom>
            <a:blipFill>
              <a:blip r:embed="rId3">
                <a:alphaModFix amt="0"/>
              </a:blip>
              <a:stretch>
                <a:fillRect l="-26948" t="0" r="-26948" b="0"/>
              </a:stretch>
            </a:blipFill>
          </p:spPr>
        </p:sp>
        <p:sp>
          <p:nvSpPr>
            <p:cNvPr name="TextBox 16" id="16"/>
            <p:cNvSpPr txBox="true"/>
            <p:nvPr/>
          </p:nvSpPr>
          <p:spPr>
            <a:xfrm>
              <a:off x="0" y="-38100"/>
              <a:ext cx="1219200" cy="769302"/>
            </a:xfrm>
            <a:prstGeom prst="rect">
              <a:avLst/>
            </a:prstGeom>
          </p:spPr>
          <p:txBody>
            <a:bodyPr anchor="ctr" rtlCol="false" tIns="0" lIns="0" bIns="0" rIns="0"/>
            <a:lstStyle/>
            <a:p>
              <a:pPr algn="r">
                <a:lnSpc>
                  <a:spcPts val="2400"/>
                </a:lnSpc>
              </a:pPr>
              <a:r>
                <a:rPr lang="en-US" sz="2000">
                  <a:solidFill>
                    <a:srgbClr val="808080"/>
                  </a:solidFill>
                  <a:latin typeface="Calibri (MS)"/>
                  <a:ea typeface="Calibri (MS)"/>
                  <a:cs typeface="Calibri (MS)"/>
                  <a:sym typeface="Calibri (MS)"/>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914400" y="548640"/>
            <a:ext cx="16459200" cy="1097404"/>
            <a:chOff x="0" y="0"/>
            <a:chExt cx="21945600" cy="1463205"/>
          </a:xfrm>
        </p:grpSpPr>
        <p:sp>
          <p:nvSpPr>
            <p:cNvPr name="Freeform 3" id="3"/>
            <p:cNvSpPr/>
            <p:nvPr/>
          </p:nvSpPr>
          <p:spPr>
            <a:xfrm flipH="false" flipV="false" rot="0">
              <a:off x="0" y="0"/>
              <a:ext cx="21945600" cy="1463200"/>
            </a:xfrm>
            <a:custGeom>
              <a:avLst/>
              <a:gdLst/>
              <a:ahLst/>
              <a:cxnLst/>
              <a:rect r="r" b="b" t="t" l="l"/>
              <a:pathLst>
                <a:path h="1463200" w="21945600">
                  <a:moveTo>
                    <a:pt x="0" y="0"/>
                  </a:moveTo>
                  <a:lnTo>
                    <a:pt x="21945600" y="0"/>
                  </a:lnTo>
                  <a:lnTo>
                    <a:pt x="21945600" y="1463200"/>
                  </a:lnTo>
                  <a:lnTo>
                    <a:pt x="0" y="1463200"/>
                  </a:lnTo>
                  <a:close/>
                </a:path>
              </a:pathLst>
            </a:custGeom>
            <a:blipFill>
              <a:blip r:embed="rId3">
                <a:alphaModFix amt="0"/>
              </a:blip>
              <a:stretch>
                <a:fillRect l="0" t="-242243" r="0" b="-242243"/>
              </a:stretch>
            </a:blipFill>
          </p:spPr>
        </p:sp>
        <p:sp>
          <p:nvSpPr>
            <p:cNvPr name="TextBox 4" id="4"/>
            <p:cNvSpPr txBox="true"/>
            <p:nvPr/>
          </p:nvSpPr>
          <p:spPr>
            <a:xfrm>
              <a:off x="0" y="-19050"/>
              <a:ext cx="21945600" cy="1482255"/>
            </a:xfrm>
            <a:prstGeom prst="rect">
              <a:avLst/>
            </a:prstGeom>
          </p:spPr>
          <p:txBody>
            <a:bodyPr anchor="ctr" rtlCol="false" tIns="0" lIns="0" bIns="0" rIns="0"/>
            <a:lstStyle/>
            <a:p>
              <a:pPr algn="l">
                <a:lnSpc>
                  <a:spcPts val="5759"/>
                </a:lnSpc>
              </a:pPr>
              <a:r>
                <a:rPr lang="en-US" b="true" sz="4800">
                  <a:solidFill>
                    <a:srgbClr val="1E3A5F"/>
                  </a:solidFill>
                  <a:latin typeface="Arial Bold"/>
                  <a:ea typeface="Arial Bold"/>
                  <a:cs typeface="Arial Bold"/>
                  <a:sym typeface="Arial Bold"/>
                </a:rPr>
                <a:t>Diabetic Admissions</a:t>
              </a:r>
            </a:p>
          </p:txBody>
        </p:sp>
      </p:grpSp>
      <p:grpSp>
        <p:nvGrpSpPr>
          <p:cNvPr name="Group 5" id="5"/>
          <p:cNvGrpSpPr/>
          <p:nvPr/>
        </p:nvGrpSpPr>
        <p:grpSpPr>
          <a:xfrm rot="0">
            <a:off x="638604" y="4307300"/>
            <a:ext cx="5292004" cy="5010598"/>
            <a:chOff x="0" y="0"/>
            <a:chExt cx="7056006" cy="6680797"/>
          </a:xfrm>
        </p:grpSpPr>
        <p:sp>
          <p:nvSpPr>
            <p:cNvPr name="Freeform 6" id="6"/>
            <p:cNvSpPr/>
            <p:nvPr/>
          </p:nvSpPr>
          <p:spPr>
            <a:xfrm flipH="false" flipV="false" rot="0">
              <a:off x="0" y="0"/>
              <a:ext cx="7055993" cy="6680835"/>
            </a:xfrm>
            <a:custGeom>
              <a:avLst/>
              <a:gdLst/>
              <a:ahLst/>
              <a:cxnLst/>
              <a:rect r="r" b="b" t="t" l="l"/>
              <a:pathLst>
                <a:path h="6680835" w="7055993">
                  <a:moveTo>
                    <a:pt x="0" y="0"/>
                  </a:moveTo>
                  <a:lnTo>
                    <a:pt x="7055993" y="0"/>
                  </a:lnTo>
                  <a:lnTo>
                    <a:pt x="7055993" y="6680835"/>
                  </a:lnTo>
                  <a:lnTo>
                    <a:pt x="0" y="6680835"/>
                  </a:lnTo>
                  <a:close/>
                </a:path>
              </a:pathLst>
            </a:custGeom>
            <a:blipFill>
              <a:blip r:embed="rId4"/>
              <a:stretch>
                <a:fillRect l="-21012" t="0" r="-21012" b="0"/>
              </a:stretch>
            </a:blipFill>
          </p:spPr>
        </p:sp>
      </p:grpSp>
      <p:grpSp>
        <p:nvGrpSpPr>
          <p:cNvPr name="Group 7" id="7"/>
          <p:cNvGrpSpPr/>
          <p:nvPr/>
        </p:nvGrpSpPr>
        <p:grpSpPr>
          <a:xfrm rot="0">
            <a:off x="914524" y="7721213"/>
            <a:ext cx="5120402" cy="1462800"/>
            <a:chOff x="0" y="0"/>
            <a:chExt cx="6827203" cy="1950400"/>
          </a:xfrm>
        </p:grpSpPr>
        <p:sp>
          <p:nvSpPr>
            <p:cNvPr name="Freeform 8" id="8"/>
            <p:cNvSpPr/>
            <p:nvPr/>
          </p:nvSpPr>
          <p:spPr>
            <a:xfrm flipH="false" flipV="false" rot="0">
              <a:off x="0" y="0"/>
              <a:ext cx="6827200" cy="1950397"/>
            </a:xfrm>
            <a:custGeom>
              <a:avLst/>
              <a:gdLst/>
              <a:ahLst/>
              <a:cxnLst/>
              <a:rect r="r" b="b" t="t" l="l"/>
              <a:pathLst>
                <a:path h="1950397" w="6827200">
                  <a:moveTo>
                    <a:pt x="0" y="0"/>
                  </a:moveTo>
                  <a:lnTo>
                    <a:pt x="6827200" y="0"/>
                  </a:lnTo>
                  <a:lnTo>
                    <a:pt x="6827200" y="1950397"/>
                  </a:lnTo>
                  <a:lnTo>
                    <a:pt x="0" y="1950397"/>
                  </a:lnTo>
                  <a:close/>
                </a:path>
              </a:pathLst>
            </a:custGeom>
            <a:blipFill>
              <a:blip r:embed="rId3">
                <a:alphaModFix amt="0"/>
              </a:blip>
              <a:stretch>
                <a:fillRect l="0" t="-18205" r="0" b="-18205"/>
              </a:stretch>
            </a:blipFill>
          </p:spPr>
        </p:sp>
        <p:sp>
          <p:nvSpPr>
            <p:cNvPr name="TextBox 9" id="9"/>
            <p:cNvSpPr txBox="true"/>
            <p:nvPr/>
          </p:nvSpPr>
          <p:spPr>
            <a:xfrm>
              <a:off x="0" y="-9525"/>
              <a:ext cx="6827203" cy="1959925"/>
            </a:xfrm>
            <a:prstGeom prst="rect">
              <a:avLst/>
            </a:prstGeom>
          </p:spPr>
          <p:txBody>
            <a:bodyPr anchor="ctr" rtlCol="false" tIns="0" lIns="0" bIns="0" rIns="0"/>
            <a:lstStyle/>
            <a:p>
              <a:pPr algn="ctr">
                <a:lnSpc>
                  <a:spcPts val="4799"/>
                </a:lnSpc>
              </a:pPr>
              <a:r>
                <a:rPr lang="en-US" b="true" sz="3999">
                  <a:solidFill>
                    <a:srgbClr val="F7F9FC"/>
                  </a:solidFill>
                  <a:latin typeface="Arial Bold"/>
                  <a:ea typeface="Arial Bold"/>
                  <a:cs typeface="Arial Bold"/>
                  <a:sym typeface="Arial Bold"/>
                </a:rPr>
                <a:t>Foot Amputations</a:t>
              </a:r>
            </a:p>
          </p:txBody>
        </p:sp>
      </p:grpSp>
      <p:grpSp>
        <p:nvGrpSpPr>
          <p:cNvPr name="Group 10" id="10"/>
          <p:cNvGrpSpPr/>
          <p:nvPr/>
        </p:nvGrpSpPr>
        <p:grpSpPr>
          <a:xfrm rot="0">
            <a:off x="6498003" y="4307300"/>
            <a:ext cx="5292004" cy="5010598"/>
            <a:chOff x="0" y="0"/>
            <a:chExt cx="7056006" cy="6680797"/>
          </a:xfrm>
        </p:grpSpPr>
        <p:sp>
          <p:nvSpPr>
            <p:cNvPr name="Freeform 11" id="11"/>
            <p:cNvSpPr/>
            <p:nvPr/>
          </p:nvSpPr>
          <p:spPr>
            <a:xfrm flipH="false" flipV="false" rot="0">
              <a:off x="0" y="0"/>
              <a:ext cx="7055993" cy="6680835"/>
            </a:xfrm>
            <a:custGeom>
              <a:avLst/>
              <a:gdLst/>
              <a:ahLst/>
              <a:cxnLst/>
              <a:rect r="r" b="b" t="t" l="l"/>
              <a:pathLst>
                <a:path h="6680835" w="7055993">
                  <a:moveTo>
                    <a:pt x="0" y="0"/>
                  </a:moveTo>
                  <a:lnTo>
                    <a:pt x="7055993" y="0"/>
                  </a:lnTo>
                  <a:lnTo>
                    <a:pt x="7055993" y="6680835"/>
                  </a:lnTo>
                  <a:lnTo>
                    <a:pt x="0" y="6680835"/>
                  </a:lnTo>
                  <a:close/>
                </a:path>
              </a:pathLst>
            </a:custGeom>
            <a:blipFill>
              <a:blip r:embed="rId5">
                <a:alphaModFix amt="89000"/>
              </a:blip>
              <a:stretch>
                <a:fillRect l="-32873" t="0" r="-32873" b="0"/>
              </a:stretch>
            </a:blipFill>
          </p:spPr>
        </p:sp>
      </p:grpSp>
      <p:grpSp>
        <p:nvGrpSpPr>
          <p:cNvPr name="Group 12" id="12"/>
          <p:cNvGrpSpPr/>
          <p:nvPr/>
        </p:nvGrpSpPr>
        <p:grpSpPr>
          <a:xfrm rot="0">
            <a:off x="6583804" y="7721213"/>
            <a:ext cx="5120402" cy="1462800"/>
            <a:chOff x="0" y="0"/>
            <a:chExt cx="6827203" cy="1950400"/>
          </a:xfrm>
        </p:grpSpPr>
        <p:sp>
          <p:nvSpPr>
            <p:cNvPr name="Freeform 13" id="13"/>
            <p:cNvSpPr/>
            <p:nvPr/>
          </p:nvSpPr>
          <p:spPr>
            <a:xfrm flipH="false" flipV="false" rot="0">
              <a:off x="0" y="0"/>
              <a:ext cx="6827200" cy="1950397"/>
            </a:xfrm>
            <a:custGeom>
              <a:avLst/>
              <a:gdLst/>
              <a:ahLst/>
              <a:cxnLst/>
              <a:rect r="r" b="b" t="t" l="l"/>
              <a:pathLst>
                <a:path h="1950397" w="6827200">
                  <a:moveTo>
                    <a:pt x="0" y="0"/>
                  </a:moveTo>
                  <a:lnTo>
                    <a:pt x="6827200" y="0"/>
                  </a:lnTo>
                  <a:lnTo>
                    <a:pt x="6827200" y="1950397"/>
                  </a:lnTo>
                  <a:lnTo>
                    <a:pt x="0" y="1950397"/>
                  </a:lnTo>
                  <a:close/>
                </a:path>
              </a:pathLst>
            </a:custGeom>
            <a:blipFill>
              <a:blip r:embed="rId3">
                <a:alphaModFix amt="0"/>
              </a:blip>
              <a:stretch>
                <a:fillRect l="0" t="-18205" r="0" b="-18205"/>
              </a:stretch>
            </a:blipFill>
          </p:spPr>
        </p:sp>
        <p:sp>
          <p:nvSpPr>
            <p:cNvPr name="TextBox 14" id="14"/>
            <p:cNvSpPr txBox="true"/>
            <p:nvPr/>
          </p:nvSpPr>
          <p:spPr>
            <a:xfrm>
              <a:off x="0" y="-9525"/>
              <a:ext cx="6827203" cy="1959925"/>
            </a:xfrm>
            <a:prstGeom prst="rect">
              <a:avLst/>
            </a:prstGeom>
          </p:spPr>
          <p:txBody>
            <a:bodyPr anchor="ctr" rtlCol="false" tIns="0" lIns="0" bIns="0" rIns="0"/>
            <a:lstStyle/>
            <a:p>
              <a:pPr algn="ctr">
                <a:lnSpc>
                  <a:spcPts val="4799"/>
                </a:lnSpc>
              </a:pPr>
              <a:r>
                <a:rPr lang="en-US" b="true" sz="3999">
                  <a:solidFill>
                    <a:srgbClr val="000000"/>
                  </a:solidFill>
                  <a:latin typeface="Arial Bold"/>
                  <a:ea typeface="Arial Bold"/>
                  <a:cs typeface="Arial Bold"/>
                  <a:sym typeface="Arial Bold"/>
                </a:rPr>
                <a:t>Kidney Failure</a:t>
              </a:r>
            </a:p>
          </p:txBody>
        </p:sp>
      </p:grpSp>
      <p:grpSp>
        <p:nvGrpSpPr>
          <p:cNvPr name="Group 15" id="15"/>
          <p:cNvGrpSpPr/>
          <p:nvPr/>
        </p:nvGrpSpPr>
        <p:grpSpPr>
          <a:xfrm rot="0">
            <a:off x="12357402" y="4307300"/>
            <a:ext cx="5292004" cy="5010598"/>
            <a:chOff x="0" y="0"/>
            <a:chExt cx="7056006" cy="6680797"/>
          </a:xfrm>
        </p:grpSpPr>
        <p:sp>
          <p:nvSpPr>
            <p:cNvPr name="Freeform 16" id="16"/>
            <p:cNvSpPr/>
            <p:nvPr/>
          </p:nvSpPr>
          <p:spPr>
            <a:xfrm flipH="false" flipV="false" rot="0">
              <a:off x="0" y="0"/>
              <a:ext cx="7055993" cy="6680835"/>
            </a:xfrm>
            <a:custGeom>
              <a:avLst/>
              <a:gdLst/>
              <a:ahLst/>
              <a:cxnLst/>
              <a:rect r="r" b="b" t="t" l="l"/>
              <a:pathLst>
                <a:path h="6680835" w="7055993">
                  <a:moveTo>
                    <a:pt x="0" y="0"/>
                  </a:moveTo>
                  <a:lnTo>
                    <a:pt x="7055993" y="0"/>
                  </a:lnTo>
                  <a:lnTo>
                    <a:pt x="7055993" y="6680835"/>
                  </a:lnTo>
                  <a:lnTo>
                    <a:pt x="0" y="6680835"/>
                  </a:lnTo>
                  <a:close/>
                </a:path>
              </a:pathLst>
            </a:custGeom>
            <a:blipFill>
              <a:blip r:embed="rId6">
                <a:alphaModFix amt="80000"/>
              </a:blip>
              <a:stretch>
                <a:fillRect l="-20947" t="0" r="-20947" b="0"/>
              </a:stretch>
            </a:blipFill>
          </p:spPr>
        </p:sp>
      </p:grpSp>
      <p:grpSp>
        <p:nvGrpSpPr>
          <p:cNvPr name="Group 17" id="17"/>
          <p:cNvGrpSpPr/>
          <p:nvPr/>
        </p:nvGrpSpPr>
        <p:grpSpPr>
          <a:xfrm rot="0">
            <a:off x="12443203" y="7721213"/>
            <a:ext cx="5120402" cy="1462800"/>
            <a:chOff x="0" y="0"/>
            <a:chExt cx="6827203" cy="1950400"/>
          </a:xfrm>
        </p:grpSpPr>
        <p:sp>
          <p:nvSpPr>
            <p:cNvPr name="Freeform 18" id="18"/>
            <p:cNvSpPr/>
            <p:nvPr/>
          </p:nvSpPr>
          <p:spPr>
            <a:xfrm flipH="false" flipV="false" rot="0">
              <a:off x="0" y="0"/>
              <a:ext cx="6827200" cy="1950397"/>
            </a:xfrm>
            <a:custGeom>
              <a:avLst/>
              <a:gdLst/>
              <a:ahLst/>
              <a:cxnLst/>
              <a:rect r="r" b="b" t="t" l="l"/>
              <a:pathLst>
                <a:path h="1950397" w="6827200">
                  <a:moveTo>
                    <a:pt x="0" y="0"/>
                  </a:moveTo>
                  <a:lnTo>
                    <a:pt x="6827200" y="0"/>
                  </a:lnTo>
                  <a:lnTo>
                    <a:pt x="6827200" y="1950397"/>
                  </a:lnTo>
                  <a:lnTo>
                    <a:pt x="0" y="1950397"/>
                  </a:lnTo>
                  <a:close/>
                </a:path>
              </a:pathLst>
            </a:custGeom>
            <a:blipFill>
              <a:blip r:embed="rId3">
                <a:alphaModFix amt="0"/>
              </a:blip>
              <a:stretch>
                <a:fillRect l="0" t="-18205" r="0" b="-18205"/>
              </a:stretch>
            </a:blipFill>
          </p:spPr>
        </p:sp>
        <p:sp>
          <p:nvSpPr>
            <p:cNvPr name="TextBox 19" id="19"/>
            <p:cNvSpPr txBox="true"/>
            <p:nvPr/>
          </p:nvSpPr>
          <p:spPr>
            <a:xfrm>
              <a:off x="0" y="-9525"/>
              <a:ext cx="6827203" cy="1959925"/>
            </a:xfrm>
            <a:prstGeom prst="rect">
              <a:avLst/>
            </a:prstGeom>
          </p:spPr>
          <p:txBody>
            <a:bodyPr anchor="ctr" rtlCol="false" tIns="0" lIns="0" bIns="0" rIns="0"/>
            <a:lstStyle/>
            <a:p>
              <a:pPr algn="ctr">
                <a:lnSpc>
                  <a:spcPts val="4799"/>
                </a:lnSpc>
              </a:pPr>
              <a:r>
                <a:rPr lang="en-US" b="true" sz="3999">
                  <a:solidFill>
                    <a:srgbClr val="000000"/>
                  </a:solidFill>
                  <a:latin typeface="Arial Bold"/>
                  <a:ea typeface="Arial Bold"/>
                  <a:cs typeface="Arial Bold"/>
                  <a:sym typeface="Arial Bold"/>
                </a:rPr>
                <a:t>Cardiovascular Disease and Stroke</a:t>
              </a:r>
            </a:p>
          </p:txBody>
        </p:sp>
      </p:grpSp>
      <p:grpSp>
        <p:nvGrpSpPr>
          <p:cNvPr name="Group 20" id="20"/>
          <p:cNvGrpSpPr/>
          <p:nvPr/>
        </p:nvGrpSpPr>
        <p:grpSpPr>
          <a:xfrm rot="0">
            <a:off x="914400" y="9692640"/>
            <a:ext cx="16459200" cy="548400"/>
            <a:chOff x="0" y="0"/>
            <a:chExt cx="21945600" cy="731200"/>
          </a:xfrm>
        </p:grpSpPr>
        <p:sp>
          <p:nvSpPr>
            <p:cNvPr name="Freeform 21" id="21"/>
            <p:cNvSpPr/>
            <p:nvPr/>
          </p:nvSpPr>
          <p:spPr>
            <a:xfrm flipH="false" flipV="false" rot="0">
              <a:off x="0" y="0"/>
              <a:ext cx="21945600" cy="731197"/>
            </a:xfrm>
            <a:custGeom>
              <a:avLst/>
              <a:gdLst/>
              <a:ahLst/>
              <a:cxnLst/>
              <a:rect r="r" b="b" t="t" l="l"/>
              <a:pathLst>
                <a:path h="731197" w="21945600">
                  <a:moveTo>
                    <a:pt x="0" y="0"/>
                  </a:moveTo>
                  <a:lnTo>
                    <a:pt x="21945600" y="0"/>
                  </a:lnTo>
                  <a:lnTo>
                    <a:pt x="21945600" y="731197"/>
                  </a:lnTo>
                  <a:lnTo>
                    <a:pt x="0" y="731197"/>
                  </a:lnTo>
                  <a:close/>
                </a:path>
              </a:pathLst>
            </a:custGeom>
            <a:blipFill>
              <a:blip r:embed="rId3">
                <a:alphaModFix amt="0"/>
              </a:blip>
              <a:stretch>
                <a:fillRect l="0" t="-534808" r="0" b="-534809"/>
              </a:stretch>
            </a:blipFill>
          </p:spPr>
        </p:sp>
        <p:sp>
          <p:nvSpPr>
            <p:cNvPr name="TextBox 22" id="22"/>
            <p:cNvSpPr txBox="true"/>
            <p:nvPr/>
          </p:nvSpPr>
          <p:spPr>
            <a:xfrm>
              <a:off x="0" y="-19050"/>
              <a:ext cx="21945600" cy="750250"/>
            </a:xfrm>
            <a:prstGeom prst="rect">
              <a:avLst/>
            </a:prstGeom>
          </p:spPr>
          <p:txBody>
            <a:bodyPr anchor="ctr" rtlCol="false" tIns="0" lIns="0" bIns="0" rIns="0"/>
            <a:lstStyle/>
            <a:p>
              <a:pPr algn="l">
                <a:lnSpc>
                  <a:spcPts val="2160"/>
                </a:lnSpc>
              </a:pPr>
              <a:r>
                <a:rPr lang="en-US" sz="1800">
                  <a:solidFill>
                    <a:srgbClr val="6B7280"/>
                  </a:solidFill>
                  <a:latin typeface="Arial"/>
                  <a:ea typeface="Arial"/>
                  <a:cs typeface="Arial"/>
                  <a:sym typeface="Arial"/>
                </a:rPr>
                <a:t>SOURCE: Ministry of Health &amp; Health Promotion Board. (2025, October 17). National Population Health Survey (NPHS) 2024 report</a:t>
              </a:r>
            </a:p>
          </p:txBody>
        </p:sp>
      </p:grpSp>
      <p:grpSp>
        <p:nvGrpSpPr>
          <p:cNvPr name="Group 23" id="23"/>
          <p:cNvGrpSpPr/>
          <p:nvPr/>
        </p:nvGrpSpPr>
        <p:grpSpPr>
          <a:xfrm rot="0">
            <a:off x="914400" y="1854675"/>
            <a:ext cx="16459200" cy="2243993"/>
            <a:chOff x="0" y="0"/>
            <a:chExt cx="21945600" cy="2991991"/>
          </a:xfrm>
        </p:grpSpPr>
        <p:sp>
          <p:nvSpPr>
            <p:cNvPr name="Freeform 24" id="24"/>
            <p:cNvSpPr/>
            <p:nvPr/>
          </p:nvSpPr>
          <p:spPr>
            <a:xfrm flipH="false" flipV="false" rot="0">
              <a:off x="0" y="0"/>
              <a:ext cx="21945600" cy="2991990"/>
            </a:xfrm>
            <a:custGeom>
              <a:avLst/>
              <a:gdLst/>
              <a:ahLst/>
              <a:cxnLst/>
              <a:rect r="r" b="b" t="t" l="l"/>
              <a:pathLst>
                <a:path h="2991990" w="21945600">
                  <a:moveTo>
                    <a:pt x="0" y="0"/>
                  </a:moveTo>
                  <a:lnTo>
                    <a:pt x="21945600" y="0"/>
                  </a:lnTo>
                  <a:lnTo>
                    <a:pt x="21945600" y="2991990"/>
                  </a:lnTo>
                  <a:lnTo>
                    <a:pt x="0" y="2991990"/>
                  </a:lnTo>
                  <a:close/>
                </a:path>
              </a:pathLst>
            </a:custGeom>
            <a:blipFill>
              <a:blip r:embed="rId4">
                <a:alphaModFix amt="0"/>
              </a:blip>
              <a:stretch>
                <a:fillRect l="0" t="-194492" r="0" b="-194492"/>
              </a:stretch>
            </a:blipFill>
          </p:spPr>
        </p:sp>
        <p:sp>
          <p:nvSpPr>
            <p:cNvPr name="TextBox 25" id="25"/>
            <p:cNvSpPr txBox="true"/>
            <p:nvPr/>
          </p:nvSpPr>
          <p:spPr>
            <a:xfrm>
              <a:off x="0" y="-19050"/>
              <a:ext cx="21945600" cy="3011041"/>
            </a:xfrm>
            <a:prstGeom prst="rect">
              <a:avLst/>
            </a:prstGeom>
          </p:spPr>
          <p:txBody>
            <a:bodyPr anchor="ctr" rtlCol="false" tIns="0" lIns="0" bIns="0" rIns="0"/>
            <a:lstStyle/>
            <a:p>
              <a:pPr algn="l" marL="782320" indent="-391160" lvl="1">
                <a:lnSpc>
                  <a:spcPts val="4079"/>
                </a:lnSpc>
                <a:buFont typeface="Arial"/>
                <a:buChar char="•"/>
              </a:pPr>
              <a:r>
                <a:rPr lang="en-US" sz="3400">
                  <a:solidFill>
                    <a:srgbClr val="2C2C2C"/>
                  </a:solidFill>
                  <a:latin typeface="Arial"/>
                  <a:ea typeface="Arial"/>
                  <a:cs typeface="Arial"/>
                  <a:sym typeface="Arial"/>
                </a:rPr>
                <a:t>Diabetes affects </a:t>
              </a:r>
              <a:r>
                <a:rPr lang="en-US" b="true" sz="3400">
                  <a:solidFill>
                    <a:srgbClr val="2C2C2C"/>
                  </a:solidFill>
                  <a:latin typeface="Arial Bold"/>
                  <a:ea typeface="Arial Bold"/>
                  <a:cs typeface="Arial Bold"/>
                  <a:sym typeface="Arial Bold"/>
                </a:rPr>
                <a:t>11–14% of Singapore's adult population</a:t>
              </a:r>
              <a:r>
                <a:rPr lang="en-US" sz="3400">
                  <a:solidFill>
                    <a:srgbClr val="2C2C2C"/>
                  </a:solidFill>
                  <a:latin typeface="Arial"/>
                  <a:ea typeface="Arial"/>
                  <a:cs typeface="Arial"/>
                  <a:sym typeface="Arial"/>
                </a:rPr>
                <a:t> - one of the highest rates in developed Asia</a:t>
              </a:r>
            </a:p>
            <a:p>
              <a:pPr algn="l" marL="782320" indent="-391160" lvl="1">
                <a:lnSpc>
                  <a:spcPts val="4079"/>
                </a:lnSpc>
                <a:buFont typeface="Arial"/>
                <a:buChar char="•"/>
              </a:pPr>
              <a:r>
                <a:rPr lang="en-US" sz="3400">
                  <a:solidFill>
                    <a:srgbClr val="000000"/>
                  </a:solidFill>
                  <a:latin typeface="Arial"/>
                  <a:ea typeface="Arial"/>
                  <a:cs typeface="Arial"/>
                  <a:sym typeface="Arial"/>
                </a:rPr>
                <a:t>Diabetes accounts for around 1 in 5 of all admissions in Singapore. </a:t>
              </a:r>
              <a:r>
                <a:rPr lang="en-US" sz="3400">
                  <a:solidFill>
                    <a:srgbClr val="1A1A2E"/>
                  </a:solidFill>
                  <a:latin typeface="Arial"/>
                  <a:ea typeface="Arial"/>
                  <a:cs typeface="Arial"/>
                  <a:sym typeface="Arial"/>
                </a:rPr>
                <a:t>Some of the main Diabetic complications that result in admissions are:</a:t>
              </a:r>
            </a:p>
          </p:txBody>
        </p:sp>
      </p:grpSp>
      <p:grpSp>
        <p:nvGrpSpPr>
          <p:cNvPr name="Group 26" id="26"/>
          <p:cNvGrpSpPr/>
          <p:nvPr/>
        </p:nvGrpSpPr>
        <p:grpSpPr>
          <a:xfrm rot="0">
            <a:off x="17007840" y="9692640"/>
            <a:ext cx="914400" cy="548402"/>
            <a:chOff x="0" y="0"/>
            <a:chExt cx="1219200" cy="731202"/>
          </a:xfrm>
        </p:grpSpPr>
        <p:sp>
          <p:nvSpPr>
            <p:cNvPr name="Freeform 27" id="27"/>
            <p:cNvSpPr/>
            <p:nvPr/>
          </p:nvSpPr>
          <p:spPr>
            <a:xfrm flipH="false" flipV="false" rot="0">
              <a:off x="0" y="0"/>
              <a:ext cx="1219200" cy="731200"/>
            </a:xfrm>
            <a:custGeom>
              <a:avLst/>
              <a:gdLst/>
              <a:ahLst/>
              <a:cxnLst/>
              <a:rect r="r" b="b" t="t" l="l"/>
              <a:pathLst>
                <a:path h="731200" w="1219200">
                  <a:moveTo>
                    <a:pt x="0" y="0"/>
                  </a:moveTo>
                  <a:lnTo>
                    <a:pt x="1219200" y="0"/>
                  </a:lnTo>
                  <a:lnTo>
                    <a:pt x="1219200" y="731200"/>
                  </a:lnTo>
                  <a:lnTo>
                    <a:pt x="0" y="731200"/>
                  </a:lnTo>
                  <a:close/>
                </a:path>
              </a:pathLst>
            </a:custGeom>
            <a:blipFill>
              <a:blip r:embed="rId3">
                <a:alphaModFix amt="0"/>
              </a:blip>
              <a:stretch>
                <a:fillRect l="-26948" t="0" r="-26948" b="0"/>
              </a:stretch>
            </a:blipFill>
          </p:spPr>
        </p:sp>
        <p:sp>
          <p:nvSpPr>
            <p:cNvPr name="TextBox 28" id="28"/>
            <p:cNvSpPr txBox="true"/>
            <p:nvPr/>
          </p:nvSpPr>
          <p:spPr>
            <a:xfrm>
              <a:off x="0" y="-38100"/>
              <a:ext cx="1219200" cy="769302"/>
            </a:xfrm>
            <a:prstGeom prst="rect">
              <a:avLst/>
            </a:prstGeom>
          </p:spPr>
          <p:txBody>
            <a:bodyPr anchor="ctr" rtlCol="false" tIns="0" lIns="0" bIns="0" rIns="0"/>
            <a:lstStyle/>
            <a:p>
              <a:pPr algn="r">
                <a:lnSpc>
                  <a:spcPts val="2400"/>
                </a:lnSpc>
              </a:pPr>
              <a:r>
                <a:rPr lang="en-US" sz="2000">
                  <a:solidFill>
                    <a:srgbClr val="808080"/>
                  </a:solidFill>
                  <a:latin typeface="Calibri (MS)"/>
                  <a:ea typeface="Calibri (MS)"/>
                  <a:cs typeface="Calibri (MS)"/>
                  <a:sym typeface="Calibri (MS)"/>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731520"/>
            <a:ext cx="16459200" cy="1463040"/>
            <a:chOff x="0" y="0"/>
            <a:chExt cx="21945600" cy="1950720"/>
          </a:xfrm>
        </p:grpSpPr>
        <p:sp>
          <p:nvSpPr>
            <p:cNvPr name="Freeform 3" id="3"/>
            <p:cNvSpPr/>
            <p:nvPr/>
          </p:nvSpPr>
          <p:spPr>
            <a:xfrm flipH="false" flipV="false" rot="0">
              <a:off x="0" y="0"/>
              <a:ext cx="21945600" cy="1950720"/>
            </a:xfrm>
            <a:custGeom>
              <a:avLst/>
              <a:gdLst/>
              <a:ahLst/>
              <a:cxnLst/>
              <a:rect r="r" b="b" t="t" l="l"/>
              <a:pathLst>
                <a:path h="1950720" w="21945600">
                  <a:moveTo>
                    <a:pt x="0" y="0"/>
                  </a:moveTo>
                  <a:lnTo>
                    <a:pt x="21945600" y="0"/>
                  </a:lnTo>
                  <a:lnTo>
                    <a:pt x="21945600" y="1950720"/>
                  </a:lnTo>
                  <a:lnTo>
                    <a:pt x="0" y="1950720"/>
                  </a:lnTo>
                  <a:close/>
                </a:path>
              </a:pathLst>
            </a:custGeom>
            <a:blipFill>
              <a:blip r:embed="rId3">
                <a:alphaModFix amt="0"/>
              </a:blip>
              <a:stretch>
                <a:fillRect l="0" t="-169206" r="0" b="-169206"/>
              </a:stretch>
            </a:blipFill>
          </p:spPr>
        </p:sp>
        <p:sp>
          <p:nvSpPr>
            <p:cNvPr name="TextBox 4" id="4"/>
            <p:cNvSpPr txBox="true"/>
            <p:nvPr/>
          </p:nvSpPr>
          <p:spPr>
            <a:xfrm>
              <a:off x="0" y="-28575"/>
              <a:ext cx="21945600" cy="1979295"/>
            </a:xfrm>
            <a:prstGeom prst="rect">
              <a:avLst/>
            </a:prstGeom>
          </p:spPr>
          <p:txBody>
            <a:bodyPr anchor="ctr" rtlCol="false" tIns="0" lIns="0" bIns="0" rIns="0"/>
            <a:lstStyle/>
            <a:p>
              <a:pPr algn="l">
                <a:lnSpc>
                  <a:spcPts val="8640"/>
                </a:lnSpc>
              </a:pPr>
              <a:r>
                <a:rPr lang="en-US" b="true" sz="7200">
                  <a:solidFill>
                    <a:srgbClr val="003D5C"/>
                  </a:solidFill>
                  <a:latin typeface="Arial Bold"/>
                  <a:ea typeface="Arial Bold"/>
                  <a:cs typeface="Arial Bold"/>
                  <a:sym typeface="Arial Bold"/>
                </a:rPr>
                <a:t>Solution: Predictive Risk Scoring</a:t>
              </a:r>
            </a:p>
          </p:txBody>
        </p:sp>
      </p:grpSp>
      <p:grpSp>
        <p:nvGrpSpPr>
          <p:cNvPr name="Group 5" id="5"/>
          <p:cNvGrpSpPr/>
          <p:nvPr/>
        </p:nvGrpSpPr>
        <p:grpSpPr>
          <a:xfrm rot="0">
            <a:off x="914400" y="2743200"/>
            <a:ext cx="4572000" cy="3969601"/>
            <a:chOff x="0" y="0"/>
            <a:chExt cx="6096000" cy="5292801"/>
          </a:xfrm>
        </p:grpSpPr>
        <p:sp>
          <p:nvSpPr>
            <p:cNvPr name="Freeform 6" id="6"/>
            <p:cNvSpPr/>
            <p:nvPr/>
          </p:nvSpPr>
          <p:spPr>
            <a:xfrm flipH="false" flipV="false" rot="0">
              <a:off x="0" y="0"/>
              <a:ext cx="6096000" cy="5292852"/>
            </a:xfrm>
            <a:custGeom>
              <a:avLst/>
              <a:gdLst/>
              <a:ahLst/>
              <a:cxnLst/>
              <a:rect r="r" b="b" t="t" l="l"/>
              <a:pathLst>
                <a:path h="5292852" w="6096000">
                  <a:moveTo>
                    <a:pt x="0" y="0"/>
                  </a:moveTo>
                  <a:lnTo>
                    <a:pt x="6096000" y="0"/>
                  </a:lnTo>
                  <a:lnTo>
                    <a:pt x="6096000" y="5292852"/>
                  </a:lnTo>
                  <a:lnTo>
                    <a:pt x="0" y="5292852"/>
                  </a:lnTo>
                  <a:close/>
                </a:path>
              </a:pathLst>
            </a:custGeom>
            <a:solidFill>
              <a:srgbClr val="E8F4F8"/>
            </a:solidFill>
          </p:spPr>
        </p:sp>
      </p:grpSp>
      <p:grpSp>
        <p:nvGrpSpPr>
          <p:cNvPr name="Group 7" id="7"/>
          <p:cNvGrpSpPr/>
          <p:nvPr/>
        </p:nvGrpSpPr>
        <p:grpSpPr>
          <a:xfrm rot="0">
            <a:off x="914448" y="2926099"/>
            <a:ext cx="4572000" cy="914400"/>
            <a:chOff x="0" y="0"/>
            <a:chExt cx="6096000" cy="1219200"/>
          </a:xfrm>
        </p:grpSpPr>
        <p:sp>
          <p:nvSpPr>
            <p:cNvPr name="Freeform 8" id="8"/>
            <p:cNvSpPr/>
            <p:nvPr/>
          </p:nvSpPr>
          <p:spPr>
            <a:xfrm flipH="false" flipV="false" rot="0">
              <a:off x="0" y="0"/>
              <a:ext cx="6096000" cy="1219200"/>
            </a:xfrm>
            <a:custGeom>
              <a:avLst/>
              <a:gdLst/>
              <a:ahLst/>
              <a:cxnLst/>
              <a:rect r="r" b="b" t="t" l="l"/>
              <a:pathLst>
                <a:path h="1219200" w="6096000">
                  <a:moveTo>
                    <a:pt x="0" y="0"/>
                  </a:moveTo>
                  <a:lnTo>
                    <a:pt x="6096000" y="0"/>
                  </a:lnTo>
                  <a:lnTo>
                    <a:pt x="6096000" y="1219200"/>
                  </a:lnTo>
                  <a:lnTo>
                    <a:pt x="0" y="1219200"/>
                  </a:lnTo>
                  <a:close/>
                </a:path>
              </a:pathLst>
            </a:custGeom>
            <a:blipFill>
              <a:blip r:embed="rId3">
                <a:alphaModFix amt="0"/>
              </a:blip>
              <a:stretch>
                <a:fillRect l="0" t="-47425" r="0" b="-47425"/>
              </a:stretch>
            </a:blipFill>
          </p:spPr>
        </p:sp>
        <p:sp>
          <p:nvSpPr>
            <p:cNvPr name="TextBox 9" id="9"/>
            <p:cNvSpPr txBox="true"/>
            <p:nvPr/>
          </p:nvSpPr>
          <p:spPr>
            <a:xfrm>
              <a:off x="0" y="-28575"/>
              <a:ext cx="6096000" cy="1247775"/>
            </a:xfrm>
            <a:prstGeom prst="rect">
              <a:avLst/>
            </a:prstGeom>
          </p:spPr>
          <p:txBody>
            <a:bodyPr anchor="ctr" rtlCol="false" tIns="0" lIns="0" bIns="0" rIns="0"/>
            <a:lstStyle/>
            <a:p>
              <a:pPr algn="ctr">
                <a:lnSpc>
                  <a:spcPts val="3840"/>
                </a:lnSpc>
              </a:pPr>
              <a:r>
                <a:rPr lang="en-US" b="true" sz="3200">
                  <a:solidFill>
                    <a:srgbClr val="003D5C"/>
                  </a:solidFill>
                  <a:latin typeface="Arial Bold"/>
                  <a:ea typeface="Arial Bold"/>
                  <a:cs typeface="Arial Bold"/>
                  <a:sym typeface="Arial Bold"/>
                </a:rPr>
                <a:t>Prepare</a:t>
              </a:r>
              <a:r>
                <a:rPr lang="en-US" b="true" sz="3200">
                  <a:solidFill>
                    <a:srgbClr val="003D5C"/>
                  </a:solidFill>
                  <a:latin typeface="Arial Bold"/>
                  <a:ea typeface="Arial Bold"/>
                  <a:cs typeface="Arial Bold"/>
                  <a:sym typeface="Arial Bold"/>
                </a:rPr>
                <a:t> Data</a:t>
              </a:r>
            </a:p>
          </p:txBody>
        </p:sp>
      </p:grpSp>
      <p:grpSp>
        <p:nvGrpSpPr>
          <p:cNvPr name="Group 10" id="10"/>
          <p:cNvGrpSpPr/>
          <p:nvPr/>
        </p:nvGrpSpPr>
        <p:grpSpPr>
          <a:xfrm rot="0">
            <a:off x="914448" y="3785865"/>
            <a:ext cx="4572000" cy="2249165"/>
            <a:chOff x="0" y="0"/>
            <a:chExt cx="6096000" cy="2998887"/>
          </a:xfrm>
        </p:grpSpPr>
        <p:sp>
          <p:nvSpPr>
            <p:cNvPr name="Freeform 11" id="11"/>
            <p:cNvSpPr/>
            <p:nvPr/>
          </p:nvSpPr>
          <p:spPr>
            <a:xfrm flipH="false" flipV="false" rot="0">
              <a:off x="0" y="0"/>
              <a:ext cx="6096000" cy="2998887"/>
            </a:xfrm>
            <a:custGeom>
              <a:avLst/>
              <a:gdLst/>
              <a:ahLst/>
              <a:cxnLst/>
              <a:rect r="r" b="b" t="t" l="l"/>
              <a:pathLst>
                <a:path h="2998887" w="6096000">
                  <a:moveTo>
                    <a:pt x="0" y="0"/>
                  </a:moveTo>
                  <a:lnTo>
                    <a:pt x="6096000" y="0"/>
                  </a:lnTo>
                  <a:lnTo>
                    <a:pt x="6096000" y="2998887"/>
                  </a:lnTo>
                  <a:lnTo>
                    <a:pt x="0" y="2998887"/>
                  </a:lnTo>
                  <a:close/>
                </a:path>
              </a:pathLst>
            </a:custGeom>
            <a:blipFill>
              <a:blip r:embed="rId3">
                <a:alphaModFix amt="0"/>
              </a:blip>
              <a:stretch>
                <a:fillRect l="-1321" t="0" r="-1321" b="18689"/>
              </a:stretch>
            </a:blipFill>
          </p:spPr>
        </p:sp>
        <p:sp>
          <p:nvSpPr>
            <p:cNvPr name="TextBox 12" id="12"/>
            <p:cNvSpPr txBox="true"/>
            <p:nvPr/>
          </p:nvSpPr>
          <p:spPr>
            <a:xfrm>
              <a:off x="0" y="-19050"/>
              <a:ext cx="6096000" cy="3017937"/>
            </a:xfrm>
            <a:prstGeom prst="rect">
              <a:avLst/>
            </a:prstGeom>
          </p:spPr>
          <p:txBody>
            <a:bodyPr anchor="ctr" rtlCol="false" tIns="0" lIns="0" bIns="0" rIns="0"/>
            <a:lstStyle/>
            <a:p>
              <a:pPr algn="ctr">
                <a:lnSpc>
                  <a:spcPts val="3359"/>
                </a:lnSpc>
              </a:pPr>
              <a:r>
                <a:rPr lang="en-US" sz="2799">
                  <a:solidFill>
                    <a:srgbClr val="000000"/>
                  </a:solidFill>
                  <a:latin typeface="Arial"/>
                  <a:ea typeface="Arial"/>
                  <a:cs typeface="Arial"/>
                  <a:sym typeface="Arial"/>
                </a:rPr>
                <a:t>Gather and prepare data on patient age, medications,</a:t>
              </a:r>
            </a:p>
            <a:p>
              <a:pPr algn="ctr">
                <a:lnSpc>
                  <a:spcPts val="3359"/>
                </a:lnSpc>
              </a:pPr>
              <a:r>
                <a:rPr lang="en-US" sz="2799">
                  <a:solidFill>
                    <a:srgbClr val="000000"/>
                  </a:solidFill>
                  <a:latin typeface="Arial"/>
                  <a:ea typeface="Arial"/>
                  <a:cs typeface="Arial"/>
                  <a:sym typeface="Arial"/>
                </a:rPr>
                <a:t>prior visits, diagnoses,</a:t>
              </a:r>
            </a:p>
            <a:p>
              <a:pPr algn="ctr">
                <a:lnSpc>
                  <a:spcPts val="3359"/>
                </a:lnSpc>
              </a:pPr>
              <a:r>
                <a:rPr lang="en-US" sz="2799">
                  <a:solidFill>
                    <a:srgbClr val="000000"/>
                  </a:solidFill>
                  <a:latin typeface="Arial"/>
                  <a:ea typeface="Arial"/>
                  <a:cs typeface="Arial"/>
                  <a:sym typeface="Arial"/>
                </a:rPr>
                <a:t>length of stay upon discharge</a:t>
              </a:r>
            </a:p>
          </p:txBody>
        </p:sp>
      </p:grpSp>
      <p:grpSp>
        <p:nvGrpSpPr>
          <p:cNvPr name="Group 13" id="13"/>
          <p:cNvGrpSpPr/>
          <p:nvPr/>
        </p:nvGrpSpPr>
        <p:grpSpPr>
          <a:xfrm rot="0">
            <a:off x="5669280" y="3657600"/>
            <a:ext cx="914400" cy="1463040"/>
            <a:chOff x="0" y="0"/>
            <a:chExt cx="1219200" cy="1950720"/>
          </a:xfrm>
        </p:grpSpPr>
        <p:sp>
          <p:nvSpPr>
            <p:cNvPr name="Freeform 14" id="14"/>
            <p:cNvSpPr/>
            <p:nvPr/>
          </p:nvSpPr>
          <p:spPr>
            <a:xfrm flipH="false" flipV="false" rot="0">
              <a:off x="0" y="0"/>
              <a:ext cx="1219200" cy="1950720"/>
            </a:xfrm>
            <a:custGeom>
              <a:avLst/>
              <a:gdLst/>
              <a:ahLst/>
              <a:cxnLst/>
              <a:rect r="r" b="b" t="t" l="l"/>
              <a:pathLst>
                <a:path h="1950720" w="1219200">
                  <a:moveTo>
                    <a:pt x="0" y="0"/>
                  </a:moveTo>
                  <a:lnTo>
                    <a:pt x="1219200" y="0"/>
                  </a:lnTo>
                  <a:lnTo>
                    <a:pt x="1219200" y="1950720"/>
                  </a:lnTo>
                  <a:lnTo>
                    <a:pt x="0" y="1950720"/>
                  </a:lnTo>
                  <a:close/>
                </a:path>
              </a:pathLst>
            </a:custGeom>
            <a:blipFill>
              <a:blip r:embed="rId3">
                <a:alphaModFix amt="0"/>
              </a:blip>
              <a:stretch>
                <a:fillRect l="-155285" t="0" r="-155285" b="0"/>
              </a:stretch>
            </a:blipFill>
          </p:spPr>
        </p:sp>
        <p:sp>
          <p:nvSpPr>
            <p:cNvPr name="TextBox 15" id="15"/>
            <p:cNvSpPr txBox="true"/>
            <p:nvPr/>
          </p:nvSpPr>
          <p:spPr>
            <a:xfrm>
              <a:off x="0" y="-28575"/>
              <a:ext cx="1219200" cy="1979295"/>
            </a:xfrm>
            <a:prstGeom prst="rect">
              <a:avLst/>
            </a:prstGeom>
          </p:spPr>
          <p:txBody>
            <a:bodyPr anchor="ctr" rtlCol="false" tIns="0" lIns="0" bIns="0" rIns="0"/>
            <a:lstStyle/>
            <a:p>
              <a:pPr algn="ctr">
                <a:lnSpc>
                  <a:spcPts val="8640"/>
                </a:lnSpc>
              </a:pPr>
              <a:r>
                <a:rPr lang="en-US" sz="7200">
                  <a:solidFill>
                    <a:srgbClr val="00A4A6"/>
                  </a:solidFill>
                  <a:latin typeface="Arial"/>
                  <a:ea typeface="Arial"/>
                  <a:cs typeface="Arial"/>
                  <a:sym typeface="Arial"/>
                </a:rPr>
                <a:t>→</a:t>
              </a:r>
            </a:p>
          </p:txBody>
        </p:sp>
      </p:grpSp>
      <p:grpSp>
        <p:nvGrpSpPr>
          <p:cNvPr name="Group 16" id="16"/>
          <p:cNvGrpSpPr/>
          <p:nvPr/>
        </p:nvGrpSpPr>
        <p:grpSpPr>
          <a:xfrm rot="0">
            <a:off x="6768465" y="3042166"/>
            <a:ext cx="4572000" cy="3291840"/>
            <a:chOff x="0" y="0"/>
            <a:chExt cx="6096000" cy="4389120"/>
          </a:xfrm>
        </p:grpSpPr>
        <p:sp>
          <p:nvSpPr>
            <p:cNvPr name="Freeform 17" id="17"/>
            <p:cNvSpPr/>
            <p:nvPr/>
          </p:nvSpPr>
          <p:spPr>
            <a:xfrm flipH="false" flipV="false" rot="0">
              <a:off x="0" y="0"/>
              <a:ext cx="6096000" cy="4389120"/>
            </a:xfrm>
            <a:custGeom>
              <a:avLst/>
              <a:gdLst/>
              <a:ahLst/>
              <a:cxnLst/>
              <a:rect r="r" b="b" t="t" l="l"/>
              <a:pathLst>
                <a:path h="4389120" w="6096000">
                  <a:moveTo>
                    <a:pt x="0" y="0"/>
                  </a:moveTo>
                  <a:lnTo>
                    <a:pt x="6096000" y="0"/>
                  </a:lnTo>
                  <a:lnTo>
                    <a:pt x="6096000" y="4389120"/>
                  </a:lnTo>
                  <a:lnTo>
                    <a:pt x="0" y="4389120"/>
                  </a:lnTo>
                  <a:close/>
                </a:path>
              </a:pathLst>
            </a:custGeom>
            <a:solidFill>
              <a:srgbClr val="00A4A6"/>
            </a:solidFill>
          </p:spPr>
        </p:sp>
      </p:grpSp>
      <p:grpSp>
        <p:nvGrpSpPr>
          <p:cNvPr name="Group 18" id="18"/>
          <p:cNvGrpSpPr/>
          <p:nvPr/>
        </p:nvGrpSpPr>
        <p:grpSpPr>
          <a:xfrm rot="0">
            <a:off x="6768465" y="3225046"/>
            <a:ext cx="4572000" cy="914400"/>
            <a:chOff x="0" y="0"/>
            <a:chExt cx="6096000" cy="1219200"/>
          </a:xfrm>
        </p:grpSpPr>
        <p:sp>
          <p:nvSpPr>
            <p:cNvPr name="Freeform 19" id="19"/>
            <p:cNvSpPr/>
            <p:nvPr/>
          </p:nvSpPr>
          <p:spPr>
            <a:xfrm flipH="false" flipV="false" rot="0">
              <a:off x="0" y="0"/>
              <a:ext cx="6096000" cy="1219200"/>
            </a:xfrm>
            <a:custGeom>
              <a:avLst/>
              <a:gdLst/>
              <a:ahLst/>
              <a:cxnLst/>
              <a:rect r="r" b="b" t="t" l="l"/>
              <a:pathLst>
                <a:path h="1219200" w="6096000">
                  <a:moveTo>
                    <a:pt x="0" y="0"/>
                  </a:moveTo>
                  <a:lnTo>
                    <a:pt x="6096000" y="0"/>
                  </a:lnTo>
                  <a:lnTo>
                    <a:pt x="6096000" y="1219200"/>
                  </a:lnTo>
                  <a:lnTo>
                    <a:pt x="0" y="1219200"/>
                  </a:lnTo>
                  <a:close/>
                </a:path>
              </a:pathLst>
            </a:custGeom>
            <a:blipFill>
              <a:blip r:embed="rId3">
                <a:alphaModFix amt="0"/>
              </a:blip>
              <a:stretch>
                <a:fillRect l="0" t="-47425" r="0" b="-47425"/>
              </a:stretch>
            </a:blipFill>
          </p:spPr>
        </p:sp>
        <p:sp>
          <p:nvSpPr>
            <p:cNvPr name="TextBox 20" id="20"/>
            <p:cNvSpPr txBox="true"/>
            <p:nvPr/>
          </p:nvSpPr>
          <p:spPr>
            <a:xfrm>
              <a:off x="0" y="-28575"/>
              <a:ext cx="6096000" cy="1247775"/>
            </a:xfrm>
            <a:prstGeom prst="rect">
              <a:avLst/>
            </a:prstGeom>
          </p:spPr>
          <p:txBody>
            <a:bodyPr anchor="ctr" rtlCol="false" tIns="0" lIns="0" bIns="0" rIns="0"/>
            <a:lstStyle/>
            <a:p>
              <a:pPr algn="ctr">
                <a:lnSpc>
                  <a:spcPts val="3840"/>
                </a:lnSpc>
              </a:pPr>
              <a:r>
                <a:rPr lang="en-US" b="true" sz="3200">
                  <a:solidFill>
                    <a:srgbClr val="FFFFFF"/>
                  </a:solidFill>
                  <a:latin typeface="Arial Bold"/>
                  <a:ea typeface="Arial Bold"/>
                  <a:cs typeface="Arial Bold"/>
                  <a:sym typeface="Arial Bold"/>
                </a:rPr>
                <a:t>Machine Learning Model</a:t>
              </a:r>
            </a:p>
          </p:txBody>
        </p:sp>
      </p:grpSp>
      <p:grpSp>
        <p:nvGrpSpPr>
          <p:cNvPr name="Group 21" id="21"/>
          <p:cNvGrpSpPr/>
          <p:nvPr/>
        </p:nvGrpSpPr>
        <p:grpSpPr>
          <a:xfrm rot="0">
            <a:off x="6768465" y="4139446"/>
            <a:ext cx="4572000" cy="1828800"/>
            <a:chOff x="0" y="0"/>
            <a:chExt cx="6096000" cy="2438400"/>
          </a:xfrm>
        </p:grpSpPr>
        <p:sp>
          <p:nvSpPr>
            <p:cNvPr name="Freeform 22" id="22"/>
            <p:cNvSpPr/>
            <p:nvPr/>
          </p:nvSpPr>
          <p:spPr>
            <a:xfrm flipH="false" flipV="false" rot="0">
              <a:off x="0" y="0"/>
              <a:ext cx="6096000" cy="2438400"/>
            </a:xfrm>
            <a:custGeom>
              <a:avLst/>
              <a:gdLst/>
              <a:ahLst/>
              <a:cxnLst/>
              <a:rect r="r" b="b" t="t" l="l"/>
              <a:pathLst>
                <a:path h="2438400" w="6096000">
                  <a:moveTo>
                    <a:pt x="0" y="0"/>
                  </a:moveTo>
                  <a:lnTo>
                    <a:pt x="6096000" y="0"/>
                  </a:lnTo>
                  <a:lnTo>
                    <a:pt x="6096000" y="2438400"/>
                  </a:lnTo>
                  <a:lnTo>
                    <a:pt x="0" y="2438400"/>
                  </a:lnTo>
                  <a:close/>
                </a:path>
              </a:pathLst>
            </a:custGeom>
            <a:blipFill>
              <a:blip r:embed="rId3">
                <a:alphaModFix amt="0"/>
              </a:blip>
              <a:stretch>
                <a:fillRect l="-1321" t="0" r="-1321" b="0"/>
              </a:stretch>
            </a:blipFill>
          </p:spPr>
        </p:sp>
        <p:sp>
          <p:nvSpPr>
            <p:cNvPr name="TextBox 23" id="23"/>
            <p:cNvSpPr txBox="true"/>
            <p:nvPr/>
          </p:nvSpPr>
          <p:spPr>
            <a:xfrm>
              <a:off x="0" y="-19050"/>
              <a:ext cx="6096000" cy="2457450"/>
            </a:xfrm>
            <a:prstGeom prst="rect">
              <a:avLst/>
            </a:prstGeom>
          </p:spPr>
          <p:txBody>
            <a:bodyPr anchor="ctr" rtlCol="false" tIns="0" lIns="0" bIns="0" rIns="0"/>
            <a:lstStyle/>
            <a:p>
              <a:pPr algn="ctr">
                <a:lnSpc>
                  <a:spcPts val="3359"/>
                </a:lnSpc>
              </a:pPr>
              <a:r>
                <a:rPr lang="en-US" sz="2799">
                  <a:solidFill>
                    <a:srgbClr val="FFFFFF"/>
                  </a:solidFill>
                  <a:latin typeface="Arial"/>
                  <a:ea typeface="Arial"/>
                  <a:cs typeface="Arial"/>
                  <a:sym typeface="Arial"/>
                </a:rPr>
                <a:t>An Algorithm understands patterns from the data.</a:t>
              </a:r>
            </a:p>
          </p:txBody>
        </p:sp>
      </p:grpSp>
      <p:grpSp>
        <p:nvGrpSpPr>
          <p:cNvPr name="Group 24" id="24"/>
          <p:cNvGrpSpPr/>
          <p:nvPr/>
        </p:nvGrpSpPr>
        <p:grpSpPr>
          <a:xfrm rot="0">
            <a:off x="11521440" y="3657600"/>
            <a:ext cx="914400" cy="1463040"/>
            <a:chOff x="0" y="0"/>
            <a:chExt cx="1219200" cy="1950720"/>
          </a:xfrm>
        </p:grpSpPr>
        <p:sp>
          <p:nvSpPr>
            <p:cNvPr name="Freeform 25" id="25"/>
            <p:cNvSpPr/>
            <p:nvPr/>
          </p:nvSpPr>
          <p:spPr>
            <a:xfrm flipH="false" flipV="false" rot="0">
              <a:off x="0" y="0"/>
              <a:ext cx="1219200" cy="1950720"/>
            </a:xfrm>
            <a:custGeom>
              <a:avLst/>
              <a:gdLst/>
              <a:ahLst/>
              <a:cxnLst/>
              <a:rect r="r" b="b" t="t" l="l"/>
              <a:pathLst>
                <a:path h="1950720" w="1219200">
                  <a:moveTo>
                    <a:pt x="0" y="0"/>
                  </a:moveTo>
                  <a:lnTo>
                    <a:pt x="1219200" y="0"/>
                  </a:lnTo>
                  <a:lnTo>
                    <a:pt x="1219200" y="1950720"/>
                  </a:lnTo>
                  <a:lnTo>
                    <a:pt x="0" y="1950720"/>
                  </a:lnTo>
                  <a:close/>
                </a:path>
              </a:pathLst>
            </a:custGeom>
            <a:blipFill>
              <a:blip r:embed="rId3">
                <a:alphaModFix amt="0"/>
              </a:blip>
              <a:stretch>
                <a:fillRect l="-155285" t="0" r="-155285" b="0"/>
              </a:stretch>
            </a:blipFill>
          </p:spPr>
        </p:sp>
        <p:sp>
          <p:nvSpPr>
            <p:cNvPr name="TextBox 26" id="26"/>
            <p:cNvSpPr txBox="true"/>
            <p:nvPr/>
          </p:nvSpPr>
          <p:spPr>
            <a:xfrm>
              <a:off x="0" y="-28575"/>
              <a:ext cx="1219200" cy="1979295"/>
            </a:xfrm>
            <a:prstGeom prst="rect">
              <a:avLst/>
            </a:prstGeom>
          </p:spPr>
          <p:txBody>
            <a:bodyPr anchor="ctr" rtlCol="false" tIns="0" lIns="0" bIns="0" rIns="0"/>
            <a:lstStyle/>
            <a:p>
              <a:pPr algn="ctr">
                <a:lnSpc>
                  <a:spcPts val="8640"/>
                </a:lnSpc>
              </a:pPr>
              <a:r>
                <a:rPr lang="en-US" sz="7200">
                  <a:solidFill>
                    <a:srgbClr val="00A4A6"/>
                  </a:solidFill>
                  <a:latin typeface="Arial"/>
                  <a:ea typeface="Arial"/>
                  <a:cs typeface="Arial"/>
                  <a:sym typeface="Arial"/>
                </a:rPr>
                <a:t>→</a:t>
              </a:r>
            </a:p>
          </p:txBody>
        </p:sp>
      </p:grpSp>
      <p:grpSp>
        <p:nvGrpSpPr>
          <p:cNvPr name="Group 27" id="27"/>
          <p:cNvGrpSpPr/>
          <p:nvPr/>
        </p:nvGrpSpPr>
        <p:grpSpPr>
          <a:xfrm rot="0">
            <a:off x="12616815" y="3042166"/>
            <a:ext cx="4572000" cy="3291840"/>
            <a:chOff x="0" y="0"/>
            <a:chExt cx="6096000" cy="4389120"/>
          </a:xfrm>
        </p:grpSpPr>
        <p:sp>
          <p:nvSpPr>
            <p:cNvPr name="Freeform 28" id="28"/>
            <p:cNvSpPr/>
            <p:nvPr/>
          </p:nvSpPr>
          <p:spPr>
            <a:xfrm flipH="false" flipV="false" rot="0">
              <a:off x="0" y="0"/>
              <a:ext cx="6096000" cy="4389120"/>
            </a:xfrm>
            <a:custGeom>
              <a:avLst/>
              <a:gdLst/>
              <a:ahLst/>
              <a:cxnLst/>
              <a:rect r="r" b="b" t="t" l="l"/>
              <a:pathLst>
                <a:path h="4389120" w="6096000">
                  <a:moveTo>
                    <a:pt x="0" y="0"/>
                  </a:moveTo>
                  <a:lnTo>
                    <a:pt x="6096000" y="0"/>
                  </a:lnTo>
                  <a:lnTo>
                    <a:pt x="6096000" y="4389120"/>
                  </a:lnTo>
                  <a:lnTo>
                    <a:pt x="0" y="4389120"/>
                  </a:lnTo>
                  <a:close/>
                </a:path>
              </a:pathLst>
            </a:custGeom>
            <a:solidFill>
              <a:srgbClr val="70AD47"/>
            </a:solidFill>
          </p:spPr>
        </p:sp>
      </p:grpSp>
      <p:grpSp>
        <p:nvGrpSpPr>
          <p:cNvPr name="Group 29" id="29"/>
          <p:cNvGrpSpPr/>
          <p:nvPr/>
        </p:nvGrpSpPr>
        <p:grpSpPr>
          <a:xfrm rot="0">
            <a:off x="12616815" y="3225046"/>
            <a:ext cx="4572000" cy="914400"/>
            <a:chOff x="0" y="0"/>
            <a:chExt cx="6096000" cy="1219200"/>
          </a:xfrm>
        </p:grpSpPr>
        <p:sp>
          <p:nvSpPr>
            <p:cNvPr name="Freeform 30" id="30"/>
            <p:cNvSpPr/>
            <p:nvPr/>
          </p:nvSpPr>
          <p:spPr>
            <a:xfrm flipH="false" flipV="false" rot="0">
              <a:off x="0" y="0"/>
              <a:ext cx="6096000" cy="1219200"/>
            </a:xfrm>
            <a:custGeom>
              <a:avLst/>
              <a:gdLst/>
              <a:ahLst/>
              <a:cxnLst/>
              <a:rect r="r" b="b" t="t" l="l"/>
              <a:pathLst>
                <a:path h="1219200" w="6096000">
                  <a:moveTo>
                    <a:pt x="0" y="0"/>
                  </a:moveTo>
                  <a:lnTo>
                    <a:pt x="6096000" y="0"/>
                  </a:lnTo>
                  <a:lnTo>
                    <a:pt x="6096000" y="1219200"/>
                  </a:lnTo>
                  <a:lnTo>
                    <a:pt x="0" y="1219200"/>
                  </a:lnTo>
                  <a:close/>
                </a:path>
              </a:pathLst>
            </a:custGeom>
            <a:blipFill>
              <a:blip r:embed="rId3">
                <a:alphaModFix amt="0"/>
              </a:blip>
              <a:stretch>
                <a:fillRect l="0" t="-47425" r="0" b="-47425"/>
              </a:stretch>
            </a:blipFill>
          </p:spPr>
        </p:sp>
        <p:sp>
          <p:nvSpPr>
            <p:cNvPr name="TextBox 31" id="31"/>
            <p:cNvSpPr txBox="true"/>
            <p:nvPr/>
          </p:nvSpPr>
          <p:spPr>
            <a:xfrm>
              <a:off x="0" y="-28575"/>
              <a:ext cx="6096000" cy="1247775"/>
            </a:xfrm>
            <a:prstGeom prst="rect">
              <a:avLst/>
            </a:prstGeom>
          </p:spPr>
          <p:txBody>
            <a:bodyPr anchor="ctr" rtlCol="false" tIns="0" lIns="0" bIns="0" rIns="0"/>
            <a:lstStyle/>
            <a:p>
              <a:pPr algn="ctr">
                <a:lnSpc>
                  <a:spcPts val="3840"/>
                </a:lnSpc>
              </a:pPr>
              <a:r>
                <a:rPr lang="en-US" b="true" sz="3200">
                  <a:solidFill>
                    <a:srgbClr val="FFFFFF"/>
                  </a:solidFill>
                  <a:latin typeface="Arial Bold"/>
                  <a:ea typeface="Arial Bold"/>
                  <a:cs typeface="Arial Bold"/>
                  <a:sym typeface="Arial Bold"/>
                </a:rPr>
                <a:t>Risk Score</a:t>
              </a:r>
            </a:p>
          </p:txBody>
        </p:sp>
      </p:grpSp>
      <p:grpSp>
        <p:nvGrpSpPr>
          <p:cNvPr name="Group 32" id="32"/>
          <p:cNvGrpSpPr/>
          <p:nvPr/>
        </p:nvGrpSpPr>
        <p:grpSpPr>
          <a:xfrm rot="0">
            <a:off x="12616815" y="4139446"/>
            <a:ext cx="4572000" cy="1830065"/>
            <a:chOff x="0" y="0"/>
            <a:chExt cx="6096000" cy="2440087"/>
          </a:xfrm>
        </p:grpSpPr>
        <p:sp>
          <p:nvSpPr>
            <p:cNvPr name="Freeform 33" id="33"/>
            <p:cNvSpPr/>
            <p:nvPr/>
          </p:nvSpPr>
          <p:spPr>
            <a:xfrm flipH="false" flipV="false" rot="0">
              <a:off x="0" y="0"/>
              <a:ext cx="6096000" cy="2440087"/>
            </a:xfrm>
            <a:custGeom>
              <a:avLst/>
              <a:gdLst/>
              <a:ahLst/>
              <a:cxnLst/>
              <a:rect r="r" b="b" t="t" l="l"/>
              <a:pathLst>
                <a:path h="2440087" w="6096000">
                  <a:moveTo>
                    <a:pt x="0" y="0"/>
                  </a:moveTo>
                  <a:lnTo>
                    <a:pt x="6096000" y="0"/>
                  </a:lnTo>
                  <a:lnTo>
                    <a:pt x="6096000" y="2440087"/>
                  </a:lnTo>
                  <a:lnTo>
                    <a:pt x="0" y="2440087"/>
                  </a:lnTo>
                  <a:close/>
                </a:path>
              </a:pathLst>
            </a:custGeom>
            <a:blipFill>
              <a:blip r:embed="rId3">
                <a:alphaModFix amt="0"/>
              </a:blip>
              <a:stretch>
                <a:fillRect l="-1321" t="0" r="-1321" b="69"/>
              </a:stretch>
            </a:blipFill>
          </p:spPr>
        </p:sp>
        <p:sp>
          <p:nvSpPr>
            <p:cNvPr name="TextBox 34" id="34"/>
            <p:cNvSpPr txBox="true"/>
            <p:nvPr/>
          </p:nvSpPr>
          <p:spPr>
            <a:xfrm>
              <a:off x="0" y="-19050"/>
              <a:ext cx="6096000" cy="2459137"/>
            </a:xfrm>
            <a:prstGeom prst="rect">
              <a:avLst/>
            </a:prstGeom>
          </p:spPr>
          <p:txBody>
            <a:bodyPr anchor="ctr" rtlCol="false" tIns="0" lIns="0" bIns="0" rIns="0"/>
            <a:lstStyle/>
            <a:p>
              <a:pPr algn="ctr">
                <a:lnSpc>
                  <a:spcPts val="3359"/>
                </a:lnSpc>
              </a:pPr>
              <a:r>
                <a:rPr lang="en-US" sz="2799">
                  <a:solidFill>
                    <a:srgbClr val="FFFFFF"/>
                  </a:solidFill>
                  <a:latin typeface="Arial"/>
                  <a:ea typeface="Arial"/>
                  <a:cs typeface="Arial"/>
                  <a:sym typeface="Arial"/>
                </a:rPr>
                <a:t>The model assigns </a:t>
              </a:r>
              <a:r>
                <a:rPr lang="en-US" sz="2799">
                  <a:solidFill>
                    <a:srgbClr val="FFFFFF"/>
                  </a:solidFill>
                  <a:latin typeface="Arial"/>
                  <a:ea typeface="Arial"/>
                  <a:cs typeface="Arial"/>
                  <a:sym typeface="Arial"/>
                </a:rPr>
                <a:t>individual patients with a 0-100%</a:t>
              </a:r>
            </a:p>
            <a:p>
              <a:pPr algn="ctr">
                <a:lnSpc>
                  <a:spcPts val="3359"/>
                </a:lnSpc>
              </a:pPr>
              <a:r>
                <a:rPr lang="en-US" sz="2799">
                  <a:solidFill>
                    <a:srgbClr val="FFFFFF"/>
                  </a:solidFill>
                  <a:latin typeface="Arial"/>
                  <a:ea typeface="Arial"/>
                  <a:cs typeface="Arial"/>
                  <a:sym typeface="Arial"/>
                </a:rPr>
                <a:t>probability score upon discharge.</a:t>
              </a:r>
            </a:p>
          </p:txBody>
        </p:sp>
      </p:grpSp>
      <p:grpSp>
        <p:nvGrpSpPr>
          <p:cNvPr name="Group 35" id="35"/>
          <p:cNvGrpSpPr/>
          <p:nvPr/>
        </p:nvGrpSpPr>
        <p:grpSpPr>
          <a:xfrm rot="0">
            <a:off x="914400" y="7181612"/>
            <a:ext cx="16459200" cy="2377202"/>
            <a:chOff x="0" y="0"/>
            <a:chExt cx="21945600" cy="3169602"/>
          </a:xfrm>
        </p:grpSpPr>
        <p:sp>
          <p:nvSpPr>
            <p:cNvPr name="Freeform 36" id="36"/>
            <p:cNvSpPr/>
            <p:nvPr/>
          </p:nvSpPr>
          <p:spPr>
            <a:xfrm flipH="false" flipV="false" rot="0">
              <a:off x="0" y="0"/>
              <a:ext cx="21945600" cy="3169539"/>
            </a:xfrm>
            <a:custGeom>
              <a:avLst/>
              <a:gdLst/>
              <a:ahLst/>
              <a:cxnLst/>
              <a:rect r="r" b="b" t="t" l="l"/>
              <a:pathLst>
                <a:path h="3169539" w="21945600">
                  <a:moveTo>
                    <a:pt x="0" y="0"/>
                  </a:moveTo>
                  <a:lnTo>
                    <a:pt x="21945600" y="0"/>
                  </a:lnTo>
                  <a:lnTo>
                    <a:pt x="21945600" y="3169539"/>
                  </a:lnTo>
                  <a:lnTo>
                    <a:pt x="0" y="3169539"/>
                  </a:lnTo>
                  <a:close/>
                </a:path>
              </a:pathLst>
            </a:custGeom>
            <a:solidFill>
              <a:srgbClr val="E8F4F8"/>
            </a:solidFill>
          </p:spPr>
        </p:sp>
      </p:grpSp>
      <p:grpSp>
        <p:nvGrpSpPr>
          <p:cNvPr name="Group 37" id="37"/>
          <p:cNvGrpSpPr/>
          <p:nvPr/>
        </p:nvGrpSpPr>
        <p:grpSpPr>
          <a:xfrm rot="0">
            <a:off x="1280036" y="7310854"/>
            <a:ext cx="15727804" cy="2118717"/>
            <a:chOff x="0" y="0"/>
            <a:chExt cx="20970405" cy="2824956"/>
          </a:xfrm>
        </p:grpSpPr>
        <p:sp>
          <p:nvSpPr>
            <p:cNvPr name="Freeform 38" id="38"/>
            <p:cNvSpPr/>
            <p:nvPr/>
          </p:nvSpPr>
          <p:spPr>
            <a:xfrm flipH="false" flipV="false" rot="0">
              <a:off x="0" y="0"/>
              <a:ext cx="20970401" cy="2824961"/>
            </a:xfrm>
            <a:custGeom>
              <a:avLst/>
              <a:gdLst/>
              <a:ahLst/>
              <a:cxnLst/>
              <a:rect r="r" b="b" t="t" l="l"/>
              <a:pathLst>
                <a:path h="2824961" w="20970401">
                  <a:moveTo>
                    <a:pt x="0" y="0"/>
                  </a:moveTo>
                  <a:lnTo>
                    <a:pt x="20970401" y="0"/>
                  </a:lnTo>
                  <a:lnTo>
                    <a:pt x="20970401" y="2824961"/>
                  </a:lnTo>
                  <a:lnTo>
                    <a:pt x="0" y="2824961"/>
                  </a:lnTo>
                  <a:close/>
                </a:path>
              </a:pathLst>
            </a:custGeom>
            <a:blipFill>
              <a:blip r:embed="rId3">
                <a:alphaModFix amt="0"/>
              </a:blip>
              <a:stretch>
                <a:fillRect l="0" t="-127382" r="0" b="-61902"/>
              </a:stretch>
            </a:blipFill>
          </p:spPr>
        </p:sp>
        <p:sp>
          <p:nvSpPr>
            <p:cNvPr name="TextBox 39" id="39"/>
            <p:cNvSpPr txBox="true"/>
            <p:nvPr/>
          </p:nvSpPr>
          <p:spPr>
            <a:xfrm>
              <a:off x="0" y="-28575"/>
              <a:ext cx="20970405" cy="2853531"/>
            </a:xfrm>
            <a:prstGeom prst="rect">
              <a:avLst/>
            </a:prstGeom>
          </p:spPr>
          <p:txBody>
            <a:bodyPr anchor="ctr" rtlCol="false" tIns="0" lIns="0" bIns="0" rIns="0"/>
            <a:lstStyle/>
            <a:p>
              <a:pPr algn="l">
                <a:lnSpc>
                  <a:spcPts val="3840"/>
                </a:lnSpc>
              </a:pPr>
              <a:r>
                <a:rPr lang="en-US" b="true" sz="3200">
                  <a:solidFill>
                    <a:srgbClr val="1E293B"/>
                  </a:solidFill>
                  <a:latin typeface="Arial Bold"/>
                  <a:ea typeface="Arial Bold"/>
                  <a:cs typeface="Arial Bold"/>
                  <a:sym typeface="Arial Bold"/>
                </a:rPr>
                <a:t>Example: A patient with 75% score is much more likely to return than one with 25%.</a:t>
              </a:r>
            </a:p>
            <a:p>
              <a:pPr algn="l">
                <a:lnSpc>
                  <a:spcPts val="3840"/>
                </a:lnSpc>
              </a:pPr>
              <a:r>
                <a:rPr lang="en-US" b="true" sz="3200">
                  <a:solidFill>
                    <a:srgbClr val="1E293B"/>
                  </a:solidFill>
                  <a:latin typeface="Arial Bold"/>
                  <a:ea typeface="Arial Bold"/>
                  <a:cs typeface="Arial Bold"/>
                  <a:sym typeface="Arial Bold"/>
                </a:rPr>
                <a:t>Patients with over 50% probability are categorised 1 (chance to readmit) while those below 50% are grouped as 0 (will not readmit).</a:t>
              </a:r>
            </a:p>
          </p:txBody>
        </p:sp>
      </p:grpSp>
      <p:grpSp>
        <p:nvGrpSpPr>
          <p:cNvPr name="Group 40" id="40"/>
          <p:cNvGrpSpPr/>
          <p:nvPr/>
        </p:nvGrpSpPr>
        <p:grpSpPr>
          <a:xfrm rot="0">
            <a:off x="17007840" y="9692640"/>
            <a:ext cx="914400" cy="548402"/>
            <a:chOff x="0" y="0"/>
            <a:chExt cx="1219200" cy="731202"/>
          </a:xfrm>
        </p:grpSpPr>
        <p:sp>
          <p:nvSpPr>
            <p:cNvPr name="Freeform 41" id="41"/>
            <p:cNvSpPr/>
            <p:nvPr/>
          </p:nvSpPr>
          <p:spPr>
            <a:xfrm flipH="false" flipV="false" rot="0">
              <a:off x="0" y="0"/>
              <a:ext cx="1219200" cy="731200"/>
            </a:xfrm>
            <a:custGeom>
              <a:avLst/>
              <a:gdLst/>
              <a:ahLst/>
              <a:cxnLst/>
              <a:rect r="r" b="b" t="t" l="l"/>
              <a:pathLst>
                <a:path h="731200" w="1219200">
                  <a:moveTo>
                    <a:pt x="0" y="0"/>
                  </a:moveTo>
                  <a:lnTo>
                    <a:pt x="1219200" y="0"/>
                  </a:lnTo>
                  <a:lnTo>
                    <a:pt x="1219200" y="731200"/>
                  </a:lnTo>
                  <a:lnTo>
                    <a:pt x="0" y="731200"/>
                  </a:lnTo>
                  <a:close/>
                </a:path>
              </a:pathLst>
            </a:custGeom>
            <a:blipFill>
              <a:blip r:embed="rId3">
                <a:alphaModFix amt="0"/>
              </a:blip>
              <a:stretch>
                <a:fillRect l="-26948" t="0" r="-26948" b="0"/>
              </a:stretch>
            </a:blipFill>
          </p:spPr>
        </p:sp>
        <p:sp>
          <p:nvSpPr>
            <p:cNvPr name="TextBox 42" id="42"/>
            <p:cNvSpPr txBox="true"/>
            <p:nvPr/>
          </p:nvSpPr>
          <p:spPr>
            <a:xfrm>
              <a:off x="0" y="-38100"/>
              <a:ext cx="1219200" cy="769302"/>
            </a:xfrm>
            <a:prstGeom prst="rect">
              <a:avLst/>
            </a:prstGeom>
          </p:spPr>
          <p:txBody>
            <a:bodyPr anchor="ctr" rtlCol="false" tIns="0" lIns="0" bIns="0" rIns="0"/>
            <a:lstStyle/>
            <a:p>
              <a:pPr algn="r">
                <a:lnSpc>
                  <a:spcPts val="2400"/>
                </a:lnSpc>
              </a:pPr>
              <a:r>
                <a:rPr lang="en-US" sz="2000">
                  <a:solidFill>
                    <a:srgbClr val="808080"/>
                  </a:solidFill>
                  <a:latin typeface="Calibri (MS)"/>
                  <a:ea typeface="Calibri (MS)"/>
                  <a:cs typeface="Calibri (MS)"/>
                  <a:sym typeface="Calibri (MS)"/>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9FC"/>
        </a:solidFill>
      </p:bgPr>
    </p:bg>
    <p:spTree>
      <p:nvGrpSpPr>
        <p:cNvPr id="1" name=""/>
        <p:cNvGrpSpPr/>
        <p:nvPr/>
      </p:nvGrpSpPr>
      <p:grpSpPr>
        <a:xfrm>
          <a:off x="0" y="0"/>
          <a:ext cx="0" cy="0"/>
          <a:chOff x="0" y="0"/>
          <a:chExt cx="0" cy="0"/>
        </a:xfrm>
      </p:grpSpPr>
      <p:grpSp>
        <p:nvGrpSpPr>
          <p:cNvPr name="Group 2" id="2"/>
          <p:cNvGrpSpPr/>
          <p:nvPr/>
        </p:nvGrpSpPr>
        <p:grpSpPr>
          <a:xfrm rot="0">
            <a:off x="914400" y="153148"/>
            <a:ext cx="16459200" cy="1751105"/>
            <a:chOff x="0" y="0"/>
            <a:chExt cx="21945600" cy="2334806"/>
          </a:xfrm>
        </p:grpSpPr>
        <p:sp>
          <p:nvSpPr>
            <p:cNvPr name="Freeform 3" id="3"/>
            <p:cNvSpPr/>
            <p:nvPr/>
          </p:nvSpPr>
          <p:spPr>
            <a:xfrm flipH="false" flipV="false" rot="0">
              <a:off x="0" y="0"/>
              <a:ext cx="21945600" cy="2334798"/>
            </a:xfrm>
            <a:custGeom>
              <a:avLst/>
              <a:gdLst/>
              <a:ahLst/>
              <a:cxnLst/>
              <a:rect r="r" b="b" t="t" l="l"/>
              <a:pathLst>
                <a:path h="2334798" w="21945600">
                  <a:moveTo>
                    <a:pt x="0" y="0"/>
                  </a:moveTo>
                  <a:lnTo>
                    <a:pt x="21945600" y="0"/>
                  </a:lnTo>
                  <a:lnTo>
                    <a:pt x="21945600" y="2334798"/>
                  </a:lnTo>
                  <a:lnTo>
                    <a:pt x="0" y="2334798"/>
                  </a:lnTo>
                  <a:close/>
                </a:path>
              </a:pathLst>
            </a:custGeom>
            <a:blipFill>
              <a:blip r:embed="rId3">
                <a:alphaModFix amt="0"/>
              </a:blip>
              <a:stretch>
                <a:fillRect l="0" t="-151812" r="0" b="-114481"/>
              </a:stretch>
            </a:blipFill>
          </p:spPr>
        </p:sp>
        <p:sp>
          <p:nvSpPr>
            <p:cNvPr name="TextBox 4" id="4"/>
            <p:cNvSpPr txBox="true"/>
            <p:nvPr/>
          </p:nvSpPr>
          <p:spPr>
            <a:xfrm>
              <a:off x="0" y="-19050"/>
              <a:ext cx="21945600" cy="2353856"/>
            </a:xfrm>
            <a:prstGeom prst="rect">
              <a:avLst/>
            </a:prstGeom>
          </p:spPr>
          <p:txBody>
            <a:bodyPr anchor="ctr" rtlCol="false" tIns="0" lIns="0" bIns="0" rIns="0"/>
            <a:lstStyle/>
            <a:p>
              <a:pPr algn="l">
                <a:lnSpc>
                  <a:spcPts val="5759"/>
                </a:lnSpc>
              </a:pPr>
              <a:r>
                <a:rPr lang="en-US" b="true" sz="4800">
                  <a:solidFill>
                    <a:srgbClr val="1E3A5F"/>
                  </a:solidFill>
                  <a:latin typeface="Arial Bold"/>
                  <a:ea typeface="Arial Bold"/>
                  <a:cs typeface="Arial Bold"/>
                  <a:sym typeface="Arial Bold"/>
                </a:rPr>
                <a:t>Dataset: UCI’s Diabetic Readmissions across 130 US Hospitals from 1999 to 2008 [101,766 encounters]</a:t>
              </a:r>
            </a:p>
          </p:txBody>
        </p:sp>
      </p:grpSp>
      <p:graphicFrame>
        <p:nvGraphicFramePr>
          <p:cNvPr name="Table 5" id="5"/>
          <p:cNvGraphicFramePr>
            <a:graphicFrameLocks noGrp="true"/>
          </p:cNvGraphicFramePr>
          <p:nvPr/>
        </p:nvGraphicFramePr>
        <p:xfrm>
          <a:off x="914400" y="2299745"/>
          <a:ext cx="16459200" cy="6958555"/>
        </p:xfrm>
        <a:graphic>
          <a:graphicData uri="http://schemas.openxmlformats.org/drawingml/2006/table">
            <a:tbl>
              <a:tblPr/>
              <a:tblGrid>
                <a:gridCol w="4578306"/>
                <a:gridCol w="8210681"/>
                <a:gridCol w="3670212"/>
              </a:tblGrid>
              <a:tr h="858425">
                <a:tc>
                  <a:txBody>
                    <a:bodyPr anchor="t" rtlCol="false"/>
                    <a:lstStyle/>
                    <a:p>
                      <a:pPr algn="l">
                        <a:lnSpc>
                          <a:spcPts val="3840"/>
                        </a:lnSpc>
                        <a:defRPr/>
                      </a:pPr>
                      <a:r>
                        <a:rPr lang="en-US" b="true" sz="3200">
                          <a:solidFill>
                            <a:srgbClr val="FFFFFF"/>
                          </a:solidFill>
                          <a:latin typeface="Arial Bold"/>
                          <a:ea typeface="Arial Bold"/>
                          <a:cs typeface="Arial Bold"/>
                          <a:sym typeface="Arial Bold"/>
                        </a:rPr>
                        <a:t>Category</a:t>
                      </a:r>
                      <a:endParaRPr lang="en-US" sz="1100"/>
                    </a:p>
                  </a:txBody>
                  <a:tcPr marL="91450" marR="91450" marT="91450" marB="914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E3A5F"/>
                    </a:solidFill>
                  </a:tcPr>
                </a:tc>
                <a:tc>
                  <a:txBody>
                    <a:bodyPr anchor="t" rtlCol="false"/>
                    <a:lstStyle/>
                    <a:p>
                      <a:pPr algn="l">
                        <a:lnSpc>
                          <a:spcPts val="3840"/>
                        </a:lnSpc>
                        <a:defRPr/>
                      </a:pPr>
                      <a:r>
                        <a:rPr lang="en-US" b="true" sz="3200">
                          <a:solidFill>
                            <a:srgbClr val="FFFFFF"/>
                          </a:solidFill>
                          <a:latin typeface="Arial Bold"/>
                          <a:ea typeface="Arial Bold"/>
                          <a:cs typeface="Arial Bold"/>
                          <a:sym typeface="Arial Bold"/>
                        </a:rPr>
                        <a:t>Examples</a:t>
                      </a:r>
                      <a:endParaRPr lang="en-US" sz="1100"/>
                    </a:p>
                  </a:txBody>
                  <a:tcPr marL="91450" marR="91450" marT="91450" marB="914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E3A5F"/>
                    </a:solidFill>
                  </a:tcPr>
                </a:tc>
                <a:tc>
                  <a:txBody>
                    <a:bodyPr anchor="t" rtlCol="false"/>
                    <a:lstStyle/>
                    <a:p>
                      <a:pPr algn="l">
                        <a:lnSpc>
                          <a:spcPts val="3840"/>
                        </a:lnSpc>
                        <a:defRPr/>
                      </a:pPr>
                      <a:r>
                        <a:rPr lang="en-US" b="true" sz="3200">
                          <a:solidFill>
                            <a:srgbClr val="FFFFFF"/>
                          </a:solidFill>
                          <a:latin typeface="Arial Bold"/>
                          <a:ea typeface="Arial Bold"/>
                          <a:cs typeface="Arial Bold"/>
                          <a:sym typeface="Arial Bold"/>
                        </a:rPr>
                        <a:t>Rows</a:t>
                      </a:r>
                      <a:endParaRPr lang="en-US" sz="1100"/>
                    </a:p>
                  </a:txBody>
                  <a:tcPr marL="91450" marR="91450" marT="91450" marB="914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E3A5F"/>
                    </a:solidFill>
                  </a:tcPr>
                </a:tc>
              </a:tr>
              <a:tr h="858425">
                <a:tc>
                  <a:txBody>
                    <a:bodyPr anchor="t" rtlCol="false"/>
                    <a:lstStyle/>
                    <a:p>
                      <a:pPr algn="l">
                        <a:lnSpc>
                          <a:spcPts val="3840"/>
                        </a:lnSpc>
                        <a:defRPr/>
                      </a:pPr>
                      <a:r>
                        <a:rPr lang="en-US" b="true" sz="3200">
                          <a:solidFill>
                            <a:srgbClr val="000000"/>
                          </a:solidFill>
                          <a:latin typeface="Arial Bold"/>
                          <a:ea typeface="Arial Bold"/>
                          <a:cs typeface="Arial Bold"/>
                          <a:sym typeface="Arial Bold"/>
                        </a:rPr>
                        <a:t>Demographics</a:t>
                      </a:r>
                      <a:endParaRPr lang="en-US" sz="1100"/>
                    </a:p>
                  </a:txBody>
                  <a:tcPr marL="91450" marR="91450" marT="91450" marB="914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840"/>
                        </a:lnSpc>
                        <a:defRPr/>
                      </a:pPr>
                      <a:r>
                        <a:rPr lang="en-US" sz="3200">
                          <a:solidFill>
                            <a:srgbClr val="000000"/>
                          </a:solidFill>
                          <a:latin typeface="Arial"/>
                          <a:ea typeface="Arial"/>
                          <a:cs typeface="Arial"/>
                          <a:sym typeface="Arial"/>
                        </a:rPr>
                        <a:t>Age, gender, race, payer code</a:t>
                      </a:r>
                      <a:endParaRPr lang="en-US" sz="1100"/>
                    </a:p>
                  </a:txBody>
                  <a:tcPr marL="91450" marR="91450" marT="91450" marB="914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840"/>
                        </a:lnSpc>
                        <a:defRPr/>
                      </a:pPr>
                      <a:r>
                        <a:rPr lang="en-US" sz="3200">
                          <a:solidFill>
                            <a:srgbClr val="000000"/>
                          </a:solidFill>
                          <a:latin typeface="Arial"/>
                          <a:ea typeface="Arial"/>
                          <a:cs typeface="Arial"/>
                          <a:sym typeface="Arial"/>
                        </a:rPr>
                        <a:t>4</a:t>
                      </a:r>
                      <a:endParaRPr lang="en-US" sz="1100"/>
                    </a:p>
                  </a:txBody>
                  <a:tcPr marL="91450" marR="91450" marT="91450" marB="914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2317748">
                <a:tc>
                  <a:txBody>
                    <a:bodyPr anchor="t" rtlCol="false"/>
                    <a:lstStyle/>
                    <a:p>
                      <a:pPr algn="l">
                        <a:lnSpc>
                          <a:spcPts val="3840"/>
                        </a:lnSpc>
                        <a:defRPr/>
                      </a:pPr>
                      <a:r>
                        <a:rPr lang="en-US" b="true" sz="3200">
                          <a:solidFill>
                            <a:srgbClr val="000000"/>
                          </a:solidFill>
                          <a:latin typeface="Arial Bold"/>
                          <a:ea typeface="Arial Bold"/>
                          <a:cs typeface="Arial Bold"/>
                          <a:sym typeface="Arial Bold"/>
                        </a:rPr>
                        <a:t>Encounter Info</a:t>
                      </a:r>
                      <a:endParaRPr lang="en-US" sz="1100"/>
                    </a:p>
                  </a:txBody>
                  <a:tcPr marL="91450" marR="91450" marT="91450" marB="914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840"/>
                        </a:lnSpc>
                        <a:defRPr/>
                      </a:pPr>
                      <a:r>
                        <a:rPr lang="en-US" sz="3200">
                          <a:solidFill>
                            <a:srgbClr val="000000"/>
                          </a:solidFill>
                          <a:latin typeface="Arial"/>
                          <a:ea typeface="Arial"/>
                          <a:cs typeface="Arial"/>
                          <a:sym typeface="Arial"/>
                        </a:rPr>
                        <a:t>Admission type, discharge destination, time in hospital, number of procedures done, medical specialty of doctor (numerical and categorical)</a:t>
                      </a:r>
                      <a:endParaRPr lang="en-US" sz="1100"/>
                    </a:p>
                  </a:txBody>
                  <a:tcPr marL="91450" marR="91450" marT="91450" marB="914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840"/>
                        </a:lnSpc>
                        <a:defRPr/>
                      </a:pPr>
                      <a:r>
                        <a:rPr lang="en-US" sz="3200">
                          <a:solidFill>
                            <a:srgbClr val="000000"/>
                          </a:solidFill>
                          <a:latin typeface="Arial"/>
                          <a:ea typeface="Arial"/>
                          <a:cs typeface="Arial"/>
                          <a:sym typeface="Arial"/>
                        </a:rPr>
                        <a:t>14</a:t>
                      </a:r>
                      <a:endParaRPr lang="en-US" sz="1100"/>
                    </a:p>
                  </a:txBody>
                  <a:tcPr marL="91450" marR="91450" marT="91450" marB="914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344866">
                <a:tc>
                  <a:txBody>
                    <a:bodyPr anchor="t" rtlCol="false"/>
                    <a:lstStyle/>
                    <a:p>
                      <a:pPr algn="l">
                        <a:lnSpc>
                          <a:spcPts val="3840"/>
                        </a:lnSpc>
                        <a:defRPr/>
                      </a:pPr>
                      <a:r>
                        <a:rPr lang="en-US" b="true" sz="3200">
                          <a:solidFill>
                            <a:srgbClr val="000000"/>
                          </a:solidFill>
                          <a:latin typeface="Arial Bold"/>
                          <a:ea typeface="Arial Bold"/>
                          <a:cs typeface="Arial Bold"/>
                          <a:sym typeface="Arial Bold"/>
                        </a:rPr>
                        <a:t>Diagnoses</a:t>
                      </a:r>
                      <a:endParaRPr lang="en-US" sz="1100"/>
                    </a:p>
                  </a:txBody>
                  <a:tcPr marL="91450" marR="91450" marT="91450" marB="914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840"/>
                        </a:lnSpc>
                        <a:defRPr/>
                      </a:pPr>
                      <a:r>
                        <a:rPr lang="en-US" sz="3200">
                          <a:solidFill>
                            <a:srgbClr val="000000"/>
                          </a:solidFill>
                          <a:latin typeface="Arial"/>
                          <a:ea typeface="Arial"/>
                          <a:cs typeface="Arial"/>
                          <a:sym typeface="Arial"/>
                        </a:rPr>
                        <a:t>Primary, secondary, tertiary diagnosis types (can include non-diabetic diagnosis)</a:t>
                      </a:r>
                      <a:endParaRPr lang="en-US" sz="1100"/>
                    </a:p>
                  </a:txBody>
                  <a:tcPr marL="91450" marR="91450" marT="91450" marB="914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840"/>
                        </a:lnSpc>
                        <a:defRPr/>
                      </a:pPr>
                      <a:r>
                        <a:rPr lang="en-US" sz="3200">
                          <a:solidFill>
                            <a:srgbClr val="000000"/>
                          </a:solidFill>
                          <a:latin typeface="Arial"/>
                          <a:ea typeface="Arial"/>
                          <a:cs typeface="Arial"/>
                          <a:sym typeface="Arial"/>
                        </a:rPr>
                        <a:t>3</a:t>
                      </a:r>
                      <a:endParaRPr lang="en-US" sz="1100"/>
                    </a:p>
                  </a:txBody>
                  <a:tcPr marL="91450" marR="91450" marT="91450" marB="914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579092">
                <a:tc>
                  <a:txBody>
                    <a:bodyPr anchor="t" rtlCol="false"/>
                    <a:lstStyle/>
                    <a:p>
                      <a:pPr algn="l">
                        <a:lnSpc>
                          <a:spcPts val="3840"/>
                        </a:lnSpc>
                        <a:defRPr/>
                      </a:pPr>
                      <a:r>
                        <a:rPr lang="en-US" b="true" sz="3200">
                          <a:solidFill>
                            <a:srgbClr val="000000"/>
                          </a:solidFill>
                          <a:latin typeface="Arial Bold"/>
                          <a:ea typeface="Arial Bold"/>
                          <a:cs typeface="Arial Bold"/>
                          <a:sym typeface="Arial Bold"/>
                        </a:rPr>
                        <a:t>Medications</a:t>
                      </a:r>
                      <a:endParaRPr lang="en-US" sz="1100"/>
                    </a:p>
                  </a:txBody>
                  <a:tcPr marL="91450" marR="91450" marT="91450" marB="914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840"/>
                        </a:lnSpc>
                        <a:defRPr/>
                      </a:pPr>
                      <a:r>
                        <a:rPr lang="en-US" sz="3200">
                          <a:solidFill>
                            <a:srgbClr val="000000"/>
                          </a:solidFill>
                          <a:latin typeface="Arial"/>
                          <a:ea typeface="Arial"/>
                          <a:cs typeface="Arial"/>
                          <a:sym typeface="Arial"/>
                        </a:rPr>
                        <a:t>Diabetic medications that featured most prominently EG metformin, insulin, glipizide</a:t>
                      </a:r>
                      <a:endParaRPr lang="en-US" sz="1100"/>
                    </a:p>
                  </a:txBody>
                  <a:tcPr marL="91450" marR="91450" marT="91450" marB="914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3840"/>
                        </a:lnSpc>
                        <a:defRPr/>
                      </a:pPr>
                      <a:r>
                        <a:rPr lang="en-US" sz="3200">
                          <a:solidFill>
                            <a:srgbClr val="000000"/>
                          </a:solidFill>
                          <a:latin typeface="Arial"/>
                          <a:ea typeface="Arial"/>
                          <a:cs typeface="Arial"/>
                          <a:sym typeface="Arial"/>
                        </a:rPr>
                        <a:t>7</a:t>
                      </a:r>
                      <a:endParaRPr lang="en-US" sz="1100"/>
                    </a:p>
                  </a:txBody>
                  <a:tcPr marL="91450" marR="91450" marT="91450" marB="9145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grpSp>
        <p:nvGrpSpPr>
          <p:cNvPr name="Group 6" id="6"/>
          <p:cNvGrpSpPr/>
          <p:nvPr/>
        </p:nvGrpSpPr>
        <p:grpSpPr>
          <a:xfrm rot="0">
            <a:off x="914400" y="9692640"/>
            <a:ext cx="16459200" cy="548402"/>
            <a:chOff x="0" y="0"/>
            <a:chExt cx="21945600" cy="731202"/>
          </a:xfrm>
        </p:grpSpPr>
        <p:sp>
          <p:nvSpPr>
            <p:cNvPr name="Freeform 7" id="7"/>
            <p:cNvSpPr/>
            <p:nvPr/>
          </p:nvSpPr>
          <p:spPr>
            <a:xfrm flipH="false" flipV="false" rot="0">
              <a:off x="0" y="0"/>
              <a:ext cx="21945600" cy="731200"/>
            </a:xfrm>
            <a:custGeom>
              <a:avLst/>
              <a:gdLst/>
              <a:ahLst/>
              <a:cxnLst/>
              <a:rect r="r" b="b" t="t" l="l"/>
              <a:pathLst>
                <a:path h="731200" w="21945600">
                  <a:moveTo>
                    <a:pt x="0" y="0"/>
                  </a:moveTo>
                  <a:lnTo>
                    <a:pt x="21945600" y="0"/>
                  </a:lnTo>
                  <a:lnTo>
                    <a:pt x="21945600" y="731200"/>
                  </a:lnTo>
                  <a:lnTo>
                    <a:pt x="0" y="731200"/>
                  </a:lnTo>
                  <a:close/>
                </a:path>
              </a:pathLst>
            </a:custGeom>
            <a:blipFill>
              <a:blip r:embed="rId3">
                <a:alphaModFix amt="0"/>
              </a:blip>
              <a:stretch>
                <a:fillRect l="0" t="-534806" r="0" b="-534807"/>
              </a:stretch>
            </a:blipFill>
          </p:spPr>
        </p:sp>
        <p:sp>
          <p:nvSpPr>
            <p:cNvPr name="TextBox 8" id="8"/>
            <p:cNvSpPr txBox="true"/>
            <p:nvPr/>
          </p:nvSpPr>
          <p:spPr>
            <a:xfrm>
              <a:off x="0" y="-19050"/>
              <a:ext cx="21945600" cy="750252"/>
            </a:xfrm>
            <a:prstGeom prst="rect">
              <a:avLst/>
            </a:prstGeom>
          </p:spPr>
          <p:txBody>
            <a:bodyPr anchor="ctr" rtlCol="false" tIns="0" lIns="0" bIns="0" rIns="0"/>
            <a:lstStyle/>
            <a:p>
              <a:pPr algn="l">
                <a:lnSpc>
                  <a:spcPts val="2160"/>
                </a:lnSpc>
              </a:pPr>
              <a:r>
                <a:rPr lang="en-US" sz="1800">
                  <a:solidFill>
                    <a:srgbClr val="6B7280"/>
                  </a:solidFill>
                  <a:latin typeface="Arial"/>
                  <a:ea typeface="Arial"/>
                  <a:cs typeface="Arial"/>
                  <a:sym typeface="Arial"/>
                </a:rPr>
                <a:t>SOURCE: Diabetes 130-US Hospitals for Years 1999-2008; UCI Machine Learning Repository</a:t>
              </a:r>
            </a:p>
          </p:txBody>
        </p:sp>
      </p:grpSp>
      <p:grpSp>
        <p:nvGrpSpPr>
          <p:cNvPr name="Group 9" id="9"/>
          <p:cNvGrpSpPr/>
          <p:nvPr/>
        </p:nvGrpSpPr>
        <p:grpSpPr>
          <a:xfrm rot="0">
            <a:off x="17007840" y="9692640"/>
            <a:ext cx="914400" cy="548402"/>
            <a:chOff x="0" y="0"/>
            <a:chExt cx="1219200" cy="731202"/>
          </a:xfrm>
        </p:grpSpPr>
        <p:sp>
          <p:nvSpPr>
            <p:cNvPr name="Freeform 10" id="10"/>
            <p:cNvSpPr/>
            <p:nvPr/>
          </p:nvSpPr>
          <p:spPr>
            <a:xfrm flipH="false" flipV="false" rot="0">
              <a:off x="0" y="0"/>
              <a:ext cx="1219200" cy="731200"/>
            </a:xfrm>
            <a:custGeom>
              <a:avLst/>
              <a:gdLst/>
              <a:ahLst/>
              <a:cxnLst/>
              <a:rect r="r" b="b" t="t" l="l"/>
              <a:pathLst>
                <a:path h="731200" w="1219200">
                  <a:moveTo>
                    <a:pt x="0" y="0"/>
                  </a:moveTo>
                  <a:lnTo>
                    <a:pt x="1219200" y="0"/>
                  </a:lnTo>
                  <a:lnTo>
                    <a:pt x="1219200" y="731200"/>
                  </a:lnTo>
                  <a:lnTo>
                    <a:pt x="0" y="731200"/>
                  </a:lnTo>
                  <a:close/>
                </a:path>
              </a:pathLst>
            </a:custGeom>
            <a:blipFill>
              <a:blip r:embed="rId3">
                <a:alphaModFix amt="0"/>
              </a:blip>
              <a:stretch>
                <a:fillRect l="-26948" t="0" r="-26948" b="0"/>
              </a:stretch>
            </a:blipFill>
          </p:spPr>
        </p:sp>
        <p:sp>
          <p:nvSpPr>
            <p:cNvPr name="TextBox 11" id="11"/>
            <p:cNvSpPr txBox="true"/>
            <p:nvPr/>
          </p:nvSpPr>
          <p:spPr>
            <a:xfrm>
              <a:off x="0" y="-38100"/>
              <a:ext cx="1219200" cy="769302"/>
            </a:xfrm>
            <a:prstGeom prst="rect">
              <a:avLst/>
            </a:prstGeom>
          </p:spPr>
          <p:txBody>
            <a:bodyPr anchor="ctr" rtlCol="false" tIns="0" lIns="0" bIns="0" rIns="0"/>
            <a:lstStyle/>
            <a:p>
              <a:pPr algn="r">
                <a:lnSpc>
                  <a:spcPts val="2400"/>
                </a:lnSpc>
              </a:pPr>
              <a:r>
                <a:rPr lang="en-US" sz="2000">
                  <a:solidFill>
                    <a:srgbClr val="808080"/>
                  </a:solidFill>
                  <a:latin typeface="Calibri (MS)"/>
                  <a:ea typeface="Calibri (MS)"/>
                  <a:cs typeface="Calibri (MS)"/>
                  <a:sym typeface="Calibri (MS)"/>
                </a:rPr>
                <a:t>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731520"/>
            <a:ext cx="16459200" cy="1463040"/>
            <a:chOff x="0" y="0"/>
            <a:chExt cx="21945600" cy="1950720"/>
          </a:xfrm>
        </p:grpSpPr>
        <p:sp>
          <p:nvSpPr>
            <p:cNvPr name="Freeform 3" id="3"/>
            <p:cNvSpPr/>
            <p:nvPr/>
          </p:nvSpPr>
          <p:spPr>
            <a:xfrm flipH="false" flipV="false" rot="0">
              <a:off x="0" y="0"/>
              <a:ext cx="21945600" cy="1950720"/>
            </a:xfrm>
            <a:custGeom>
              <a:avLst/>
              <a:gdLst/>
              <a:ahLst/>
              <a:cxnLst/>
              <a:rect r="r" b="b" t="t" l="l"/>
              <a:pathLst>
                <a:path h="1950720" w="21945600">
                  <a:moveTo>
                    <a:pt x="0" y="0"/>
                  </a:moveTo>
                  <a:lnTo>
                    <a:pt x="21945600" y="0"/>
                  </a:lnTo>
                  <a:lnTo>
                    <a:pt x="21945600" y="1950720"/>
                  </a:lnTo>
                  <a:lnTo>
                    <a:pt x="0" y="1950720"/>
                  </a:lnTo>
                  <a:close/>
                </a:path>
              </a:pathLst>
            </a:custGeom>
            <a:blipFill>
              <a:blip r:embed="rId3">
                <a:alphaModFix amt="0"/>
              </a:blip>
              <a:stretch>
                <a:fillRect l="0" t="-169206" r="0" b="-169206"/>
              </a:stretch>
            </a:blipFill>
          </p:spPr>
        </p:sp>
        <p:sp>
          <p:nvSpPr>
            <p:cNvPr name="TextBox 4" id="4"/>
            <p:cNvSpPr txBox="true"/>
            <p:nvPr/>
          </p:nvSpPr>
          <p:spPr>
            <a:xfrm>
              <a:off x="0" y="-28575"/>
              <a:ext cx="21945600" cy="1979295"/>
            </a:xfrm>
            <a:prstGeom prst="rect">
              <a:avLst/>
            </a:prstGeom>
          </p:spPr>
          <p:txBody>
            <a:bodyPr anchor="ctr" rtlCol="false" tIns="0" lIns="0" bIns="0" rIns="0"/>
            <a:lstStyle/>
            <a:p>
              <a:pPr algn="l">
                <a:lnSpc>
                  <a:spcPts val="8640"/>
                </a:lnSpc>
              </a:pPr>
              <a:r>
                <a:rPr lang="en-US" b="true" sz="7200">
                  <a:solidFill>
                    <a:srgbClr val="003D5C"/>
                  </a:solidFill>
                  <a:latin typeface="Arial Bold"/>
                  <a:ea typeface="Arial Bold"/>
                  <a:cs typeface="Arial Bold"/>
                  <a:sym typeface="Arial Bold"/>
                </a:rPr>
                <a:t>Two Models for Two Functions</a:t>
              </a:r>
            </a:p>
          </p:txBody>
        </p:sp>
      </p:grpSp>
      <p:grpSp>
        <p:nvGrpSpPr>
          <p:cNvPr name="Group 5" id="5"/>
          <p:cNvGrpSpPr/>
          <p:nvPr/>
        </p:nvGrpSpPr>
        <p:grpSpPr>
          <a:xfrm rot="0">
            <a:off x="914400" y="2377440"/>
            <a:ext cx="7863840" cy="6400800"/>
            <a:chOff x="0" y="0"/>
            <a:chExt cx="10485120" cy="8534400"/>
          </a:xfrm>
        </p:grpSpPr>
        <p:sp>
          <p:nvSpPr>
            <p:cNvPr name="Freeform 6" id="6"/>
            <p:cNvSpPr/>
            <p:nvPr/>
          </p:nvSpPr>
          <p:spPr>
            <a:xfrm flipH="false" flipV="false" rot="0">
              <a:off x="0" y="0"/>
              <a:ext cx="10485120" cy="8534400"/>
            </a:xfrm>
            <a:custGeom>
              <a:avLst/>
              <a:gdLst/>
              <a:ahLst/>
              <a:cxnLst/>
              <a:rect r="r" b="b" t="t" l="l"/>
              <a:pathLst>
                <a:path h="8534400" w="10485120">
                  <a:moveTo>
                    <a:pt x="0" y="0"/>
                  </a:moveTo>
                  <a:lnTo>
                    <a:pt x="10485120" y="0"/>
                  </a:lnTo>
                  <a:lnTo>
                    <a:pt x="10485120" y="8534400"/>
                  </a:lnTo>
                  <a:lnTo>
                    <a:pt x="0" y="8534400"/>
                  </a:lnTo>
                  <a:close/>
                </a:path>
              </a:pathLst>
            </a:custGeom>
            <a:solidFill>
              <a:srgbClr val="FFFFFF"/>
            </a:solidFill>
          </p:spPr>
        </p:sp>
      </p:grpSp>
      <p:grpSp>
        <p:nvGrpSpPr>
          <p:cNvPr name="Group 7" id="7"/>
          <p:cNvGrpSpPr/>
          <p:nvPr/>
        </p:nvGrpSpPr>
        <p:grpSpPr>
          <a:xfrm rot="0">
            <a:off x="914400" y="2377440"/>
            <a:ext cx="7863840" cy="182880"/>
            <a:chOff x="0" y="0"/>
            <a:chExt cx="10485120" cy="243840"/>
          </a:xfrm>
        </p:grpSpPr>
        <p:sp>
          <p:nvSpPr>
            <p:cNvPr name="Freeform 8" id="8"/>
            <p:cNvSpPr/>
            <p:nvPr/>
          </p:nvSpPr>
          <p:spPr>
            <a:xfrm flipH="false" flipV="false" rot="0">
              <a:off x="0" y="0"/>
              <a:ext cx="10485120" cy="243840"/>
            </a:xfrm>
            <a:custGeom>
              <a:avLst/>
              <a:gdLst/>
              <a:ahLst/>
              <a:cxnLst/>
              <a:rect r="r" b="b" t="t" l="l"/>
              <a:pathLst>
                <a:path h="243840" w="10485120">
                  <a:moveTo>
                    <a:pt x="0" y="0"/>
                  </a:moveTo>
                  <a:lnTo>
                    <a:pt x="10485120" y="0"/>
                  </a:lnTo>
                  <a:lnTo>
                    <a:pt x="10485120" y="243840"/>
                  </a:lnTo>
                  <a:lnTo>
                    <a:pt x="0" y="243840"/>
                  </a:lnTo>
                  <a:close/>
                </a:path>
              </a:pathLst>
            </a:custGeom>
            <a:solidFill>
              <a:srgbClr val="00A4A6"/>
            </a:solidFill>
          </p:spPr>
        </p:sp>
      </p:grpSp>
      <p:grpSp>
        <p:nvGrpSpPr>
          <p:cNvPr name="Group 9" id="9"/>
          <p:cNvGrpSpPr/>
          <p:nvPr/>
        </p:nvGrpSpPr>
        <p:grpSpPr>
          <a:xfrm rot="0">
            <a:off x="1280160" y="2743200"/>
            <a:ext cx="7315200" cy="914400"/>
            <a:chOff x="0" y="0"/>
            <a:chExt cx="9753600" cy="1219200"/>
          </a:xfrm>
        </p:grpSpPr>
        <p:sp>
          <p:nvSpPr>
            <p:cNvPr name="Freeform 10" id="10"/>
            <p:cNvSpPr/>
            <p:nvPr/>
          </p:nvSpPr>
          <p:spPr>
            <a:xfrm flipH="false" flipV="false" rot="0">
              <a:off x="0" y="0"/>
              <a:ext cx="9753600" cy="1219200"/>
            </a:xfrm>
            <a:custGeom>
              <a:avLst/>
              <a:gdLst/>
              <a:ahLst/>
              <a:cxnLst/>
              <a:rect r="r" b="b" t="t" l="l"/>
              <a:pathLst>
                <a:path h="1219200" w="9753600">
                  <a:moveTo>
                    <a:pt x="0" y="0"/>
                  </a:moveTo>
                  <a:lnTo>
                    <a:pt x="9753600" y="0"/>
                  </a:lnTo>
                  <a:lnTo>
                    <a:pt x="9753600" y="1219200"/>
                  </a:lnTo>
                  <a:lnTo>
                    <a:pt x="0" y="1219200"/>
                  </a:lnTo>
                  <a:close/>
                </a:path>
              </a:pathLst>
            </a:custGeom>
            <a:blipFill>
              <a:blip r:embed="rId3">
                <a:alphaModFix amt="0"/>
              </a:blip>
              <a:stretch>
                <a:fillRect l="0" t="-105880" r="0" b="-105880"/>
              </a:stretch>
            </a:blipFill>
          </p:spPr>
        </p:sp>
        <p:sp>
          <p:nvSpPr>
            <p:cNvPr name="TextBox 11" id="11"/>
            <p:cNvSpPr txBox="true"/>
            <p:nvPr/>
          </p:nvSpPr>
          <p:spPr>
            <a:xfrm>
              <a:off x="0" y="-28575"/>
              <a:ext cx="9753600" cy="1247775"/>
            </a:xfrm>
            <a:prstGeom prst="rect">
              <a:avLst/>
            </a:prstGeom>
          </p:spPr>
          <p:txBody>
            <a:bodyPr anchor="ctr" rtlCol="false" tIns="0" lIns="0" bIns="0" rIns="0"/>
            <a:lstStyle/>
            <a:p>
              <a:pPr algn="l">
                <a:lnSpc>
                  <a:spcPts val="4320"/>
                </a:lnSpc>
              </a:pPr>
              <a:r>
                <a:rPr lang="en-US" b="true" sz="3600">
                  <a:solidFill>
                    <a:srgbClr val="003D5C"/>
                  </a:solidFill>
                  <a:latin typeface="Arial Bold"/>
                  <a:ea typeface="Arial Bold"/>
                  <a:cs typeface="Arial Bold"/>
                  <a:sym typeface="Arial Bold"/>
                </a:rPr>
                <a:t>Model 1: Any Readmission</a:t>
              </a:r>
            </a:p>
          </p:txBody>
        </p:sp>
      </p:grpSp>
      <p:grpSp>
        <p:nvGrpSpPr>
          <p:cNvPr name="Group 12" id="12"/>
          <p:cNvGrpSpPr/>
          <p:nvPr/>
        </p:nvGrpSpPr>
        <p:grpSpPr>
          <a:xfrm rot="0">
            <a:off x="1280160" y="3657600"/>
            <a:ext cx="7315200" cy="731520"/>
            <a:chOff x="0" y="0"/>
            <a:chExt cx="9753600" cy="975360"/>
          </a:xfrm>
        </p:grpSpPr>
        <p:sp>
          <p:nvSpPr>
            <p:cNvPr name="Freeform 13" id="13"/>
            <p:cNvSpPr/>
            <p:nvPr/>
          </p:nvSpPr>
          <p:spPr>
            <a:xfrm flipH="false" flipV="false" rot="0">
              <a:off x="0" y="0"/>
              <a:ext cx="9753600" cy="975360"/>
            </a:xfrm>
            <a:custGeom>
              <a:avLst/>
              <a:gdLst/>
              <a:ahLst/>
              <a:cxnLst/>
              <a:rect r="r" b="b" t="t" l="l"/>
              <a:pathLst>
                <a:path h="975360" w="9753600">
                  <a:moveTo>
                    <a:pt x="0" y="0"/>
                  </a:moveTo>
                  <a:lnTo>
                    <a:pt x="9753600" y="0"/>
                  </a:lnTo>
                  <a:lnTo>
                    <a:pt x="9753600" y="975360"/>
                  </a:lnTo>
                  <a:lnTo>
                    <a:pt x="0" y="975360"/>
                  </a:lnTo>
                  <a:close/>
                </a:path>
              </a:pathLst>
            </a:custGeom>
            <a:blipFill>
              <a:blip r:embed="rId3">
                <a:alphaModFix amt="0"/>
              </a:blip>
              <a:stretch>
                <a:fillRect l="0" t="-144850" r="0" b="-144850"/>
              </a:stretch>
            </a:blipFill>
          </p:spPr>
        </p:sp>
        <p:sp>
          <p:nvSpPr>
            <p:cNvPr name="TextBox 14" id="14"/>
            <p:cNvSpPr txBox="true"/>
            <p:nvPr/>
          </p:nvSpPr>
          <p:spPr>
            <a:xfrm>
              <a:off x="0" y="-19050"/>
              <a:ext cx="9753600" cy="994410"/>
            </a:xfrm>
            <a:prstGeom prst="rect">
              <a:avLst/>
            </a:prstGeom>
          </p:spPr>
          <p:txBody>
            <a:bodyPr anchor="ctr" rtlCol="false" tIns="0" lIns="0" bIns="0" rIns="0"/>
            <a:lstStyle/>
            <a:p>
              <a:pPr algn="l">
                <a:lnSpc>
                  <a:spcPts val="3359"/>
                </a:lnSpc>
              </a:pPr>
              <a:r>
                <a:rPr lang="en-US" sz="2799" i="true">
                  <a:solidFill>
                    <a:srgbClr val="000000"/>
                  </a:solidFill>
                  <a:latin typeface="Arial Italics"/>
                  <a:ea typeface="Arial Italics"/>
                  <a:cs typeface="Arial Italics"/>
                  <a:sym typeface="Arial Italics"/>
                </a:rPr>
                <a:t>"What is their chance of readmission?"</a:t>
              </a:r>
            </a:p>
          </p:txBody>
        </p:sp>
      </p:grpSp>
      <p:grpSp>
        <p:nvGrpSpPr>
          <p:cNvPr name="Group 15" id="15"/>
          <p:cNvGrpSpPr/>
          <p:nvPr/>
        </p:nvGrpSpPr>
        <p:grpSpPr>
          <a:xfrm rot="0">
            <a:off x="1280160" y="4754880"/>
            <a:ext cx="7315200" cy="3291840"/>
            <a:chOff x="0" y="0"/>
            <a:chExt cx="9753600" cy="4389120"/>
          </a:xfrm>
        </p:grpSpPr>
        <p:sp>
          <p:nvSpPr>
            <p:cNvPr name="Freeform 16" id="16"/>
            <p:cNvSpPr/>
            <p:nvPr/>
          </p:nvSpPr>
          <p:spPr>
            <a:xfrm flipH="false" flipV="false" rot="0">
              <a:off x="0" y="0"/>
              <a:ext cx="9753600" cy="4389120"/>
            </a:xfrm>
            <a:custGeom>
              <a:avLst/>
              <a:gdLst/>
              <a:ahLst/>
              <a:cxnLst/>
              <a:rect r="r" b="b" t="t" l="l"/>
              <a:pathLst>
                <a:path h="4389120" w="9753600">
                  <a:moveTo>
                    <a:pt x="0" y="0"/>
                  </a:moveTo>
                  <a:lnTo>
                    <a:pt x="9753600" y="0"/>
                  </a:lnTo>
                  <a:lnTo>
                    <a:pt x="9753600" y="4389120"/>
                  </a:lnTo>
                  <a:lnTo>
                    <a:pt x="0" y="4389120"/>
                  </a:lnTo>
                  <a:close/>
                </a:path>
              </a:pathLst>
            </a:custGeom>
            <a:blipFill>
              <a:blip r:embed="rId3">
                <a:alphaModFix amt="0"/>
              </a:blip>
              <a:stretch>
                <a:fillRect l="-7736" t="0" r="-7736" b="0"/>
              </a:stretch>
            </a:blipFill>
          </p:spPr>
        </p:sp>
        <p:sp>
          <p:nvSpPr>
            <p:cNvPr name="TextBox 17" id="17"/>
            <p:cNvSpPr txBox="true"/>
            <p:nvPr/>
          </p:nvSpPr>
          <p:spPr>
            <a:xfrm>
              <a:off x="0" y="-19050"/>
              <a:ext cx="9753600" cy="4408170"/>
            </a:xfrm>
            <a:prstGeom prst="rect">
              <a:avLst/>
            </a:prstGeom>
          </p:spPr>
          <p:txBody>
            <a:bodyPr anchor="ctr" rtlCol="false" tIns="0" lIns="0" bIns="0" rIns="0"/>
            <a:lstStyle/>
            <a:p>
              <a:pPr algn="l">
                <a:lnSpc>
                  <a:spcPts val="3359"/>
                </a:lnSpc>
              </a:pPr>
              <a:r>
                <a:rPr lang="en-US" sz="2799">
                  <a:solidFill>
                    <a:srgbClr val="1E293B"/>
                  </a:solidFill>
                  <a:latin typeface="Arial"/>
                  <a:ea typeface="Arial"/>
                  <a:cs typeface="Arial"/>
                  <a:sym typeface="Arial"/>
                </a:rPr>
                <a:t>• Aim to identify ~7 out of 10 patients who will be readmitted</a:t>
              </a:r>
            </a:p>
            <a:p>
              <a:pPr algn="l">
                <a:lnSpc>
                  <a:spcPts val="3359"/>
                </a:lnSpc>
              </a:pPr>
              <a:r>
                <a:rPr lang="en-US" sz="2799">
                  <a:solidFill>
                    <a:srgbClr val="1E293B"/>
                  </a:solidFill>
                  <a:latin typeface="Arial"/>
                  <a:ea typeface="Arial"/>
                  <a:cs typeface="Arial"/>
                  <a:sym typeface="Arial"/>
                </a:rPr>
                <a:t>• Useful for research and discharge planning.</a:t>
              </a:r>
            </a:p>
            <a:p>
              <a:pPr algn="l">
                <a:lnSpc>
                  <a:spcPts val="3359"/>
                </a:lnSpc>
              </a:pPr>
              <a:r>
                <a:rPr lang="en-US" sz="2799">
                  <a:solidFill>
                    <a:srgbClr val="1E293B"/>
                  </a:solidFill>
                  <a:latin typeface="Arial"/>
                  <a:ea typeface="Arial"/>
                  <a:cs typeface="Arial"/>
                  <a:sym typeface="Arial"/>
                </a:rPr>
                <a:t>• More accurate model because it is a broader target.</a:t>
              </a:r>
            </a:p>
          </p:txBody>
        </p:sp>
      </p:grpSp>
      <p:grpSp>
        <p:nvGrpSpPr>
          <p:cNvPr name="Group 18" id="18"/>
          <p:cNvGrpSpPr/>
          <p:nvPr/>
        </p:nvGrpSpPr>
        <p:grpSpPr>
          <a:xfrm rot="0">
            <a:off x="9509760" y="2377440"/>
            <a:ext cx="7863840" cy="6400800"/>
            <a:chOff x="0" y="0"/>
            <a:chExt cx="10485120" cy="8534400"/>
          </a:xfrm>
        </p:grpSpPr>
        <p:sp>
          <p:nvSpPr>
            <p:cNvPr name="Freeform 19" id="19"/>
            <p:cNvSpPr/>
            <p:nvPr/>
          </p:nvSpPr>
          <p:spPr>
            <a:xfrm flipH="false" flipV="false" rot="0">
              <a:off x="0" y="0"/>
              <a:ext cx="10485120" cy="8534400"/>
            </a:xfrm>
            <a:custGeom>
              <a:avLst/>
              <a:gdLst/>
              <a:ahLst/>
              <a:cxnLst/>
              <a:rect r="r" b="b" t="t" l="l"/>
              <a:pathLst>
                <a:path h="8534400" w="10485120">
                  <a:moveTo>
                    <a:pt x="0" y="0"/>
                  </a:moveTo>
                  <a:lnTo>
                    <a:pt x="10485120" y="0"/>
                  </a:lnTo>
                  <a:lnTo>
                    <a:pt x="10485120" y="8534400"/>
                  </a:lnTo>
                  <a:lnTo>
                    <a:pt x="0" y="8534400"/>
                  </a:lnTo>
                  <a:close/>
                </a:path>
              </a:pathLst>
            </a:custGeom>
            <a:solidFill>
              <a:srgbClr val="FFFFFF"/>
            </a:solidFill>
          </p:spPr>
        </p:sp>
      </p:grpSp>
      <p:grpSp>
        <p:nvGrpSpPr>
          <p:cNvPr name="Group 20" id="20"/>
          <p:cNvGrpSpPr/>
          <p:nvPr/>
        </p:nvGrpSpPr>
        <p:grpSpPr>
          <a:xfrm rot="0">
            <a:off x="9509760" y="2377440"/>
            <a:ext cx="7863840" cy="182880"/>
            <a:chOff x="0" y="0"/>
            <a:chExt cx="10485120" cy="243840"/>
          </a:xfrm>
        </p:grpSpPr>
        <p:sp>
          <p:nvSpPr>
            <p:cNvPr name="Freeform 21" id="21"/>
            <p:cNvSpPr/>
            <p:nvPr/>
          </p:nvSpPr>
          <p:spPr>
            <a:xfrm flipH="false" flipV="false" rot="0">
              <a:off x="0" y="0"/>
              <a:ext cx="10485120" cy="243840"/>
            </a:xfrm>
            <a:custGeom>
              <a:avLst/>
              <a:gdLst/>
              <a:ahLst/>
              <a:cxnLst/>
              <a:rect r="r" b="b" t="t" l="l"/>
              <a:pathLst>
                <a:path h="243840" w="10485120">
                  <a:moveTo>
                    <a:pt x="0" y="0"/>
                  </a:moveTo>
                  <a:lnTo>
                    <a:pt x="10485120" y="0"/>
                  </a:lnTo>
                  <a:lnTo>
                    <a:pt x="10485120" y="243840"/>
                  </a:lnTo>
                  <a:lnTo>
                    <a:pt x="0" y="243840"/>
                  </a:lnTo>
                  <a:close/>
                </a:path>
              </a:pathLst>
            </a:custGeom>
            <a:solidFill>
              <a:srgbClr val="F26522"/>
            </a:solidFill>
          </p:spPr>
        </p:sp>
      </p:grpSp>
      <p:grpSp>
        <p:nvGrpSpPr>
          <p:cNvPr name="Group 22" id="22"/>
          <p:cNvGrpSpPr/>
          <p:nvPr/>
        </p:nvGrpSpPr>
        <p:grpSpPr>
          <a:xfrm rot="0">
            <a:off x="9875520" y="2743200"/>
            <a:ext cx="7315200" cy="914400"/>
            <a:chOff x="0" y="0"/>
            <a:chExt cx="9753600" cy="1219200"/>
          </a:xfrm>
        </p:grpSpPr>
        <p:sp>
          <p:nvSpPr>
            <p:cNvPr name="Freeform 23" id="23"/>
            <p:cNvSpPr/>
            <p:nvPr/>
          </p:nvSpPr>
          <p:spPr>
            <a:xfrm flipH="false" flipV="false" rot="0">
              <a:off x="0" y="0"/>
              <a:ext cx="9753600" cy="1219200"/>
            </a:xfrm>
            <a:custGeom>
              <a:avLst/>
              <a:gdLst/>
              <a:ahLst/>
              <a:cxnLst/>
              <a:rect r="r" b="b" t="t" l="l"/>
              <a:pathLst>
                <a:path h="1219200" w="9753600">
                  <a:moveTo>
                    <a:pt x="0" y="0"/>
                  </a:moveTo>
                  <a:lnTo>
                    <a:pt x="9753600" y="0"/>
                  </a:lnTo>
                  <a:lnTo>
                    <a:pt x="9753600" y="1219200"/>
                  </a:lnTo>
                  <a:lnTo>
                    <a:pt x="0" y="1219200"/>
                  </a:lnTo>
                  <a:close/>
                </a:path>
              </a:pathLst>
            </a:custGeom>
            <a:blipFill>
              <a:blip r:embed="rId3">
                <a:alphaModFix amt="0"/>
              </a:blip>
              <a:stretch>
                <a:fillRect l="0" t="-105880" r="0" b="-105880"/>
              </a:stretch>
            </a:blipFill>
          </p:spPr>
        </p:sp>
        <p:sp>
          <p:nvSpPr>
            <p:cNvPr name="TextBox 24" id="24"/>
            <p:cNvSpPr txBox="true"/>
            <p:nvPr/>
          </p:nvSpPr>
          <p:spPr>
            <a:xfrm>
              <a:off x="0" y="-28575"/>
              <a:ext cx="9753600" cy="1247775"/>
            </a:xfrm>
            <a:prstGeom prst="rect">
              <a:avLst/>
            </a:prstGeom>
          </p:spPr>
          <p:txBody>
            <a:bodyPr anchor="ctr" rtlCol="false" tIns="0" lIns="0" bIns="0" rIns="0"/>
            <a:lstStyle/>
            <a:p>
              <a:pPr algn="l">
                <a:lnSpc>
                  <a:spcPts val="4320"/>
                </a:lnSpc>
              </a:pPr>
              <a:r>
                <a:rPr lang="en-US" b="true" sz="3600">
                  <a:solidFill>
                    <a:srgbClr val="003D5C"/>
                  </a:solidFill>
                  <a:latin typeface="Arial Bold"/>
                  <a:ea typeface="Arial Bold"/>
                  <a:cs typeface="Arial Bold"/>
                  <a:sym typeface="Arial Bold"/>
                </a:rPr>
                <a:t>Model 2: 30-Day Readmission</a:t>
              </a:r>
            </a:p>
          </p:txBody>
        </p:sp>
      </p:grpSp>
      <p:grpSp>
        <p:nvGrpSpPr>
          <p:cNvPr name="Group 25" id="25"/>
          <p:cNvGrpSpPr/>
          <p:nvPr/>
        </p:nvGrpSpPr>
        <p:grpSpPr>
          <a:xfrm rot="0">
            <a:off x="9875520" y="3657600"/>
            <a:ext cx="7315200" cy="731520"/>
            <a:chOff x="0" y="0"/>
            <a:chExt cx="9753600" cy="975360"/>
          </a:xfrm>
        </p:grpSpPr>
        <p:sp>
          <p:nvSpPr>
            <p:cNvPr name="Freeform 26" id="26"/>
            <p:cNvSpPr/>
            <p:nvPr/>
          </p:nvSpPr>
          <p:spPr>
            <a:xfrm flipH="false" flipV="false" rot="0">
              <a:off x="0" y="0"/>
              <a:ext cx="9753600" cy="975360"/>
            </a:xfrm>
            <a:custGeom>
              <a:avLst/>
              <a:gdLst/>
              <a:ahLst/>
              <a:cxnLst/>
              <a:rect r="r" b="b" t="t" l="l"/>
              <a:pathLst>
                <a:path h="975360" w="9753600">
                  <a:moveTo>
                    <a:pt x="0" y="0"/>
                  </a:moveTo>
                  <a:lnTo>
                    <a:pt x="9753600" y="0"/>
                  </a:lnTo>
                  <a:lnTo>
                    <a:pt x="9753600" y="975360"/>
                  </a:lnTo>
                  <a:lnTo>
                    <a:pt x="0" y="975360"/>
                  </a:lnTo>
                  <a:close/>
                </a:path>
              </a:pathLst>
            </a:custGeom>
            <a:blipFill>
              <a:blip r:embed="rId3">
                <a:alphaModFix amt="0"/>
              </a:blip>
              <a:stretch>
                <a:fillRect l="0" t="-144850" r="0" b="-144850"/>
              </a:stretch>
            </a:blipFill>
          </p:spPr>
        </p:sp>
        <p:sp>
          <p:nvSpPr>
            <p:cNvPr name="TextBox 27" id="27"/>
            <p:cNvSpPr txBox="true"/>
            <p:nvPr/>
          </p:nvSpPr>
          <p:spPr>
            <a:xfrm>
              <a:off x="0" y="-19050"/>
              <a:ext cx="9753600" cy="994410"/>
            </a:xfrm>
            <a:prstGeom prst="rect">
              <a:avLst/>
            </a:prstGeom>
          </p:spPr>
          <p:txBody>
            <a:bodyPr anchor="ctr" rtlCol="false" tIns="0" lIns="0" bIns="0" rIns="0"/>
            <a:lstStyle/>
            <a:p>
              <a:pPr algn="l">
                <a:lnSpc>
                  <a:spcPts val="3359"/>
                </a:lnSpc>
              </a:pPr>
              <a:r>
                <a:rPr lang="en-US" sz="2799" i="true">
                  <a:solidFill>
                    <a:srgbClr val="000000"/>
                  </a:solidFill>
                  <a:latin typeface="Arial Italics"/>
                  <a:ea typeface="Arial Italics"/>
                  <a:cs typeface="Arial Italics"/>
                  <a:sym typeface="Arial Italics"/>
                </a:rPr>
                <a:t>"Their chance of readmission within 30 days."</a:t>
              </a:r>
            </a:p>
          </p:txBody>
        </p:sp>
      </p:grpSp>
      <p:grpSp>
        <p:nvGrpSpPr>
          <p:cNvPr name="Group 28" id="28"/>
          <p:cNvGrpSpPr/>
          <p:nvPr/>
        </p:nvGrpSpPr>
        <p:grpSpPr>
          <a:xfrm rot="0">
            <a:off x="9875520" y="4754880"/>
            <a:ext cx="7315200" cy="3291840"/>
            <a:chOff x="0" y="0"/>
            <a:chExt cx="9753600" cy="4389120"/>
          </a:xfrm>
        </p:grpSpPr>
        <p:sp>
          <p:nvSpPr>
            <p:cNvPr name="Freeform 29" id="29"/>
            <p:cNvSpPr/>
            <p:nvPr/>
          </p:nvSpPr>
          <p:spPr>
            <a:xfrm flipH="false" flipV="false" rot="0">
              <a:off x="0" y="0"/>
              <a:ext cx="9753600" cy="4389120"/>
            </a:xfrm>
            <a:custGeom>
              <a:avLst/>
              <a:gdLst/>
              <a:ahLst/>
              <a:cxnLst/>
              <a:rect r="r" b="b" t="t" l="l"/>
              <a:pathLst>
                <a:path h="4389120" w="9753600">
                  <a:moveTo>
                    <a:pt x="0" y="0"/>
                  </a:moveTo>
                  <a:lnTo>
                    <a:pt x="9753600" y="0"/>
                  </a:lnTo>
                  <a:lnTo>
                    <a:pt x="9753600" y="4389120"/>
                  </a:lnTo>
                  <a:lnTo>
                    <a:pt x="0" y="4389120"/>
                  </a:lnTo>
                  <a:close/>
                </a:path>
              </a:pathLst>
            </a:custGeom>
            <a:blipFill>
              <a:blip r:embed="rId3">
                <a:alphaModFix amt="0"/>
              </a:blip>
              <a:stretch>
                <a:fillRect l="-7736" t="0" r="-7736" b="0"/>
              </a:stretch>
            </a:blipFill>
          </p:spPr>
        </p:sp>
        <p:sp>
          <p:nvSpPr>
            <p:cNvPr name="TextBox 30" id="30"/>
            <p:cNvSpPr txBox="true"/>
            <p:nvPr/>
          </p:nvSpPr>
          <p:spPr>
            <a:xfrm>
              <a:off x="0" y="-19050"/>
              <a:ext cx="9753600" cy="4408170"/>
            </a:xfrm>
            <a:prstGeom prst="rect">
              <a:avLst/>
            </a:prstGeom>
          </p:spPr>
          <p:txBody>
            <a:bodyPr anchor="ctr" rtlCol="false" tIns="0" lIns="0" bIns="0" rIns="0"/>
            <a:lstStyle/>
            <a:p>
              <a:pPr algn="l">
                <a:lnSpc>
                  <a:spcPts val="3359"/>
                </a:lnSpc>
              </a:pPr>
              <a:r>
                <a:rPr lang="en-US" sz="2799">
                  <a:solidFill>
                    <a:srgbClr val="1E293B"/>
                  </a:solidFill>
                  <a:latin typeface="Arial"/>
                  <a:ea typeface="Arial"/>
                  <a:cs typeface="Arial"/>
                  <a:sym typeface="Arial"/>
                </a:rPr>
                <a:t>• Most urgent cases, likely highest resource use.</a:t>
              </a:r>
            </a:p>
            <a:p>
              <a:pPr algn="l">
                <a:lnSpc>
                  <a:spcPts val="3359"/>
                </a:lnSpc>
              </a:pPr>
              <a:r>
                <a:rPr lang="en-US" sz="2799">
                  <a:solidFill>
                    <a:srgbClr val="1E293B"/>
                  </a:solidFill>
                  <a:latin typeface="Arial"/>
                  <a:ea typeface="Arial"/>
                  <a:cs typeface="Arial"/>
                  <a:sym typeface="Arial"/>
                </a:rPr>
                <a:t>• Useful for forecasting hospital resource needs.</a:t>
              </a:r>
            </a:p>
            <a:p>
              <a:pPr algn="l">
                <a:lnSpc>
                  <a:spcPts val="3359"/>
                </a:lnSpc>
              </a:pPr>
              <a:r>
                <a:rPr lang="en-US" sz="2799">
                  <a:solidFill>
                    <a:srgbClr val="1E293B"/>
                  </a:solidFill>
                  <a:latin typeface="Arial"/>
                  <a:ea typeface="Arial"/>
                  <a:cs typeface="Arial"/>
                  <a:sym typeface="Arial"/>
                </a:rPr>
                <a:t>• Because it is a smaller percentage of the dataset, a predictive model will require special treatment and be less accurate.</a:t>
              </a:r>
            </a:p>
          </p:txBody>
        </p:sp>
      </p:grpSp>
      <p:grpSp>
        <p:nvGrpSpPr>
          <p:cNvPr name="Group 31" id="31"/>
          <p:cNvGrpSpPr/>
          <p:nvPr/>
        </p:nvGrpSpPr>
        <p:grpSpPr>
          <a:xfrm rot="0">
            <a:off x="914400" y="9692640"/>
            <a:ext cx="16459200" cy="548402"/>
            <a:chOff x="0" y="0"/>
            <a:chExt cx="21945600" cy="731202"/>
          </a:xfrm>
        </p:grpSpPr>
        <p:sp>
          <p:nvSpPr>
            <p:cNvPr name="Freeform 32" id="32"/>
            <p:cNvSpPr/>
            <p:nvPr/>
          </p:nvSpPr>
          <p:spPr>
            <a:xfrm flipH="false" flipV="false" rot="0">
              <a:off x="0" y="0"/>
              <a:ext cx="21945600" cy="731200"/>
            </a:xfrm>
            <a:custGeom>
              <a:avLst/>
              <a:gdLst/>
              <a:ahLst/>
              <a:cxnLst/>
              <a:rect r="r" b="b" t="t" l="l"/>
              <a:pathLst>
                <a:path h="731200" w="21945600">
                  <a:moveTo>
                    <a:pt x="0" y="0"/>
                  </a:moveTo>
                  <a:lnTo>
                    <a:pt x="21945600" y="0"/>
                  </a:lnTo>
                  <a:lnTo>
                    <a:pt x="21945600" y="731200"/>
                  </a:lnTo>
                  <a:lnTo>
                    <a:pt x="0" y="731200"/>
                  </a:lnTo>
                  <a:close/>
                </a:path>
              </a:pathLst>
            </a:custGeom>
            <a:blipFill>
              <a:blip r:embed="rId3">
                <a:alphaModFix amt="0"/>
              </a:blip>
              <a:stretch>
                <a:fillRect l="0" t="-534806" r="0" b="-534807"/>
              </a:stretch>
            </a:blipFill>
          </p:spPr>
        </p:sp>
        <p:sp>
          <p:nvSpPr>
            <p:cNvPr name="TextBox 33" id="33"/>
            <p:cNvSpPr txBox="true"/>
            <p:nvPr/>
          </p:nvSpPr>
          <p:spPr>
            <a:xfrm>
              <a:off x="0" y="-19050"/>
              <a:ext cx="21945600" cy="750252"/>
            </a:xfrm>
            <a:prstGeom prst="rect">
              <a:avLst/>
            </a:prstGeom>
          </p:spPr>
          <p:txBody>
            <a:bodyPr anchor="ctr" rtlCol="false" tIns="0" lIns="0" bIns="0" rIns="0"/>
            <a:lstStyle/>
            <a:p>
              <a:pPr algn="l">
                <a:lnSpc>
                  <a:spcPts val="2160"/>
                </a:lnSpc>
              </a:pPr>
              <a:r>
                <a:rPr lang="en-US" sz="1800">
                  <a:solidFill>
                    <a:srgbClr val="6B7280"/>
                  </a:solidFill>
                  <a:latin typeface="Arial"/>
                  <a:ea typeface="Arial"/>
                  <a:cs typeface="Arial"/>
                  <a:sym typeface="Arial"/>
                </a:rPr>
                <a:t>SOURCE: Diabetes 130-US Hospitals for Years 1999-2008; UCI Machine Learning Repository</a:t>
              </a:r>
            </a:p>
          </p:txBody>
        </p:sp>
      </p:grpSp>
      <p:grpSp>
        <p:nvGrpSpPr>
          <p:cNvPr name="Group 34" id="34"/>
          <p:cNvGrpSpPr/>
          <p:nvPr/>
        </p:nvGrpSpPr>
        <p:grpSpPr>
          <a:xfrm rot="0">
            <a:off x="3213344" y="7904655"/>
            <a:ext cx="3448802" cy="1788004"/>
            <a:chOff x="0" y="0"/>
            <a:chExt cx="4598403" cy="2384006"/>
          </a:xfrm>
        </p:grpSpPr>
        <p:sp>
          <p:nvSpPr>
            <p:cNvPr name="Freeform 35" id="35"/>
            <p:cNvSpPr/>
            <p:nvPr/>
          </p:nvSpPr>
          <p:spPr>
            <a:xfrm flipH="false" flipV="false" rot="0">
              <a:off x="0" y="0"/>
              <a:ext cx="4598416" cy="2384044"/>
            </a:xfrm>
            <a:custGeom>
              <a:avLst/>
              <a:gdLst/>
              <a:ahLst/>
              <a:cxnLst/>
              <a:rect r="r" b="b" t="t" l="l"/>
              <a:pathLst>
                <a:path h="2384044" w="4598416">
                  <a:moveTo>
                    <a:pt x="0" y="0"/>
                  </a:moveTo>
                  <a:lnTo>
                    <a:pt x="4598416" y="0"/>
                  </a:lnTo>
                  <a:lnTo>
                    <a:pt x="4598416" y="2384044"/>
                  </a:lnTo>
                  <a:lnTo>
                    <a:pt x="0" y="2384044"/>
                  </a:lnTo>
                  <a:close/>
                </a:path>
              </a:pathLst>
            </a:custGeom>
            <a:solidFill>
              <a:srgbClr val="CBD5E1"/>
            </a:solidFill>
          </p:spPr>
        </p:sp>
      </p:grpSp>
      <p:grpSp>
        <p:nvGrpSpPr>
          <p:cNvPr name="Group 36" id="36"/>
          <p:cNvGrpSpPr/>
          <p:nvPr/>
        </p:nvGrpSpPr>
        <p:grpSpPr>
          <a:xfrm rot="0">
            <a:off x="3213344" y="7968520"/>
            <a:ext cx="3448802" cy="830399"/>
            <a:chOff x="0" y="0"/>
            <a:chExt cx="4598403" cy="1107199"/>
          </a:xfrm>
        </p:grpSpPr>
        <p:sp>
          <p:nvSpPr>
            <p:cNvPr name="Freeform 37" id="37"/>
            <p:cNvSpPr/>
            <p:nvPr/>
          </p:nvSpPr>
          <p:spPr>
            <a:xfrm flipH="false" flipV="false" rot="0">
              <a:off x="0" y="0"/>
              <a:ext cx="4598400" cy="1107200"/>
            </a:xfrm>
            <a:custGeom>
              <a:avLst/>
              <a:gdLst/>
              <a:ahLst/>
              <a:cxnLst/>
              <a:rect r="r" b="b" t="t" l="l"/>
              <a:pathLst>
                <a:path h="1107200" w="4598400">
                  <a:moveTo>
                    <a:pt x="0" y="0"/>
                  </a:moveTo>
                  <a:lnTo>
                    <a:pt x="4598400" y="0"/>
                  </a:lnTo>
                  <a:lnTo>
                    <a:pt x="4598400" y="1107200"/>
                  </a:lnTo>
                  <a:lnTo>
                    <a:pt x="0" y="1107200"/>
                  </a:lnTo>
                  <a:close/>
                </a:path>
              </a:pathLst>
            </a:custGeom>
            <a:blipFill>
              <a:blip r:embed="rId3">
                <a:alphaModFix amt="0"/>
              </a:blip>
              <a:stretch>
                <a:fillRect l="0" t="-30924" r="0" b="-30924"/>
              </a:stretch>
            </a:blipFill>
          </p:spPr>
        </p:sp>
        <p:sp>
          <p:nvSpPr>
            <p:cNvPr name="TextBox 38" id="38"/>
            <p:cNvSpPr txBox="true"/>
            <p:nvPr/>
          </p:nvSpPr>
          <p:spPr>
            <a:xfrm>
              <a:off x="0" y="-28575"/>
              <a:ext cx="4598403" cy="1135774"/>
            </a:xfrm>
            <a:prstGeom prst="rect">
              <a:avLst/>
            </a:prstGeom>
          </p:spPr>
          <p:txBody>
            <a:bodyPr anchor="ctr" rtlCol="false" tIns="0" lIns="0" bIns="0" rIns="0"/>
            <a:lstStyle/>
            <a:p>
              <a:pPr algn="ctr">
                <a:lnSpc>
                  <a:spcPts val="6033"/>
                </a:lnSpc>
              </a:pPr>
              <a:r>
                <a:rPr lang="en-US" b="true" sz="5027">
                  <a:solidFill>
                    <a:srgbClr val="003D5C"/>
                  </a:solidFill>
                  <a:latin typeface="Arial Bold"/>
                  <a:ea typeface="Arial Bold"/>
                  <a:cs typeface="Arial Bold"/>
                  <a:sym typeface="Arial Bold"/>
                </a:rPr>
                <a:t>46%</a:t>
              </a:r>
            </a:p>
          </p:txBody>
        </p:sp>
      </p:grpSp>
      <p:grpSp>
        <p:nvGrpSpPr>
          <p:cNvPr name="Group 39" id="39"/>
          <p:cNvGrpSpPr/>
          <p:nvPr/>
        </p:nvGrpSpPr>
        <p:grpSpPr>
          <a:xfrm rot="0">
            <a:off x="3213344" y="8798776"/>
            <a:ext cx="3448802" cy="702602"/>
            <a:chOff x="0" y="0"/>
            <a:chExt cx="4598403" cy="936803"/>
          </a:xfrm>
        </p:grpSpPr>
        <p:sp>
          <p:nvSpPr>
            <p:cNvPr name="Freeform 40" id="40"/>
            <p:cNvSpPr/>
            <p:nvPr/>
          </p:nvSpPr>
          <p:spPr>
            <a:xfrm flipH="false" flipV="false" rot="0">
              <a:off x="0" y="0"/>
              <a:ext cx="4598400" cy="936800"/>
            </a:xfrm>
            <a:custGeom>
              <a:avLst/>
              <a:gdLst/>
              <a:ahLst/>
              <a:cxnLst/>
              <a:rect r="r" b="b" t="t" l="l"/>
              <a:pathLst>
                <a:path h="936800" w="4598400">
                  <a:moveTo>
                    <a:pt x="0" y="0"/>
                  </a:moveTo>
                  <a:lnTo>
                    <a:pt x="4598400" y="0"/>
                  </a:lnTo>
                  <a:lnTo>
                    <a:pt x="4598400" y="936800"/>
                  </a:lnTo>
                  <a:lnTo>
                    <a:pt x="0" y="936800"/>
                  </a:lnTo>
                  <a:close/>
                </a:path>
              </a:pathLst>
            </a:custGeom>
            <a:blipFill>
              <a:blip r:embed="rId3">
                <a:alphaModFix amt="0"/>
              </a:blip>
              <a:stretch>
                <a:fillRect l="0" t="-45644" r="0" b="-45644"/>
              </a:stretch>
            </a:blipFill>
          </p:spPr>
        </p:sp>
        <p:sp>
          <p:nvSpPr>
            <p:cNvPr name="TextBox 41" id="41"/>
            <p:cNvSpPr txBox="true"/>
            <p:nvPr/>
          </p:nvSpPr>
          <p:spPr>
            <a:xfrm>
              <a:off x="0" y="-28575"/>
              <a:ext cx="4598403" cy="965378"/>
            </a:xfrm>
            <a:prstGeom prst="rect">
              <a:avLst/>
            </a:prstGeom>
          </p:spPr>
          <p:txBody>
            <a:bodyPr anchor="ctr" rtlCol="false" tIns="0" lIns="0" bIns="0" rIns="0"/>
            <a:lstStyle/>
            <a:p>
              <a:pPr algn="ctr">
                <a:lnSpc>
                  <a:spcPts val="2251"/>
                </a:lnSpc>
              </a:pPr>
              <a:r>
                <a:rPr lang="en-US" sz="1876">
                  <a:solidFill>
                    <a:srgbClr val="000000"/>
                  </a:solidFill>
                  <a:latin typeface="Arial"/>
                  <a:ea typeface="Arial"/>
                  <a:cs typeface="Arial"/>
                  <a:sym typeface="Arial"/>
                </a:rPr>
                <a:t>of patients in the dataset</a:t>
              </a:r>
            </a:p>
            <a:p>
              <a:pPr algn="ctr">
                <a:lnSpc>
                  <a:spcPts val="2251"/>
                </a:lnSpc>
              </a:pPr>
              <a:r>
                <a:rPr lang="en-US" sz="1876">
                  <a:solidFill>
                    <a:srgbClr val="000000"/>
                  </a:solidFill>
                  <a:latin typeface="Arial"/>
                  <a:ea typeface="Arial"/>
                  <a:cs typeface="Arial"/>
                  <a:sym typeface="Arial"/>
                </a:rPr>
                <a:t>are readmitted</a:t>
              </a:r>
            </a:p>
          </p:txBody>
        </p:sp>
      </p:grpSp>
      <p:grpSp>
        <p:nvGrpSpPr>
          <p:cNvPr name="Group 42" id="42"/>
          <p:cNvGrpSpPr/>
          <p:nvPr/>
        </p:nvGrpSpPr>
        <p:grpSpPr>
          <a:xfrm rot="0">
            <a:off x="11808695" y="8046710"/>
            <a:ext cx="3448802" cy="1788004"/>
            <a:chOff x="0" y="0"/>
            <a:chExt cx="4598403" cy="2384006"/>
          </a:xfrm>
        </p:grpSpPr>
        <p:sp>
          <p:nvSpPr>
            <p:cNvPr name="Freeform 43" id="43"/>
            <p:cNvSpPr/>
            <p:nvPr/>
          </p:nvSpPr>
          <p:spPr>
            <a:xfrm flipH="false" flipV="false" rot="0">
              <a:off x="0" y="0"/>
              <a:ext cx="4598416" cy="2384044"/>
            </a:xfrm>
            <a:custGeom>
              <a:avLst/>
              <a:gdLst/>
              <a:ahLst/>
              <a:cxnLst/>
              <a:rect r="r" b="b" t="t" l="l"/>
              <a:pathLst>
                <a:path h="2384044" w="4598416">
                  <a:moveTo>
                    <a:pt x="0" y="0"/>
                  </a:moveTo>
                  <a:lnTo>
                    <a:pt x="4598416" y="0"/>
                  </a:lnTo>
                  <a:lnTo>
                    <a:pt x="4598416" y="2384044"/>
                  </a:lnTo>
                  <a:lnTo>
                    <a:pt x="0" y="2384044"/>
                  </a:lnTo>
                  <a:close/>
                </a:path>
              </a:pathLst>
            </a:custGeom>
            <a:solidFill>
              <a:srgbClr val="CBD5E1"/>
            </a:solidFill>
          </p:spPr>
        </p:sp>
      </p:grpSp>
      <p:grpSp>
        <p:nvGrpSpPr>
          <p:cNvPr name="Group 44" id="44"/>
          <p:cNvGrpSpPr/>
          <p:nvPr/>
        </p:nvGrpSpPr>
        <p:grpSpPr>
          <a:xfrm rot="0">
            <a:off x="11808695" y="8159820"/>
            <a:ext cx="3448802" cy="830399"/>
            <a:chOff x="0" y="0"/>
            <a:chExt cx="4598403" cy="1107199"/>
          </a:xfrm>
        </p:grpSpPr>
        <p:sp>
          <p:nvSpPr>
            <p:cNvPr name="Freeform 45" id="45"/>
            <p:cNvSpPr/>
            <p:nvPr/>
          </p:nvSpPr>
          <p:spPr>
            <a:xfrm flipH="false" flipV="false" rot="0">
              <a:off x="0" y="0"/>
              <a:ext cx="4598400" cy="1107200"/>
            </a:xfrm>
            <a:custGeom>
              <a:avLst/>
              <a:gdLst/>
              <a:ahLst/>
              <a:cxnLst/>
              <a:rect r="r" b="b" t="t" l="l"/>
              <a:pathLst>
                <a:path h="1107200" w="4598400">
                  <a:moveTo>
                    <a:pt x="0" y="0"/>
                  </a:moveTo>
                  <a:lnTo>
                    <a:pt x="4598400" y="0"/>
                  </a:lnTo>
                  <a:lnTo>
                    <a:pt x="4598400" y="1107200"/>
                  </a:lnTo>
                  <a:lnTo>
                    <a:pt x="0" y="1107200"/>
                  </a:lnTo>
                  <a:close/>
                </a:path>
              </a:pathLst>
            </a:custGeom>
            <a:blipFill>
              <a:blip r:embed="rId3">
                <a:alphaModFix amt="0"/>
              </a:blip>
              <a:stretch>
                <a:fillRect l="0" t="-30924" r="0" b="-30924"/>
              </a:stretch>
            </a:blipFill>
          </p:spPr>
        </p:sp>
        <p:sp>
          <p:nvSpPr>
            <p:cNvPr name="TextBox 46" id="46"/>
            <p:cNvSpPr txBox="true"/>
            <p:nvPr/>
          </p:nvSpPr>
          <p:spPr>
            <a:xfrm>
              <a:off x="0" y="-28575"/>
              <a:ext cx="4598403" cy="1135774"/>
            </a:xfrm>
            <a:prstGeom prst="rect">
              <a:avLst/>
            </a:prstGeom>
          </p:spPr>
          <p:txBody>
            <a:bodyPr anchor="ctr" rtlCol="false" tIns="0" lIns="0" bIns="0" rIns="0"/>
            <a:lstStyle/>
            <a:p>
              <a:pPr algn="ctr">
                <a:lnSpc>
                  <a:spcPts val="6033"/>
                </a:lnSpc>
              </a:pPr>
              <a:r>
                <a:rPr lang="en-US" b="true" sz="5027">
                  <a:solidFill>
                    <a:srgbClr val="ED7D31"/>
                  </a:solidFill>
                  <a:latin typeface="Arial Bold"/>
                  <a:ea typeface="Arial Bold"/>
                  <a:cs typeface="Arial Bold"/>
                  <a:sym typeface="Arial Bold"/>
                </a:rPr>
                <a:t>11%</a:t>
              </a:r>
            </a:p>
          </p:txBody>
        </p:sp>
      </p:grpSp>
      <p:grpSp>
        <p:nvGrpSpPr>
          <p:cNvPr name="Group 47" id="47"/>
          <p:cNvGrpSpPr/>
          <p:nvPr/>
        </p:nvGrpSpPr>
        <p:grpSpPr>
          <a:xfrm rot="0">
            <a:off x="11808695" y="8990076"/>
            <a:ext cx="3448802" cy="702602"/>
            <a:chOff x="0" y="0"/>
            <a:chExt cx="4598403" cy="936803"/>
          </a:xfrm>
        </p:grpSpPr>
        <p:sp>
          <p:nvSpPr>
            <p:cNvPr name="Freeform 48" id="48"/>
            <p:cNvSpPr/>
            <p:nvPr/>
          </p:nvSpPr>
          <p:spPr>
            <a:xfrm flipH="false" flipV="false" rot="0">
              <a:off x="0" y="0"/>
              <a:ext cx="4598400" cy="936800"/>
            </a:xfrm>
            <a:custGeom>
              <a:avLst/>
              <a:gdLst/>
              <a:ahLst/>
              <a:cxnLst/>
              <a:rect r="r" b="b" t="t" l="l"/>
              <a:pathLst>
                <a:path h="936800" w="4598400">
                  <a:moveTo>
                    <a:pt x="0" y="0"/>
                  </a:moveTo>
                  <a:lnTo>
                    <a:pt x="4598400" y="0"/>
                  </a:lnTo>
                  <a:lnTo>
                    <a:pt x="4598400" y="936800"/>
                  </a:lnTo>
                  <a:lnTo>
                    <a:pt x="0" y="936800"/>
                  </a:lnTo>
                  <a:close/>
                </a:path>
              </a:pathLst>
            </a:custGeom>
            <a:blipFill>
              <a:blip r:embed="rId3">
                <a:alphaModFix amt="0"/>
              </a:blip>
              <a:stretch>
                <a:fillRect l="0" t="-45644" r="0" b="-45644"/>
              </a:stretch>
            </a:blipFill>
          </p:spPr>
        </p:sp>
        <p:sp>
          <p:nvSpPr>
            <p:cNvPr name="TextBox 49" id="49"/>
            <p:cNvSpPr txBox="true"/>
            <p:nvPr/>
          </p:nvSpPr>
          <p:spPr>
            <a:xfrm>
              <a:off x="0" y="-28575"/>
              <a:ext cx="4598403" cy="965378"/>
            </a:xfrm>
            <a:prstGeom prst="rect">
              <a:avLst/>
            </a:prstGeom>
          </p:spPr>
          <p:txBody>
            <a:bodyPr anchor="ctr" rtlCol="false" tIns="0" lIns="0" bIns="0" rIns="0"/>
            <a:lstStyle/>
            <a:p>
              <a:pPr algn="ctr">
                <a:lnSpc>
                  <a:spcPts val="2251"/>
                </a:lnSpc>
              </a:pPr>
              <a:r>
                <a:rPr lang="en-US" sz="1876">
                  <a:solidFill>
                    <a:srgbClr val="000000"/>
                  </a:solidFill>
                  <a:latin typeface="Arial"/>
                  <a:ea typeface="Arial"/>
                  <a:cs typeface="Arial"/>
                  <a:sym typeface="Arial"/>
                </a:rPr>
                <a:t>of patients in the dataset</a:t>
              </a:r>
            </a:p>
            <a:p>
              <a:pPr algn="ctr">
                <a:lnSpc>
                  <a:spcPts val="2251"/>
                </a:lnSpc>
              </a:pPr>
              <a:r>
                <a:rPr lang="en-US" sz="1876">
                  <a:solidFill>
                    <a:srgbClr val="000000"/>
                  </a:solidFill>
                  <a:latin typeface="Arial"/>
                  <a:ea typeface="Arial"/>
                  <a:cs typeface="Arial"/>
                  <a:sym typeface="Arial"/>
                </a:rPr>
                <a:t>are readmitted within 30 days</a:t>
              </a:r>
            </a:p>
          </p:txBody>
        </p:sp>
      </p:grpSp>
      <p:grpSp>
        <p:nvGrpSpPr>
          <p:cNvPr name="Group 50" id="50"/>
          <p:cNvGrpSpPr/>
          <p:nvPr/>
        </p:nvGrpSpPr>
        <p:grpSpPr>
          <a:xfrm rot="0">
            <a:off x="17007840" y="9692640"/>
            <a:ext cx="914400" cy="548402"/>
            <a:chOff x="0" y="0"/>
            <a:chExt cx="1219200" cy="731202"/>
          </a:xfrm>
        </p:grpSpPr>
        <p:sp>
          <p:nvSpPr>
            <p:cNvPr name="Freeform 51" id="51"/>
            <p:cNvSpPr/>
            <p:nvPr/>
          </p:nvSpPr>
          <p:spPr>
            <a:xfrm flipH="false" flipV="false" rot="0">
              <a:off x="0" y="0"/>
              <a:ext cx="1219200" cy="731200"/>
            </a:xfrm>
            <a:custGeom>
              <a:avLst/>
              <a:gdLst/>
              <a:ahLst/>
              <a:cxnLst/>
              <a:rect r="r" b="b" t="t" l="l"/>
              <a:pathLst>
                <a:path h="731200" w="1219200">
                  <a:moveTo>
                    <a:pt x="0" y="0"/>
                  </a:moveTo>
                  <a:lnTo>
                    <a:pt x="1219200" y="0"/>
                  </a:lnTo>
                  <a:lnTo>
                    <a:pt x="1219200" y="731200"/>
                  </a:lnTo>
                  <a:lnTo>
                    <a:pt x="0" y="731200"/>
                  </a:lnTo>
                  <a:close/>
                </a:path>
              </a:pathLst>
            </a:custGeom>
            <a:blipFill>
              <a:blip r:embed="rId3">
                <a:alphaModFix amt="0"/>
              </a:blip>
              <a:stretch>
                <a:fillRect l="-26948" t="0" r="-26948" b="0"/>
              </a:stretch>
            </a:blipFill>
          </p:spPr>
        </p:sp>
        <p:sp>
          <p:nvSpPr>
            <p:cNvPr name="TextBox 52" id="52"/>
            <p:cNvSpPr txBox="true"/>
            <p:nvPr/>
          </p:nvSpPr>
          <p:spPr>
            <a:xfrm>
              <a:off x="0" y="-38100"/>
              <a:ext cx="1219200" cy="769302"/>
            </a:xfrm>
            <a:prstGeom prst="rect">
              <a:avLst/>
            </a:prstGeom>
          </p:spPr>
          <p:txBody>
            <a:bodyPr anchor="ctr" rtlCol="false" tIns="0" lIns="0" bIns="0" rIns="0"/>
            <a:lstStyle/>
            <a:p>
              <a:pPr algn="r">
                <a:lnSpc>
                  <a:spcPts val="2400"/>
                </a:lnSpc>
              </a:pPr>
              <a:r>
                <a:rPr lang="en-US" sz="2000">
                  <a:solidFill>
                    <a:srgbClr val="808080"/>
                  </a:solidFill>
                  <a:latin typeface="Calibri (MS)"/>
                  <a:ea typeface="Calibri (MS)"/>
                  <a:cs typeface="Calibri (MS)"/>
                  <a:sym typeface="Calibri (MS)"/>
                </a:rPr>
                <a:t>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07840" y="9692640"/>
            <a:ext cx="914400" cy="548402"/>
            <a:chOff x="0" y="0"/>
            <a:chExt cx="1219200" cy="731202"/>
          </a:xfrm>
        </p:grpSpPr>
        <p:sp>
          <p:nvSpPr>
            <p:cNvPr name="Freeform 3" id="3"/>
            <p:cNvSpPr/>
            <p:nvPr/>
          </p:nvSpPr>
          <p:spPr>
            <a:xfrm flipH="false" flipV="false" rot="0">
              <a:off x="0" y="0"/>
              <a:ext cx="1219200" cy="731200"/>
            </a:xfrm>
            <a:custGeom>
              <a:avLst/>
              <a:gdLst/>
              <a:ahLst/>
              <a:cxnLst/>
              <a:rect r="r" b="b" t="t" l="l"/>
              <a:pathLst>
                <a:path h="731200" w="1219200">
                  <a:moveTo>
                    <a:pt x="0" y="0"/>
                  </a:moveTo>
                  <a:lnTo>
                    <a:pt x="1219200" y="0"/>
                  </a:lnTo>
                  <a:lnTo>
                    <a:pt x="1219200" y="731200"/>
                  </a:lnTo>
                  <a:lnTo>
                    <a:pt x="0" y="731200"/>
                  </a:lnTo>
                  <a:close/>
                </a:path>
              </a:pathLst>
            </a:custGeom>
            <a:blipFill>
              <a:blip r:embed="rId3">
                <a:alphaModFix amt="0"/>
              </a:blip>
              <a:stretch>
                <a:fillRect l="-26948" t="0" r="-26948" b="0"/>
              </a:stretch>
            </a:blipFill>
          </p:spPr>
        </p:sp>
        <p:sp>
          <p:nvSpPr>
            <p:cNvPr name="TextBox 4" id="4"/>
            <p:cNvSpPr txBox="true"/>
            <p:nvPr/>
          </p:nvSpPr>
          <p:spPr>
            <a:xfrm>
              <a:off x="0" y="-38100"/>
              <a:ext cx="1219200" cy="769302"/>
            </a:xfrm>
            <a:prstGeom prst="rect">
              <a:avLst/>
            </a:prstGeom>
          </p:spPr>
          <p:txBody>
            <a:bodyPr anchor="ctr" rtlCol="false" tIns="0" lIns="0" bIns="0" rIns="0"/>
            <a:lstStyle/>
            <a:p>
              <a:pPr algn="r">
                <a:lnSpc>
                  <a:spcPts val="2400"/>
                </a:lnSpc>
              </a:pPr>
              <a:r>
                <a:rPr lang="en-US" sz="2000">
                  <a:solidFill>
                    <a:srgbClr val="808080"/>
                  </a:solidFill>
                  <a:latin typeface="Calibri (MS)"/>
                  <a:ea typeface="Calibri (MS)"/>
                  <a:cs typeface="Calibri (MS)"/>
                  <a:sym typeface="Calibri (MS)"/>
                </a:rPr>
                <a:t>7</a:t>
              </a:r>
            </a:p>
          </p:txBody>
        </p:sp>
      </p:grpSp>
      <p:grpSp>
        <p:nvGrpSpPr>
          <p:cNvPr name="Group 5" id="5"/>
          <p:cNvGrpSpPr/>
          <p:nvPr/>
        </p:nvGrpSpPr>
        <p:grpSpPr>
          <a:xfrm rot="0">
            <a:off x="914400" y="1839554"/>
            <a:ext cx="16579205" cy="6164351"/>
            <a:chOff x="0" y="0"/>
            <a:chExt cx="22105607" cy="8219135"/>
          </a:xfrm>
        </p:grpSpPr>
        <p:sp>
          <p:nvSpPr>
            <p:cNvPr name="Freeform 6" id="6"/>
            <p:cNvSpPr/>
            <p:nvPr/>
          </p:nvSpPr>
          <p:spPr>
            <a:xfrm flipH="false" flipV="false" rot="0">
              <a:off x="0" y="0"/>
              <a:ext cx="22105620" cy="8219186"/>
            </a:xfrm>
            <a:custGeom>
              <a:avLst/>
              <a:gdLst/>
              <a:ahLst/>
              <a:cxnLst/>
              <a:rect r="r" b="b" t="t" l="l"/>
              <a:pathLst>
                <a:path h="8219186" w="22105620">
                  <a:moveTo>
                    <a:pt x="0" y="0"/>
                  </a:moveTo>
                  <a:lnTo>
                    <a:pt x="22105620" y="0"/>
                  </a:lnTo>
                  <a:lnTo>
                    <a:pt x="22105620" y="8219186"/>
                  </a:lnTo>
                  <a:lnTo>
                    <a:pt x="0" y="8219186"/>
                  </a:lnTo>
                  <a:lnTo>
                    <a:pt x="0" y="0"/>
                  </a:lnTo>
                  <a:close/>
                </a:path>
              </a:pathLst>
            </a:custGeom>
            <a:blipFill>
              <a:blip r:embed="rId4"/>
              <a:stretch>
                <a:fillRect l="0" t="-11527" r="0" b="-112183"/>
              </a:stretch>
            </a:blipFill>
          </p:spPr>
        </p:sp>
      </p:grpSp>
      <p:grpSp>
        <p:nvGrpSpPr>
          <p:cNvPr name="Group 7" id="7"/>
          <p:cNvGrpSpPr/>
          <p:nvPr/>
        </p:nvGrpSpPr>
        <p:grpSpPr>
          <a:xfrm rot="0">
            <a:off x="12252303" y="7455503"/>
            <a:ext cx="5006997" cy="548402"/>
            <a:chOff x="0" y="0"/>
            <a:chExt cx="6675996" cy="731202"/>
          </a:xfrm>
        </p:grpSpPr>
        <p:sp>
          <p:nvSpPr>
            <p:cNvPr name="Freeform 8" id="8"/>
            <p:cNvSpPr/>
            <p:nvPr/>
          </p:nvSpPr>
          <p:spPr>
            <a:xfrm flipH="false" flipV="false" rot="0">
              <a:off x="0" y="0"/>
              <a:ext cx="6676000" cy="731200"/>
            </a:xfrm>
            <a:custGeom>
              <a:avLst/>
              <a:gdLst/>
              <a:ahLst/>
              <a:cxnLst/>
              <a:rect r="r" b="b" t="t" l="l"/>
              <a:pathLst>
                <a:path h="731200" w="6676000">
                  <a:moveTo>
                    <a:pt x="0" y="0"/>
                  </a:moveTo>
                  <a:lnTo>
                    <a:pt x="6676000" y="0"/>
                  </a:lnTo>
                  <a:lnTo>
                    <a:pt x="6676000" y="731200"/>
                  </a:lnTo>
                  <a:lnTo>
                    <a:pt x="0" y="731200"/>
                  </a:lnTo>
                  <a:close/>
                </a:path>
              </a:pathLst>
            </a:custGeom>
            <a:blipFill>
              <a:blip r:embed="rId3">
                <a:alphaModFix amt="0"/>
              </a:blip>
              <a:stretch>
                <a:fillRect l="0" t="-127901" r="0" b="-127902"/>
              </a:stretch>
            </a:blipFill>
          </p:spPr>
        </p:sp>
        <p:sp>
          <p:nvSpPr>
            <p:cNvPr name="TextBox 9" id="9"/>
            <p:cNvSpPr txBox="true"/>
            <p:nvPr/>
          </p:nvSpPr>
          <p:spPr>
            <a:xfrm>
              <a:off x="0" y="-38100"/>
              <a:ext cx="6675996" cy="769302"/>
            </a:xfrm>
            <a:prstGeom prst="rect">
              <a:avLst/>
            </a:prstGeom>
          </p:spPr>
          <p:txBody>
            <a:bodyPr anchor="ctr" rtlCol="false" tIns="0" lIns="0" bIns="0" rIns="0"/>
            <a:lstStyle/>
            <a:p>
              <a:pPr algn="l">
                <a:lnSpc>
                  <a:spcPts val="2160"/>
                </a:lnSpc>
              </a:pPr>
              <a:r>
                <a:rPr lang="en-US" sz="1800">
                  <a:solidFill>
                    <a:srgbClr val="808080"/>
                  </a:solidFill>
                  <a:latin typeface="Calibri (MS)"/>
                  <a:ea typeface="Calibri (MS)"/>
                  <a:cs typeface="Calibri (MS)"/>
                  <a:sym typeface="Calibri (MS)"/>
                </a:rPr>
                <a:t>SOURCE: LightGBM feature importance analysis</a:t>
              </a:r>
            </a:p>
          </p:txBody>
        </p:sp>
      </p:grpSp>
      <p:sp>
        <p:nvSpPr>
          <p:cNvPr name="TextBox 10" id="10"/>
          <p:cNvSpPr txBox="true"/>
          <p:nvPr/>
        </p:nvSpPr>
        <p:spPr>
          <a:xfrm rot="0">
            <a:off x="945823" y="8220027"/>
            <a:ext cx="16396354" cy="1929603"/>
          </a:xfrm>
          <a:prstGeom prst="rect">
            <a:avLst/>
          </a:prstGeom>
        </p:spPr>
        <p:txBody>
          <a:bodyPr anchor="t" rtlCol="false" tIns="0" lIns="0" bIns="0" rIns="0">
            <a:spAutoFit/>
          </a:bodyPr>
          <a:lstStyle/>
          <a:p>
            <a:pPr algn="l" marL="675640" indent="-337820" lvl="1">
              <a:lnSpc>
                <a:spcPts val="3359"/>
              </a:lnSpc>
              <a:buFont typeface="Arial"/>
              <a:buChar char="•"/>
            </a:pPr>
            <a:r>
              <a:rPr lang="en-US" sz="2799">
                <a:solidFill>
                  <a:srgbClr val="2C2C2C"/>
                </a:solidFill>
                <a:latin typeface="Arial"/>
                <a:ea typeface="Arial"/>
                <a:cs typeface="Arial"/>
                <a:sym typeface="Arial"/>
              </a:rPr>
              <a:t>The strongest predictor of future admissions is number of lab procedures. This indicates that the patient is in a highly critical state</a:t>
            </a:r>
          </a:p>
          <a:p>
            <a:pPr algn="l" marL="675640" indent="-337820" lvl="1">
              <a:lnSpc>
                <a:spcPts val="3359"/>
              </a:lnSpc>
              <a:buFont typeface="Arial"/>
              <a:buChar char="•"/>
            </a:pPr>
            <a:r>
              <a:rPr lang="en-US" sz="2799">
                <a:solidFill>
                  <a:srgbClr val="2C2C2C"/>
                </a:solidFill>
                <a:latin typeface="Arial"/>
                <a:ea typeface="Arial"/>
                <a:cs typeface="Arial"/>
                <a:sym typeface="Arial"/>
              </a:rPr>
              <a:t>Other strong predictors: number of medications, discharge destination</a:t>
            </a:r>
          </a:p>
          <a:p>
            <a:pPr algn="l" marL="675640" indent="-337820" lvl="1">
              <a:lnSpc>
                <a:spcPts val="3359"/>
              </a:lnSpc>
              <a:buFont typeface="Arial"/>
              <a:buChar char="•"/>
            </a:pPr>
            <a:r>
              <a:rPr lang="en-US" sz="2799">
                <a:solidFill>
                  <a:srgbClr val="2C2C2C"/>
                </a:solidFill>
                <a:latin typeface="Arial"/>
                <a:ea typeface="Arial"/>
                <a:cs typeface="Arial"/>
                <a:sym typeface="Arial"/>
              </a:rPr>
              <a:t>Removing prior visit history drops model accuracy significantly from 70% to 57%.</a:t>
            </a:r>
          </a:p>
        </p:txBody>
      </p:sp>
      <p:grpSp>
        <p:nvGrpSpPr>
          <p:cNvPr name="Group 11" id="11"/>
          <p:cNvGrpSpPr/>
          <p:nvPr/>
        </p:nvGrpSpPr>
        <p:grpSpPr>
          <a:xfrm rot="0">
            <a:off x="914400" y="376771"/>
            <a:ext cx="16459200" cy="1490514"/>
            <a:chOff x="0" y="0"/>
            <a:chExt cx="21945600" cy="1987352"/>
          </a:xfrm>
        </p:grpSpPr>
        <p:sp>
          <p:nvSpPr>
            <p:cNvPr name="Freeform 12" id="12"/>
            <p:cNvSpPr/>
            <p:nvPr/>
          </p:nvSpPr>
          <p:spPr>
            <a:xfrm flipH="false" flipV="false" rot="0">
              <a:off x="0" y="0"/>
              <a:ext cx="21945600" cy="1987349"/>
            </a:xfrm>
            <a:custGeom>
              <a:avLst/>
              <a:gdLst/>
              <a:ahLst/>
              <a:cxnLst/>
              <a:rect r="r" b="b" t="t" l="l"/>
              <a:pathLst>
                <a:path h="1987349" w="21945600">
                  <a:moveTo>
                    <a:pt x="0" y="0"/>
                  </a:moveTo>
                  <a:lnTo>
                    <a:pt x="21945600" y="0"/>
                  </a:lnTo>
                  <a:lnTo>
                    <a:pt x="21945600" y="1987349"/>
                  </a:lnTo>
                  <a:lnTo>
                    <a:pt x="0" y="1987349"/>
                  </a:lnTo>
                  <a:close/>
                </a:path>
              </a:pathLst>
            </a:custGeom>
            <a:blipFill>
              <a:blip r:embed="rId3">
                <a:alphaModFix amt="0"/>
              </a:blip>
              <a:stretch>
                <a:fillRect l="0" t="-166096" r="0" b="-164236"/>
              </a:stretch>
            </a:blipFill>
          </p:spPr>
        </p:sp>
        <p:sp>
          <p:nvSpPr>
            <p:cNvPr name="TextBox 13" id="13"/>
            <p:cNvSpPr txBox="true"/>
            <p:nvPr/>
          </p:nvSpPr>
          <p:spPr>
            <a:xfrm>
              <a:off x="0" y="-28575"/>
              <a:ext cx="21945600" cy="2015927"/>
            </a:xfrm>
            <a:prstGeom prst="rect">
              <a:avLst/>
            </a:prstGeom>
          </p:spPr>
          <p:txBody>
            <a:bodyPr anchor="ctr" rtlCol="false" tIns="0" lIns="0" bIns="0" rIns="0"/>
            <a:lstStyle/>
            <a:p>
              <a:pPr algn="l">
                <a:lnSpc>
                  <a:spcPts val="8640"/>
                </a:lnSpc>
              </a:pPr>
              <a:r>
                <a:rPr lang="en-US" b="true" sz="7200">
                  <a:solidFill>
                    <a:srgbClr val="003D5C"/>
                  </a:solidFill>
                  <a:latin typeface="Arial Bold"/>
                  <a:ea typeface="Arial Bold"/>
                  <a:cs typeface="Arial Bold"/>
                  <a:sym typeface="Arial Bold"/>
                </a:rPr>
                <a:t>Key Contributing Factors (Any)</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548640"/>
            <a:ext cx="16459200" cy="1097280"/>
            <a:chOff x="0" y="0"/>
            <a:chExt cx="21945600" cy="1463040"/>
          </a:xfrm>
        </p:grpSpPr>
        <p:sp>
          <p:nvSpPr>
            <p:cNvPr name="Freeform 3" id="3"/>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4" id="4"/>
            <p:cNvSpPr txBox="true"/>
            <p:nvPr/>
          </p:nvSpPr>
          <p:spPr>
            <a:xfrm>
              <a:off x="0" y="-28575"/>
              <a:ext cx="21945600" cy="1491615"/>
            </a:xfrm>
            <a:prstGeom prst="rect">
              <a:avLst/>
            </a:prstGeom>
          </p:spPr>
          <p:txBody>
            <a:bodyPr anchor="ctr" rtlCol="false" tIns="0" lIns="0" bIns="0" rIns="0"/>
            <a:lstStyle/>
            <a:p>
              <a:pPr algn="l">
                <a:lnSpc>
                  <a:spcPts val="7680"/>
                </a:lnSpc>
              </a:pPr>
              <a:r>
                <a:rPr lang="en-US" b="true" sz="6400">
                  <a:solidFill>
                    <a:srgbClr val="003D5C"/>
                  </a:solidFill>
                  <a:latin typeface="Arial Bold"/>
                  <a:ea typeface="Arial Bold"/>
                  <a:cs typeface="Arial Bold"/>
                  <a:sym typeface="Arial Bold"/>
                </a:rPr>
                <a:t>Model Accuracy &amp; What It Means</a:t>
              </a:r>
            </a:p>
          </p:txBody>
        </p:sp>
      </p:grpSp>
      <p:grpSp>
        <p:nvGrpSpPr>
          <p:cNvPr name="Group 5" id="5"/>
          <p:cNvGrpSpPr/>
          <p:nvPr/>
        </p:nvGrpSpPr>
        <p:grpSpPr>
          <a:xfrm rot="0">
            <a:off x="914400" y="1828800"/>
            <a:ext cx="7863840" cy="4389120"/>
            <a:chOff x="0" y="0"/>
            <a:chExt cx="10485120" cy="5852160"/>
          </a:xfrm>
        </p:grpSpPr>
        <p:sp>
          <p:nvSpPr>
            <p:cNvPr name="Freeform 6" id="6"/>
            <p:cNvSpPr/>
            <p:nvPr/>
          </p:nvSpPr>
          <p:spPr>
            <a:xfrm flipH="false" flipV="false" rot="0">
              <a:off x="0" y="0"/>
              <a:ext cx="10485120" cy="5852160"/>
            </a:xfrm>
            <a:custGeom>
              <a:avLst/>
              <a:gdLst/>
              <a:ahLst/>
              <a:cxnLst/>
              <a:rect r="r" b="b" t="t" l="l"/>
              <a:pathLst>
                <a:path h="5852160" w="10485120">
                  <a:moveTo>
                    <a:pt x="0" y="0"/>
                  </a:moveTo>
                  <a:lnTo>
                    <a:pt x="10485120" y="0"/>
                  </a:lnTo>
                  <a:lnTo>
                    <a:pt x="10485120" y="5852160"/>
                  </a:lnTo>
                  <a:lnTo>
                    <a:pt x="0" y="5852160"/>
                  </a:lnTo>
                  <a:close/>
                </a:path>
              </a:pathLst>
            </a:custGeom>
            <a:solidFill>
              <a:srgbClr val="E8F4F8"/>
            </a:solidFill>
          </p:spPr>
        </p:sp>
      </p:grpSp>
      <p:grpSp>
        <p:nvGrpSpPr>
          <p:cNvPr name="Group 7" id="7"/>
          <p:cNvGrpSpPr/>
          <p:nvPr/>
        </p:nvGrpSpPr>
        <p:grpSpPr>
          <a:xfrm rot="0">
            <a:off x="1280160" y="2011680"/>
            <a:ext cx="7315200" cy="731520"/>
            <a:chOff x="0" y="0"/>
            <a:chExt cx="9753600" cy="975360"/>
          </a:xfrm>
        </p:grpSpPr>
        <p:sp>
          <p:nvSpPr>
            <p:cNvPr name="Freeform 8" id="8"/>
            <p:cNvSpPr/>
            <p:nvPr/>
          </p:nvSpPr>
          <p:spPr>
            <a:xfrm flipH="false" flipV="false" rot="0">
              <a:off x="0" y="0"/>
              <a:ext cx="9753600" cy="975360"/>
            </a:xfrm>
            <a:custGeom>
              <a:avLst/>
              <a:gdLst/>
              <a:ahLst/>
              <a:cxnLst/>
              <a:rect r="r" b="b" t="t" l="l"/>
              <a:pathLst>
                <a:path h="975360" w="9753600">
                  <a:moveTo>
                    <a:pt x="0" y="0"/>
                  </a:moveTo>
                  <a:lnTo>
                    <a:pt x="9753600" y="0"/>
                  </a:lnTo>
                  <a:lnTo>
                    <a:pt x="9753600" y="975360"/>
                  </a:lnTo>
                  <a:lnTo>
                    <a:pt x="0" y="975360"/>
                  </a:lnTo>
                  <a:close/>
                </a:path>
              </a:pathLst>
            </a:custGeom>
            <a:blipFill>
              <a:blip r:embed="rId3">
                <a:alphaModFix amt="0"/>
              </a:blip>
              <a:stretch>
                <a:fillRect l="0" t="-144850" r="0" b="-144850"/>
              </a:stretch>
            </a:blipFill>
          </p:spPr>
        </p:sp>
        <p:sp>
          <p:nvSpPr>
            <p:cNvPr name="TextBox 9" id="9"/>
            <p:cNvSpPr txBox="true"/>
            <p:nvPr/>
          </p:nvSpPr>
          <p:spPr>
            <a:xfrm>
              <a:off x="0" y="-28575"/>
              <a:ext cx="9753600" cy="1003935"/>
            </a:xfrm>
            <a:prstGeom prst="rect">
              <a:avLst/>
            </a:prstGeom>
          </p:spPr>
          <p:txBody>
            <a:bodyPr anchor="ctr" rtlCol="false" tIns="0" lIns="0" bIns="0" rIns="0"/>
            <a:lstStyle/>
            <a:p>
              <a:pPr algn="l">
                <a:lnSpc>
                  <a:spcPts val="3840"/>
                </a:lnSpc>
              </a:pPr>
              <a:r>
                <a:rPr lang="en-US" b="true" sz="3200">
                  <a:solidFill>
                    <a:srgbClr val="003D5C"/>
                  </a:solidFill>
                  <a:latin typeface="Arial Bold"/>
                  <a:ea typeface="Arial Bold"/>
                  <a:cs typeface="Arial Bold"/>
                  <a:sym typeface="Arial Bold"/>
                </a:rPr>
                <a:t>Any Readmission Model</a:t>
              </a:r>
            </a:p>
          </p:txBody>
        </p:sp>
      </p:grpSp>
      <p:grpSp>
        <p:nvGrpSpPr>
          <p:cNvPr name="Group 10" id="10"/>
          <p:cNvGrpSpPr/>
          <p:nvPr/>
        </p:nvGrpSpPr>
        <p:grpSpPr>
          <a:xfrm rot="0">
            <a:off x="1280160" y="2743200"/>
            <a:ext cx="2743200" cy="1463040"/>
            <a:chOff x="0" y="0"/>
            <a:chExt cx="3657600" cy="1950720"/>
          </a:xfrm>
        </p:grpSpPr>
        <p:sp>
          <p:nvSpPr>
            <p:cNvPr name="Freeform 11" id="11"/>
            <p:cNvSpPr/>
            <p:nvPr/>
          </p:nvSpPr>
          <p:spPr>
            <a:xfrm flipH="false" flipV="false" rot="0">
              <a:off x="0" y="0"/>
              <a:ext cx="3657600" cy="1950720"/>
            </a:xfrm>
            <a:custGeom>
              <a:avLst/>
              <a:gdLst/>
              <a:ahLst/>
              <a:cxnLst/>
              <a:rect r="r" b="b" t="t" l="l"/>
              <a:pathLst>
                <a:path h="1950720" w="3657600">
                  <a:moveTo>
                    <a:pt x="0" y="0"/>
                  </a:moveTo>
                  <a:lnTo>
                    <a:pt x="3657600" y="0"/>
                  </a:lnTo>
                  <a:lnTo>
                    <a:pt x="3657600" y="1950720"/>
                  </a:lnTo>
                  <a:lnTo>
                    <a:pt x="0" y="1950720"/>
                  </a:lnTo>
                  <a:close/>
                </a:path>
              </a:pathLst>
            </a:custGeom>
            <a:blipFill>
              <a:blip r:embed="rId3">
                <a:alphaModFix amt="0"/>
              </a:blip>
              <a:stretch>
                <a:fillRect l="-18428" t="0" r="-18428" b="0"/>
              </a:stretch>
            </a:blipFill>
          </p:spPr>
        </p:sp>
        <p:sp>
          <p:nvSpPr>
            <p:cNvPr name="TextBox 12" id="12"/>
            <p:cNvSpPr txBox="true"/>
            <p:nvPr/>
          </p:nvSpPr>
          <p:spPr>
            <a:xfrm>
              <a:off x="0" y="-38100"/>
              <a:ext cx="3657600" cy="1988820"/>
            </a:xfrm>
            <a:prstGeom prst="rect">
              <a:avLst/>
            </a:prstGeom>
          </p:spPr>
          <p:txBody>
            <a:bodyPr anchor="ctr" rtlCol="false" tIns="0" lIns="0" bIns="0" rIns="0"/>
            <a:lstStyle/>
            <a:p>
              <a:pPr algn="l">
                <a:lnSpc>
                  <a:spcPts val="9600"/>
                </a:lnSpc>
              </a:pPr>
              <a:r>
                <a:rPr lang="en-US" b="true" sz="8000">
                  <a:solidFill>
                    <a:srgbClr val="00A4A6"/>
                  </a:solidFill>
                  <a:latin typeface="Arial Bold"/>
                  <a:ea typeface="Arial Bold"/>
                  <a:cs typeface="Arial Bold"/>
                  <a:sym typeface="Arial Bold"/>
                </a:rPr>
                <a:t>69%</a:t>
              </a:r>
            </a:p>
          </p:txBody>
        </p:sp>
      </p:grpSp>
      <p:grpSp>
        <p:nvGrpSpPr>
          <p:cNvPr name="Group 13" id="13"/>
          <p:cNvGrpSpPr/>
          <p:nvPr/>
        </p:nvGrpSpPr>
        <p:grpSpPr>
          <a:xfrm rot="0">
            <a:off x="1280160" y="4023360"/>
            <a:ext cx="2743200" cy="548640"/>
            <a:chOff x="0" y="0"/>
            <a:chExt cx="3657600" cy="731520"/>
          </a:xfrm>
        </p:grpSpPr>
        <p:sp>
          <p:nvSpPr>
            <p:cNvPr name="Freeform 14" id="14"/>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3">
                <a:alphaModFix amt="0"/>
              </a:blip>
              <a:stretch>
                <a:fillRect l="0" t="-47425" r="0" b="-47425"/>
              </a:stretch>
            </a:blipFill>
          </p:spPr>
        </p:sp>
        <p:sp>
          <p:nvSpPr>
            <p:cNvPr name="TextBox 15" id="15"/>
            <p:cNvSpPr txBox="true"/>
            <p:nvPr/>
          </p:nvSpPr>
          <p:spPr>
            <a:xfrm>
              <a:off x="0" y="-9525"/>
              <a:ext cx="3657600" cy="741045"/>
            </a:xfrm>
            <a:prstGeom prst="rect">
              <a:avLst/>
            </a:prstGeom>
          </p:spPr>
          <p:txBody>
            <a:bodyPr anchor="ctr" rtlCol="false" tIns="0" lIns="0" bIns="0" rIns="0"/>
            <a:lstStyle/>
            <a:p>
              <a:pPr algn="l">
                <a:lnSpc>
                  <a:spcPts val="2879"/>
                </a:lnSpc>
              </a:pPr>
              <a:r>
                <a:rPr lang="en-US" sz="2400">
                  <a:solidFill>
                    <a:srgbClr val="64748B"/>
                  </a:solidFill>
                  <a:latin typeface="Arial"/>
                  <a:ea typeface="Arial"/>
                  <a:cs typeface="Arial"/>
                  <a:sym typeface="Arial"/>
                </a:rPr>
                <a:t>AUC</a:t>
              </a:r>
            </a:p>
          </p:txBody>
        </p:sp>
      </p:grpSp>
      <p:grpSp>
        <p:nvGrpSpPr>
          <p:cNvPr name="Group 16" id="16"/>
          <p:cNvGrpSpPr/>
          <p:nvPr/>
        </p:nvGrpSpPr>
        <p:grpSpPr>
          <a:xfrm rot="0">
            <a:off x="4206240" y="2926080"/>
            <a:ext cx="4206240" cy="1463040"/>
            <a:chOff x="0" y="0"/>
            <a:chExt cx="5608320" cy="1950720"/>
          </a:xfrm>
        </p:grpSpPr>
        <p:sp>
          <p:nvSpPr>
            <p:cNvPr name="Freeform 17" id="17"/>
            <p:cNvSpPr/>
            <p:nvPr/>
          </p:nvSpPr>
          <p:spPr>
            <a:xfrm flipH="false" flipV="false" rot="0">
              <a:off x="0" y="0"/>
              <a:ext cx="5608320" cy="1950720"/>
            </a:xfrm>
            <a:custGeom>
              <a:avLst/>
              <a:gdLst/>
              <a:ahLst/>
              <a:cxnLst/>
              <a:rect r="r" b="b" t="t" l="l"/>
              <a:pathLst>
                <a:path h="1950720" w="5608320">
                  <a:moveTo>
                    <a:pt x="0" y="0"/>
                  </a:moveTo>
                  <a:lnTo>
                    <a:pt x="5608320" y="0"/>
                  </a:lnTo>
                  <a:lnTo>
                    <a:pt x="5608320" y="1950720"/>
                  </a:lnTo>
                  <a:lnTo>
                    <a:pt x="0" y="1950720"/>
                  </a:lnTo>
                  <a:close/>
                </a:path>
              </a:pathLst>
            </a:custGeom>
            <a:blipFill>
              <a:blip r:embed="rId3">
                <a:alphaModFix amt="0"/>
              </a:blip>
              <a:stretch>
                <a:fillRect l="0" t="-6019" r="0" b="-6019"/>
              </a:stretch>
            </a:blipFill>
          </p:spPr>
        </p:sp>
        <p:sp>
          <p:nvSpPr>
            <p:cNvPr name="TextBox 18" id="18"/>
            <p:cNvSpPr txBox="true"/>
            <p:nvPr/>
          </p:nvSpPr>
          <p:spPr>
            <a:xfrm>
              <a:off x="0" y="-19050"/>
              <a:ext cx="5608320" cy="1969770"/>
            </a:xfrm>
            <a:prstGeom prst="rect">
              <a:avLst/>
            </a:prstGeom>
          </p:spPr>
          <p:txBody>
            <a:bodyPr anchor="ctr" rtlCol="false" tIns="0" lIns="0" bIns="0" rIns="0"/>
            <a:lstStyle/>
            <a:p>
              <a:pPr algn="l">
                <a:lnSpc>
                  <a:spcPts val="3359"/>
                </a:lnSpc>
              </a:pPr>
              <a:r>
                <a:rPr lang="en-US" sz="2799">
                  <a:solidFill>
                    <a:srgbClr val="1E293B"/>
                  </a:solidFill>
                  <a:latin typeface="Arial"/>
                  <a:ea typeface="Arial"/>
                  <a:cs typeface="Arial"/>
                  <a:sym typeface="Arial"/>
                </a:rPr>
                <a:t>Correctly ranks about 70% of patients.</a:t>
              </a:r>
            </a:p>
          </p:txBody>
        </p:sp>
      </p:grpSp>
      <p:grpSp>
        <p:nvGrpSpPr>
          <p:cNvPr name="Group 19" id="19"/>
          <p:cNvGrpSpPr/>
          <p:nvPr/>
        </p:nvGrpSpPr>
        <p:grpSpPr>
          <a:xfrm rot="0">
            <a:off x="1280160" y="4752975"/>
            <a:ext cx="7315200" cy="1099185"/>
            <a:chOff x="0" y="0"/>
            <a:chExt cx="9753600" cy="1465580"/>
          </a:xfrm>
        </p:grpSpPr>
        <p:sp>
          <p:nvSpPr>
            <p:cNvPr name="Freeform 20" id="20"/>
            <p:cNvSpPr/>
            <p:nvPr/>
          </p:nvSpPr>
          <p:spPr>
            <a:xfrm flipH="false" flipV="false" rot="0">
              <a:off x="0" y="0"/>
              <a:ext cx="9753600" cy="1465580"/>
            </a:xfrm>
            <a:custGeom>
              <a:avLst/>
              <a:gdLst/>
              <a:ahLst/>
              <a:cxnLst/>
              <a:rect r="r" b="b" t="t" l="l"/>
              <a:pathLst>
                <a:path h="1465580" w="9753600">
                  <a:moveTo>
                    <a:pt x="0" y="0"/>
                  </a:moveTo>
                  <a:lnTo>
                    <a:pt x="9753600" y="0"/>
                  </a:lnTo>
                  <a:lnTo>
                    <a:pt x="9753600" y="1465580"/>
                  </a:lnTo>
                  <a:lnTo>
                    <a:pt x="0" y="1465580"/>
                  </a:lnTo>
                  <a:close/>
                </a:path>
              </a:pathLst>
            </a:custGeom>
            <a:blipFill>
              <a:blip r:embed="rId3">
                <a:alphaModFix amt="0"/>
              </a:blip>
              <a:stretch>
                <a:fillRect l="0" t="-104718" r="0" b="-54631"/>
              </a:stretch>
            </a:blipFill>
          </p:spPr>
        </p:sp>
        <p:sp>
          <p:nvSpPr>
            <p:cNvPr name="TextBox 21" id="21"/>
            <p:cNvSpPr txBox="true"/>
            <p:nvPr/>
          </p:nvSpPr>
          <p:spPr>
            <a:xfrm>
              <a:off x="0" y="-19050"/>
              <a:ext cx="9753600" cy="1484630"/>
            </a:xfrm>
            <a:prstGeom prst="rect">
              <a:avLst/>
            </a:prstGeom>
          </p:spPr>
          <p:txBody>
            <a:bodyPr anchor="ctr" rtlCol="false" tIns="0" lIns="0" bIns="0" rIns="0"/>
            <a:lstStyle/>
            <a:p>
              <a:pPr algn="l">
                <a:lnSpc>
                  <a:spcPts val="3600"/>
                </a:lnSpc>
              </a:pPr>
              <a:r>
                <a:rPr lang="en-US" sz="3000">
                  <a:solidFill>
                    <a:srgbClr val="000000"/>
                  </a:solidFill>
                  <a:latin typeface="Arial"/>
                  <a:ea typeface="Arial"/>
                  <a:cs typeface="Arial"/>
                  <a:sym typeface="Arial"/>
                </a:rPr>
                <a:t>Predicted </a:t>
              </a:r>
              <a:r>
                <a:rPr lang="en-US" sz="3000">
                  <a:solidFill>
                    <a:srgbClr val="000000"/>
                  </a:solidFill>
                  <a:latin typeface="Arial"/>
                  <a:ea typeface="Arial"/>
                  <a:cs typeface="Arial"/>
                  <a:sym typeface="Arial"/>
                </a:rPr>
                <a:t>56% of all readmission correctly.</a:t>
              </a:r>
            </a:p>
          </p:txBody>
        </p:sp>
      </p:grpSp>
      <p:grpSp>
        <p:nvGrpSpPr>
          <p:cNvPr name="Group 22" id="22"/>
          <p:cNvGrpSpPr/>
          <p:nvPr/>
        </p:nvGrpSpPr>
        <p:grpSpPr>
          <a:xfrm rot="0">
            <a:off x="9509760" y="1828800"/>
            <a:ext cx="7863840" cy="4389120"/>
            <a:chOff x="0" y="0"/>
            <a:chExt cx="10485120" cy="5852160"/>
          </a:xfrm>
        </p:grpSpPr>
        <p:sp>
          <p:nvSpPr>
            <p:cNvPr name="Freeform 23" id="23"/>
            <p:cNvSpPr/>
            <p:nvPr/>
          </p:nvSpPr>
          <p:spPr>
            <a:xfrm flipH="false" flipV="false" rot="0">
              <a:off x="0" y="0"/>
              <a:ext cx="10485120" cy="5852160"/>
            </a:xfrm>
            <a:custGeom>
              <a:avLst/>
              <a:gdLst/>
              <a:ahLst/>
              <a:cxnLst/>
              <a:rect r="r" b="b" t="t" l="l"/>
              <a:pathLst>
                <a:path h="5852160" w="10485120">
                  <a:moveTo>
                    <a:pt x="0" y="0"/>
                  </a:moveTo>
                  <a:lnTo>
                    <a:pt x="10485120" y="0"/>
                  </a:lnTo>
                  <a:lnTo>
                    <a:pt x="10485120" y="5852160"/>
                  </a:lnTo>
                  <a:lnTo>
                    <a:pt x="0" y="5852160"/>
                  </a:lnTo>
                  <a:close/>
                </a:path>
              </a:pathLst>
            </a:custGeom>
            <a:solidFill>
              <a:srgbClr val="E8F4F8"/>
            </a:solidFill>
          </p:spPr>
        </p:sp>
      </p:grpSp>
      <p:grpSp>
        <p:nvGrpSpPr>
          <p:cNvPr name="Group 24" id="24"/>
          <p:cNvGrpSpPr/>
          <p:nvPr/>
        </p:nvGrpSpPr>
        <p:grpSpPr>
          <a:xfrm rot="0">
            <a:off x="9875520" y="2011680"/>
            <a:ext cx="7315200" cy="731520"/>
            <a:chOff x="0" y="0"/>
            <a:chExt cx="9753600" cy="975360"/>
          </a:xfrm>
        </p:grpSpPr>
        <p:sp>
          <p:nvSpPr>
            <p:cNvPr name="Freeform 25" id="25"/>
            <p:cNvSpPr/>
            <p:nvPr/>
          </p:nvSpPr>
          <p:spPr>
            <a:xfrm flipH="false" flipV="false" rot="0">
              <a:off x="0" y="0"/>
              <a:ext cx="9753600" cy="975360"/>
            </a:xfrm>
            <a:custGeom>
              <a:avLst/>
              <a:gdLst/>
              <a:ahLst/>
              <a:cxnLst/>
              <a:rect r="r" b="b" t="t" l="l"/>
              <a:pathLst>
                <a:path h="975360" w="9753600">
                  <a:moveTo>
                    <a:pt x="0" y="0"/>
                  </a:moveTo>
                  <a:lnTo>
                    <a:pt x="9753600" y="0"/>
                  </a:lnTo>
                  <a:lnTo>
                    <a:pt x="9753600" y="975360"/>
                  </a:lnTo>
                  <a:lnTo>
                    <a:pt x="0" y="975360"/>
                  </a:lnTo>
                  <a:close/>
                </a:path>
              </a:pathLst>
            </a:custGeom>
            <a:blipFill>
              <a:blip r:embed="rId3">
                <a:alphaModFix amt="0"/>
              </a:blip>
              <a:stretch>
                <a:fillRect l="0" t="-144850" r="0" b="-144850"/>
              </a:stretch>
            </a:blipFill>
          </p:spPr>
        </p:sp>
        <p:sp>
          <p:nvSpPr>
            <p:cNvPr name="TextBox 26" id="26"/>
            <p:cNvSpPr txBox="true"/>
            <p:nvPr/>
          </p:nvSpPr>
          <p:spPr>
            <a:xfrm>
              <a:off x="0" y="-28575"/>
              <a:ext cx="9753600" cy="1003935"/>
            </a:xfrm>
            <a:prstGeom prst="rect">
              <a:avLst/>
            </a:prstGeom>
          </p:spPr>
          <p:txBody>
            <a:bodyPr anchor="ctr" rtlCol="false" tIns="0" lIns="0" bIns="0" rIns="0"/>
            <a:lstStyle/>
            <a:p>
              <a:pPr algn="l">
                <a:lnSpc>
                  <a:spcPts val="3840"/>
                </a:lnSpc>
              </a:pPr>
              <a:r>
                <a:rPr lang="en-US" b="true" sz="3200">
                  <a:solidFill>
                    <a:srgbClr val="003D5C"/>
                  </a:solidFill>
                  <a:latin typeface="Arial Bold"/>
                  <a:ea typeface="Arial Bold"/>
                  <a:cs typeface="Arial Bold"/>
                  <a:sym typeface="Arial Bold"/>
                </a:rPr>
                <a:t>30-Day Model (Tuned)</a:t>
              </a:r>
            </a:p>
          </p:txBody>
        </p:sp>
      </p:grpSp>
      <p:grpSp>
        <p:nvGrpSpPr>
          <p:cNvPr name="Group 27" id="27"/>
          <p:cNvGrpSpPr/>
          <p:nvPr/>
        </p:nvGrpSpPr>
        <p:grpSpPr>
          <a:xfrm rot="0">
            <a:off x="9875520" y="2743200"/>
            <a:ext cx="2743200" cy="1463040"/>
            <a:chOff x="0" y="0"/>
            <a:chExt cx="3657600" cy="1950720"/>
          </a:xfrm>
        </p:grpSpPr>
        <p:sp>
          <p:nvSpPr>
            <p:cNvPr name="Freeform 28" id="28"/>
            <p:cNvSpPr/>
            <p:nvPr/>
          </p:nvSpPr>
          <p:spPr>
            <a:xfrm flipH="false" flipV="false" rot="0">
              <a:off x="0" y="0"/>
              <a:ext cx="3657600" cy="1950720"/>
            </a:xfrm>
            <a:custGeom>
              <a:avLst/>
              <a:gdLst/>
              <a:ahLst/>
              <a:cxnLst/>
              <a:rect r="r" b="b" t="t" l="l"/>
              <a:pathLst>
                <a:path h="1950720" w="3657600">
                  <a:moveTo>
                    <a:pt x="0" y="0"/>
                  </a:moveTo>
                  <a:lnTo>
                    <a:pt x="3657600" y="0"/>
                  </a:lnTo>
                  <a:lnTo>
                    <a:pt x="3657600" y="1950720"/>
                  </a:lnTo>
                  <a:lnTo>
                    <a:pt x="0" y="1950720"/>
                  </a:lnTo>
                  <a:close/>
                </a:path>
              </a:pathLst>
            </a:custGeom>
            <a:blipFill>
              <a:blip r:embed="rId3">
                <a:alphaModFix amt="0"/>
              </a:blip>
              <a:stretch>
                <a:fillRect l="-18428" t="0" r="-18428" b="0"/>
              </a:stretch>
            </a:blipFill>
          </p:spPr>
        </p:sp>
        <p:sp>
          <p:nvSpPr>
            <p:cNvPr name="TextBox 29" id="29"/>
            <p:cNvSpPr txBox="true"/>
            <p:nvPr/>
          </p:nvSpPr>
          <p:spPr>
            <a:xfrm>
              <a:off x="0" y="-38100"/>
              <a:ext cx="3657600" cy="1988820"/>
            </a:xfrm>
            <a:prstGeom prst="rect">
              <a:avLst/>
            </a:prstGeom>
          </p:spPr>
          <p:txBody>
            <a:bodyPr anchor="ctr" rtlCol="false" tIns="0" lIns="0" bIns="0" rIns="0"/>
            <a:lstStyle/>
            <a:p>
              <a:pPr algn="l">
                <a:lnSpc>
                  <a:spcPts val="9600"/>
                </a:lnSpc>
              </a:pPr>
              <a:r>
                <a:rPr lang="en-US" b="true" sz="8000">
                  <a:solidFill>
                    <a:srgbClr val="F26522"/>
                  </a:solidFill>
                  <a:latin typeface="Arial Bold"/>
                  <a:ea typeface="Arial Bold"/>
                  <a:cs typeface="Arial Bold"/>
                  <a:sym typeface="Arial Bold"/>
                </a:rPr>
                <a:t>67%</a:t>
              </a:r>
            </a:p>
          </p:txBody>
        </p:sp>
      </p:grpSp>
      <p:grpSp>
        <p:nvGrpSpPr>
          <p:cNvPr name="Group 30" id="30"/>
          <p:cNvGrpSpPr/>
          <p:nvPr/>
        </p:nvGrpSpPr>
        <p:grpSpPr>
          <a:xfrm rot="0">
            <a:off x="9875520" y="4023360"/>
            <a:ext cx="2743200" cy="548640"/>
            <a:chOff x="0" y="0"/>
            <a:chExt cx="3657600" cy="731520"/>
          </a:xfrm>
        </p:grpSpPr>
        <p:sp>
          <p:nvSpPr>
            <p:cNvPr name="Freeform 31" id="31"/>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3">
                <a:alphaModFix amt="0"/>
              </a:blip>
              <a:stretch>
                <a:fillRect l="0" t="-47425" r="0" b="-47425"/>
              </a:stretch>
            </a:blipFill>
          </p:spPr>
        </p:sp>
        <p:sp>
          <p:nvSpPr>
            <p:cNvPr name="TextBox 32" id="32"/>
            <p:cNvSpPr txBox="true"/>
            <p:nvPr/>
          </p:nvSpPr>
          <p:spPr>
            <a:xfrm>
              <a:off x="0" y="-9525"/>
              <a:ext cx="3657600" cy="741045"/>
            </a:xfrm>
            <a:prstGeom prst="rect">
              <a:avLst/>
            </a:prstGeom>
          </p:spPr>
          <p:txBody>
            <a:bodyPr anchor="ctr" rtlCol="false" tIns="0" lIns="0" bIns="0" rIns="0"/>
            <a:lstStyle/>
            <a:p>
              <a:pPr algn="l">
                <a:lnSpc>
                  <a:spcPts val="2879"/>
                </a:lnSpc>
              </a:pPr>
              <a:r>
                <a:rPr lang="en-US" sz="2400">
                  <a:solidFill>
                    <a:srgbClr val="64748B"/>
                  </a:solidFill>
                  <a:latin typeface="Arial"/>
                  <a:ea typeface="Arial"/>
                  <a:cs typeface="Arial"/>
                  <a:sym typeface="Arial"/>
                </a:rPr>
                <a:t>AUC</a:t>
              </a:r>
            </a:p>
          </p:txBody>
        </p:sp>
      </p:grpSp>
      <p:grpSp>
        <p:nvGrpSpPr>
          <p:cNvPr name="Group 33" id="33"/>
          <p:cNvGrpSpPr/>
          <p:nvPr/>
        </p:nvGrpSpPr>
        <p:grpSpPr>
          <a:xfrm rot="0">
            <a:off x="12801600" y="2926080"/>
            <a:ext cx="4206240" cy="1463040"/>
            <a:chOff x="0" y="0"/>
            <a:chExt cx="5608320" cy="1950720"/>
          </a:xfrm>
        </p:grpSpPr>
        <p:sp>
          <p:nvSpPr>
            <p:cNvPr name="Freeform 34" id="34"/>
            <p:cNvSpPr/>
            <p:nvPr/>
          </p:nvSpPr>
          <p:spPr>
            <a:xfrm flipH="false" flipV="false" rot="0">
              <a:off x="0" y="0"/>
              <a:ext cx="5608320" cy="1950720"/>
            </a:xfrm>
            <a:custGeom>
              <a:avLst/>
              <a:gdLst/>
              <a:ahLst/>
              <a:cxnLst/>
              <a:rect r="r" b="b" t="t" l="l"/>
              <a:pathLst>
                <a:path h="1950720" w="5608320">
                  <a:moveTo>
                    <a:pt x="0" y="0"/>
                  </a:moveTo>
                  <a:lnTo>
                    <a:pt x="5608320" y="0"/>
                  </a:lnTo>
                  <a:lnTo>
                    <a:pt x="5608320" y="1950720"/>
                  </a:lnTo>
                  <a:lnTo>
                    <a:pt x="0" y="1950720"/>
                  </a:lnTo>
                  <a:close/>
                </a:path>
              </a:pathLst>
            </a:custGeom>
            <a:blipFill>
              <a:blip r:embed="rId3">
                <a:alphaModFix amt="0"/>
              </a:blip>
              <a:stretch>
                <a:fillRect l="0" t="-6019" r="0" b="-6019"/>
              </a:stretch>
            </a:blipFill>
          </p:spPr>
        </p:sp>
        <p:sp>
          <p:nvSpPr>
            <p:cNvPr name="TextBox 35" id="35"/>
            <p:cNvSpPr txBox="true"/>
            <p:nvPr/>
          </p:nvSpPr>
          <p:spPr>
            <a:xfrm>
              <a:off x="0" y="-19050"/>
              <a:ext cx="5608320" cy="1969770"/>
            </a:xfrm>
            <a:prstGeom prst="rect">
              <a:avLst/>
            </a:prstGeom>
          </p:spPr>
          <p:txBody>
            <a:bodyPr anchor="ctr" rtlCol="false" tIns="0" lIns="0" bIns="0" rIns="0"/>
            <a:lstStyle/>
            <a:p>
              <a:pPr algn="l">
                <a:lnSpc>
                  <a:spcPts val="3359"/>
                </a:lnSpc>
              </a:pPr>
              <a:r>
                <a:rPr lang="en-US" sz="2799">
                  <a:solidFill>
                    <a:srgbClr val="1E293B"/>
                  </a:solidFill>
                  <a:latin typeface="Arial"/>
                  <a:ea typeface="Arial"/>
                  <a:cs typeface="Arial"/>
                  <a:sym typeface="Arial"/>
                </a:rPr>
                <a:t>Catches 67% of urgent</a:t>
              </a:r>
              <a:r>
                <a:rPr lang="en-US" sz="2799">
                  <a:solidFill>
                    <a:srgbClr val="000000"/>
                  </a:solidFill>
                  <a:latin typeface="Arial"/>
                  <a:ea typeface="Arial"/>
                  <a:cs typeface="Arial"/>
                  <a:sym typeface="Arial"/>
                </a:rPr>
                <a:t> </a:t>
              </a:r>
              <a:r>
                <a:rPr lang="en-US" sz="2799">
                  <a:solidFill>
                    <a:srgbClr val="1E293B"/>
                  </a:solidFill>
                  <a:latin typeface="Arial"/>
                  <a:ea typeface="Arial"/>
                  <a:cs typeface="Arial"/>
                  <a:sym typeface="Arial"/>
                </a:rPr>
                <a:t>cases </a:t>
              </a:r>
            </a:p>
          </p:txBody>
        </p:sp>
      </p:grpSp>
      <p:grpSp>
        <p:nvGrpSpPr>
          <p:cNvPr name="Group 36" id="36"/>
          <p:cNvGrpSpPr/>
          <p:nvPr/>
        </p:nvGrpSpPr>
        <p:grpSpPr>
          <a:xfrm rot="0">
            <a:off x="9875520" y="4705350"/>
            <a:ext cx="7315200" cy="1536241"/>
            <a:chOff x="0" y="0"/>
            <a:chExt cx="9753600" cy="2048321"/>
          </a:xfrm>
        </p:grpSpPr>
        <p:sp>
          <p:nvSpPr>
            <p:cNvPr name="Freeform 37" id="37"/>
            <p:cNvSpPr/>
            <p:nvPr/>
          </p:nvSpPr>
          <p:spPr>
            <a:xfrm flipH="false" flipV="false" rot="0">
              <a:off x="0" y="0"/>
              <a:ext cx="9753600" cy="2048321"/>
            </a:xfrm>
            <a:custGeom>
              <a:avLst/>
              <a:gdLst/>
              <a:ahLst/>
              <a:cxnLst/>
              <a:rect r="r" b="b" t="t" l="l"/>
              <a:pathLst>
                <a:path h="2048321" w="9753600">
                  <a:moveTo>
                    <a:pt x="0" y="0"/>
                  </a:moveTo>
                  <a:lnTo>
                    <a:pt x="9753600" y="0"/>
                  </a:lnTo>
                  <a:lnTo>
                    <a:pt x="9753600" y="2048321"/>
                  </a:lnTo>
                  <a:lnTo>
                    <a:pt x="0" y="2048321"/>
                  </a:lnTo>
                  <a:close/>
                </a:path>
              </a:pathLst>
            </a:custGeom>
            <a:blipFill>
              <a:blip r:embed="rId3">
                <a:alphaModFix amt="0"/>
              </a:blip>
              <a:stretch>
                <a:fillRect l="0" t="-74926" r="0" b="-10639"/>
              </a:stretch>
            </a:blipFill>
          </p:spPr>
        </p:sp>
        <p:sp>
          <p:nvSpPr>
            <p:cNvPr name="TextBox 38" id="38"/>
            <p:cNvSpPr txBox="true"/>
            <p:nvPr/>
          </p:nvSpPr>
          <p:spPr>
            <a:xfrm>
              <a:off x="0" y="-19050"/>
              <a:ext cx="9753600" cy="2067371"/>
            </a:xfrm>
            <a:prstGeom prst="rect">
              <a:avLst/>
            </a:prstGeom>
          </p:spPr>
          <p:txBody>
            <a:bodyPr anchor="ctr" rtlCol="false" tIns="0" lIns="0" bIns="0" rIns="0"/>
            <a:lstStyle/>
            <a:p>
              <a:pPr algn="l">
                <a:lnSpc>
                  <a:spcPts val="3600"/>
                </a:lnSpc>
              </a:pPr>
              <a:r>
                <a:rPr lang="en-US" sz="3000">
                  <a:solidFill>
                    <a:srgbClr val="000000"/>
                  </a:solidFill>
                  <a:latin typeface="Arial"/>
                  <a:ea typeface="Arial"/>
                  <a:cs typeface="Arial"/>
                  <a:sym typeface="Arial"/>
                </a:rPr>
                <a:t>Has a 49.7% chance of predicting readmission correctly (with threshold at 0.3).</a:t>
              </a:r>
            </a:p>
          </p:txBody>
        </p:sp>
      </p:grpSp>
      <p:grpSp>
        <p:nvGrpSpPr>
          <p:cNvPr name="Group 39" id="39"/>
          <p:cNvGrpSpPr/>
          <p:nvPr/>
        </p:nvGrpSpPr>
        <p:grpSpPr>
          <a:xfrm rot="0">
            <a:off x="914400" y="6583680"/>
            <a:ext cx="16459200" cy="3108960"/>
            <a:chOff x="0" y="0"/>
            <a:chExt cx="21945600" cy="4145280"/>
          </a:xfrm>
        </p:grpSpPr>
        <p:sp>
          <p:nvSpPr>
            <p:cNvPr name="Freeform 40" id="40"/>
            <p:cNvSpPr/>
            <p:nvPr/>
          </p:nvSpPr>
          <p:spPr>
            <a:xfrm flipH="false" flipV="false" rot="0">
              <a:off x="0" y="0"/>
              <a:ext cx="21945600" cy="4145280"/>
            </a:xfrm>
            <a:custGeom>
              <a:avLst/>
              <a:gdLst/>
              <a:ahLst/>
              <a:cxnLst/>
              <a:rect r="r" b="b" t="t" l="l"/>
              <a:pathLst>
                <a:path h="4145280" w="21945600">
                  <a:moveTo>
                    <a:pt x="0" y="0"/>
                  </a:moveTo>
                  <a:lnTo>
                    <a:pt x="21945600" y="0"/>
                  </a:lnTo>
                  <a:lnTo>
                    <a:pt x="21945600" y="4145280"/>
                  </a:lnTo>
                  <a:lnTo>
                    <a:pt x="0" y="4145280"/>
                  </a:lnTo>
                  <a:close/>
                </a:path>
              </a:pathLst>
            </a:custGeom>
            <a:solidFill>
              <a:srgbClr val="FFFFFF"/>
            </a:solidFill>
          </p:spPr>
        </p:sp>
      </p:grpSp>
      <p:grpSp>
        <p:nvGrpSpPr>
          <p:cNvPr name="Group 41" id="41"/>
          <p:cNvGrpSpPr/>
          <p:nvPr/>
        </p:nvGrpSpPr>
        <p:grpSpPr>
          <a:xfrm rot="0">
            <a:off x="1280160" y="6858000"/>
            <a:ext cx="15727680" cy="731520"/>
            <a:chOff x="0" y="0"/>
            <a:chExt cx="20970240" cy="975360"/>
          </a:xfrm>
        </p:grpSpPr>
        <p:sp>
          <p:nvSpPr>
            <p:cNvPr name="Freeform 42" id="42"/>
            <p:cNvSpPr/>
            <p:nvPr/>
          </p:nvSpPr>
          <p:spPr>
            <a:xfrm flipH="false" flipV="false" rot="0">
              <a:off x="0" y="0"/>
              <a:ext cx="20970239" cy="975360"/>
            </a:xfrm>
            <a:custGeom>
              <a:avLst/>
              <a:gdLst/>
              <a:ahLst/>
              <a:cxnLst/>
              <a:rect r="r" b="b" t="t" l="l"/>
              <a:pathLst>
                <a:path h="975360" w="20970239">
                  <a:moveTo>
                    <a:pt x="0" y="0"/>
                  </a:moveTo>
                  <a:lnTo>
                    <a:pt x="20970239" y="0"/>
                  </a:lnTo>
                  <a:lnTo>
                    <a:pt x="20970239" y="975360"/>
                  </a:lnTo>
                  <a:lnTo>
                    <a:pt x="0" y="975360"/>
                  </a:lnTo>
                  <a:close/>
                </a:path>
              </a:pathLst>
            </a:custGeom>
            <a:blipFill>
              <a:blip r:embed="rId3">
                <a:alphaModFix amt="0"/>
              </a:blip>
              <a:stretch>
                <a:fillRect l="0" t="-368928" r="0" b="-368928"/>
              </a:stretch>
            </a:blipFill>
          </p:spPr>
        </p:sp>
        <p:sp>
          <p:nvSpPr>
            <p:cNvPr name="TextBox 43" id="43"/>
            <p:cNvSpPr txBox="true"/>
            <p:nvPr/>
          </p:nvSpPr>
          <p:spPr>
            <a:xfrm>
              <a:off x="0" y="-28575"/>
              <a:ext cx="20970240" cy="1003935"/>
            </a:xfrm>
            <a:prstGeom prst="rect">
              <a:avLst/>
            </a:prstGeom>
          </p:spPr>
          <p:txBody>
            <a:bodyPr anchor="ctr" rtlCol="false" tIns="0" lIns="0" bIns="0" rIns="0"/>
            <a:lstStyle/>
            <a:p>
              <a:pPr algn="l">
                <a:lnSpc>
                  <a:spcPts val="3840"/>
                </a:lnSpc>
              </a:pPr>
              <a:r>
                <a:rPr lang="en-US" b="true" sz="3200">
                  <a:solidFill>
                    <a:srgbClr val="003D5C"/>
                  </a:solidFill>
                  <a:latin typeface="Arial Bold"/>
                  <a:ea typeface="Arial Bold"/>
                  <a:cs typeface="Arial Bold"/>
                  <a:sym typeface="Arial Bold"/>
                </a:rPr>
                <a:t>What does this mean for implementation?</a:t>
              </a:r>
            </a:p>
          </p:txBody>
        </p:sp>
      </p:grpSp>
      <p:grpSp>
        <p:nvGrpSpPr>
          <p:cNvPr name="Group 44" id="44"/>
          <p:cNvGrpSpPr/>
          <p:nvPr/>
        </p:nvGrpSpPr>
        <p:grpSpPr>
          <a:xfrm rot="0">
            <a:off x="1280160" y="7680960"/>
            <a:ext cx="15727680" cy="1828800"/>
            <a:chOff x="0" y="0"/>
            <a:chExt cx="20970240" cy="2438400"/>
          </a:xfrm>
        </p:grpSpPr>
        <p:sp>
          <p:nvSpPr>
            <p:cNvPr name="Freeform 45" id="45"/>
            <p:cNvSpPr/>
            <p:nvPr/>
          </p:nvSpPr>
          <p:spPr>
            <a:xfrm flipH="false" flipV="false" rot="0">
              <a:off x="0" y="0"/>
              <a:ext cx="20970239" cy="2438400"/>
            </a:xfrm>
            <a:custGeom>
              <a:avLst/>
              <a:gdLst/>
              <a:ahLst/>
              <a:cxnLst/>
              <a:rect r="r" b="b" t="t" l="l"/>
              <a:pathLst>
                <a:path h="2438400" w="20970239">
                  <a:moveTo>
                    <a:pt x="0" y="0"/>
                  </a:moveTo>
                  <a:lnTo>
                    <a:pt x="20970239" y="0"/>
                  </a:lnTo>
                  <a:lnTo>
                    <a:pt x="20970239" y="2438400"/>
                  </a:lnTo>
                  <a:lnTo>
                    <a:pt x="0" y="2438400"/>
                  </a:lnTo>
                  <a:close/>
                </a:path>
              </a:pathLst>
            </a:custGeom>
            <a:blipFill>
              <a:blip r:embed="rId3">
                <a:alphaModFix amt="0"/>
              </a:blip>
              <a:stretch>
                <a:fillRect l="0" t="-117571" r="0" b="-117571"/>
              </a:stretch>
            </a:blipFill>
          </p:spPr>
        </p:sp>
        <p:sp>
          <p:nvSpPr>
            <p:cNvPr name="TextBox 46" id="46"/>
            <p:cNvSpPr txBox="true"/>
            <p:nvPr/>
          </p:nvSpPr>
          <p:spPr>
            <a:xfrm>
              <a:off x="0" y="-19050"/>
              <a:ext cx="20970240" cy="2457450"/>
            </a:xfrm>
            <a:prstGeom prst="rect">
              <a:avLst/>
            </a:prstGeom>
          </p:spPr>
          <p:txBody>
            <a:bodyPr anchor="ctr" rtlCol="false" tIns="0" lIns="0" bIns="0" rIns="0"/>
            <a:lstStyle/>
            <a:p>
              <a:pPr algn="l">
                <a:lnSpc>
                  <a:spcPts val="3600"/>
                </a:lnSpc>
              </a:pPr>
              <a:r>
                <a:rPr lang="en-US" sz="3000">
                  <a:solidFill>
                    <a:srgbClr val="000000"/>
                  </a:solidFill>
                  <a:latin typeface="Arial"/>
                  <a:ea typeface="Arial"/>
                  <a:cs typeface="Arial"/>
                  <a:sym typeface="Arial"/>
                </a:rPr>
                <a:t>• Treat scores as recommendations, not rigid rules</a:t>
              </a:r>
            </a:p>
            <a:p>
              <a:pPr algn="l">
                <a:lnSpc>
                  <a:spcPts val="3600"/>
                </a:lnSpc>
              </a:pPr>
              <a:r>
                <a:rPr lang="en-US" sz="3000">
                  <a:solidFill>
                    <a:srgbClr val="000000"/>
                  </a:solidFill>
                  <a:latin typeface="Arial"/>
                  <a:ea typeface="Arial"/>
                  <a:cs typeface="Arial"/>
                  <a:sym typeface="Arial"/>
                </a:rPr>
                <a:t>• Clinical judgement still matters most. The model supports decisions, doesn't replace them</a:t>
              </a:r>
            </a:p>
            <a:p>
              <a:pPr algn="l">
                <a:lnSpc>
                  <a:spcPts val="3600"/>
                </a:lnSpc>
              </a:pPr>
              <a:r>
                <a:rPr lang="en-US" sz="3000">
                  <a:solidFill>
                    <a:srgbClr val="000000"/>
                  </a:solidFill>
                  <a:latin typeface="Arial"/>
                  <a:ea typeface="Arial"/>
                  <a:cs typeface="Arial"/>
                  <a:sym typeface="Arial"/>
                </a:rPr>
                <a:t>• Even modest improvements in targeting can free up beds and improve outcomes</a:t>
              </a:r>
            </a:p>
          </p:txBody>
        </p:sp>
      </p:grpSp>
      <p:grpSp>
        <p:nvGrpSpPr>
          <p:cNvPr name="Group 47" id="47"/>
          <p:cNvGrpSpPr/>
          <p:nvPr/>
        </p:nvGrpSpPr>
        <p:grpSpPr>
          <a:xfrm rot="0">
            <a:off x="914400" y="9692640"/>
            <a:ext cx="16459200" cy="548402"/>
            <a:chOff x="0" y="0"/>
            <a:chExt cx="21945600" cy="731202"/>
          </a:xfrm>
        </p:grpSpPr>
        <p:sp>
          <p:nvSpPr>
            <p:cNvPr name="Freeform 48" id="48"/>
            <p:cNvSpPr/>
            <p:nvPr/>
          </p:nvSpPr>
          <p:spPr>
            <a:xfrm flipH="false" flipV="false" rot="0">
              <a:off x="0" y="0"/>
              <a:ext cx="21945600" cy="731200"/>
            </a:xfrm>
            <a:custGeom>
              <a:avLst/>
              <a:gdLst/>
              <a:ahLst/>
              <a:cxnLst/>
              <a:rect r="r" b="b" t="t" l="l"/>
              <a:pathLst>
                <a:path h="731200" w="21945600">
                  <a:moveTo>
                    <a:pt x="0" y="0"/>
                  </a:moveTo>
                  <a:lnTo>
                    <a:pt x="21945600" y="0"/>
                  </a:lnTo>
                  <a:lnTo>
                    <a:pt x="21945600" y="731200"/>
                  </a:lnTo>
                  <a:lnTo>
                    <a:pt x="0" y="731200"/>
                  </a:lnTo>
                  <a:close/>
                </a:path>
              </a:pathLst>
            </a:custGeom>
            <a:blipFill>
              <a:blip r:embed="rId3">
                <a:alphaModFix amt="0"/>
              </a:blip>
              <a:stretch>
                <a:fillRect l="0" t="-534806" r="0" b="-534807"/>
              </a:stretch>
            </a:blipFill>
          </p:spPr>
        </p:sp>
        <p:sp>
          <p:nvSpPr>
            <p:cNvPr name="TextBox 49" id="49"/>
            <p:cNvSpPr txBox="true"/>
            <p:nvPr/>
          </p:nvSpPr>
          <p:spPr>
            <a:xfrm>
              <a:off x="0" y="-19050"/>
              <a:ext cx="21945600" cy="750252"/>
            </a:xfrm>
            <a:prstGeom prst="rect">
              <a:avLst/>
            </a:prstGeom>
          </p:spPr>
          <p:txBody>
            <a:bodyPr anchor="ctr" rtlCol="false" tIns="0" lIns="0" bIns="0" rIns="0"/>
            <a:lstStyle/>
            <a:p>
              <a:pPr algn="l">
                <a:lnSpc>
                  <a:spcPts val="2160"/>
                </a:lnSpc>
              </a:pPr>
              <a:r>
                <a:rPr lang="en-US" sz="1800">
                  <a:solidFill>
                    <a:srgbClr val="6B7280"/>
                  </a:solidFill>
                  <a:latin typeface="Arial"/>
                  <a:ea typeface="Arial"/>
                  <a:cs typeface="Arial"/>
                  <a:sym typeface="Arial"/>
                </a:rPr>
                <a:t>SOURCE: Diabetes 130-US Hospitals for Years 1999-2008; UCI Machine Learning Repository</a:t>
              </a:r>
            </a:p>
          </p:txBody>
        </p:sp>
      </p:grpSp>
      <p:grpSp>
        <p:nvGrpSpPr>
          <p:cNvPr name="Group 50" id="50"/>
          <p:cNvGrpSpPr/>
          <p:nvPr/>
        </p:nvGrpSpPr>
        <p:grpSpPr>
          <a:xfrm rot="0">
            <a:off x="17007840" y="9692640"/>
            <a:ext cx="914400" cy="548402"/>
            <a:chOff x="0" y="0"/>
            <a:chExt cx="1219200" cy="731202"/>
          </a:xfrm>
        </p:grpSpPr>
        <p:sp>
          <p:nvSpPr>
            <p:cNvPr name="Freeform 51" id="51"/>
            <p:cNvSpPr/>
            <p:nvPr/>
          </p:nvSpPr>
          <p:spPr>
            <a:xfrm flipH="false" flipV="false" rot="0">
              <a:off x="0" y="0"/>
              <a:ext cx="1219200" cy="731200"/>
            </a:xfrm>
            <a:custGeom>
              <a:avLst/>
              <a:gdLst/>
              <a:ahLst/>
              <a:cxnLst/>
              <a:rect r="r" b="b" t="t" l="l"/>
              <a:pathLst>
                <a:path h="731200" w="1219200">
                  <a:moveTo>
                    <a:pt x="0" y="0"/>
                  </a:moveTo>
                  <a:lnTo>
                    <a:pt x="1219200" y="0"/>
                  </a:lnTo>
                  <a:lnTo>
                    <a:pt x="1219200" y="731200"/>
                  </a:lnTo>
                  <a:lnTo>
                    <a:pt x="0" y="731200"/>
                  </a:lnTo>
                  <a:close/>
                </a:path>
              </a:pathLst>
            </a:custGeom>
            <a:blipFill>
              <a:blip r:embed="rId3">
                <a:alphaModFix amt="0"/>
              </a:blip>
              <a:stretch>
                <a:fillRect l="-26948" t="0" r="-26948" b="0"/>
              </a:stretch>
            </a:blipFill>
          </p:spPr>
        </p:sp>
        <p:sp>
          <p:nvSpPr>
            <p:cNvPr name="TextBox 52" id="52"/>
            <p:cNvSpPr txBox="true"/>
            <p:nvPr/>
          </p:nvSpPr>
          <p:spPr>
            <a:xfrm>
              <a:off x="0" y="-38100"/>
              <a:ext cx="1219200" cy="769302"/>
            </a:xfrm>
            <a:prstGeom prst="rect">
              <a:avLst/>
            </a:prstGeom>
          </p:spPr>
          <p:txBody>
            <a:bodyPr anchor="ctr" rtlCol="false" tIns="0" lIns="0" bIns="0" rIns="0"/>
            <a:lstStyle/>
            <a:p>
              <a:pPr algn="r">
                <a:lnSpc>
                  <a:spcPts val="2400"/>
                </a:lnSpc>
              </a:pPr>
              <a:r>
                <a:rPr lang="en-US" sz="2000">
                  <a:solidFill>
                    <a:srgbClr val="808080"/>
                  </a:solidFill>
                  <a:latin typeface="Calibri (MS)"/>
                  <a:ea typeface="Calibri (MS)"/>
                  <a:cs typeface="Calibri (MS)"/>
                  <a:sym typeface="Calibri (MS)"/>
                </a:rPr>
                <a:t>9</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12850" y="190119"/>
            <a:ext cx="16459200" cy="1462802"/>
            <a:chOff x="0" y="0"/>
            <a:chExt cx="21945600" cy="1950402"/>
          </a:xfrm>
        </p:grpSpPr>
        <p:sp>
          <p:nvSpPr>
            <p:cNvPr name="Freeform 3" id="3"/>
            <p:cNvSpPr/>
            <p:nvPr/>
          </p:nvSpPr>
          <p:spPr>
            <a:xfrm flipH="false" flipV="false" rot="0">
              <a:off x="0" y="0"/>
              <a:ext cx="21945600" cy="1950400"/>
            </a:xfrm>
            <a:custGeom>
              <a:avLst/>
              <a:gdLst/>
              <a:ahLst/>
              <a:cxnLst/>
              <a:rect r="r" b="b" t="t" l="l"/>
              <a:pathLst>
                <a:path h="1950400" w="21945600">
                  <a:moveTo>
                    <a:pt x="0" y="0"/>
                  </a:moveTo>
                  <a:lnTo>
                    <a:pt x="21945600" y="0"/>
                  </a:lnTo>
                  <a:lnTo>
                    <a:pt x="21945600" y="1950400"/>
                  </a:lnTo>
                  <a:lnTo>
                    <a:pt x="0" y="1950400"/>
                  </a:lnTo>
                  <a:close/>
                </a:path>
              </a:pathLst>
            </a:custGeom>
            <a:blipFill>
              <a:blip r:embed="rId3">
                <a:alphaModFix amt="0"/>
              </a:blip>
              <a:stretch>
                <a:fillRect l="0" t="-169242" r="0" b="-169242"/>
              </a:stretch>
            </a:blipFill>
          </p:spPr>
        </p:sp>
        <p:sp>
          <p:nvSpPr>
            <p:cNvPr name="TextBox 4" id="4"/>
            <p:cNvSpPr txBox="true"/>
            <p:nvPr/>
          </p:nvSpPr>
          <p:spPr>
            <a:xfrm>
              <a:off x="0" y="-28575"/>
              <a:ext cx="21945600" cy="1978977"/>
            </a:xfrm>
            <a:prstGeom prst="rect">
              <a:avLst/>
            </a:prstGeom>
          </p:spPr>
          <p:txBody>
            <a:bodyPr anchor="ctr" rtlCol="false" tIns="0" lIns="0" bIns="0" rIns="0"/>
            <a:lstStyle/>
            <a:p>
              <a:pPr algn="l">
                <a:lnSpc>
                  <a:spcPts val="8640"/>
                </a:lnSpc>
              </a:pPr>
              <a:r>
                <a:rPr lang="en-US" b="true" sz="7200">
                  <a:solidFill>
                    <a:srgbClr val="003D5C"/>
                  </a:solidFill>
                  <a:latin typeface="Arial Bold"/>
                  <a:ea typeface="Arial Bold"/>
                  <a:cs typeface="Arial Bold"/>
                  <a:sym typeface="Arial Bold"/>
                </a:rPr>
                <a:t>Implementation - Clinical Teams</a:t>
              </a:r>
            </a:p>
          </p:txBody>
        </p:sp>
      </p:grpSp>
      <p:grpSp>
        <p:nvGrpSpPr>
          <p:cNvPr name="Group 5" id="5"/>
          <p:cNvGrpSpPr/>
          <p:nvPr/>
        </p:nvGrpSpPr>
        <p:grpSpPr>
          <a:xfrm rot="0">
            <a:off x="1430998" y="1862347"/>
            <a:ext cx="15522320" cy="7830293"/>
            <a:chOff x="0" y="0"/>
            <a:chExt cx="20568006" cy="10375608"/>
          </a:xfrm>
        </p:grpSpPr>
        <p:sp>
          <p:nvSpPr>
            <p:cNvPr name="Freeform 6" id="6"/>
            <p:cNvSpPr/>
            <p:nvPr/>
          </p:nvSpPr>
          <p:spPr>
            <a:xfrm flipH="false" flipV="false" rot="0">
              <a:off x="0" y="0"/>
              <a:ext cx="20568031" cy="10375646"/>
            </a:xfrm>
            <a:custGeom>
              <a:avLst/>
              <a:gdLst/>
              <a:ahLst/>
              <a:cxnLst/>
              <a:rect r="r" b="b" t="t" l="l"/>
              <a:pathLst>
                <a:path h="10375646" w="20568031">
                  <a:moveTo>
                    <a:pt x="0" y="0"/>
                  </a:moveTo>
                  <a:lnTo>
                    <a:pt x="20568031" y="0"/>
                  </a:lnTo>
                  <a:lnTo>
                    <a:pt x="20568031" y="10375646"/>
                  </a:lnTo>
                  <a:lnTo>
                    <a:pt x="0" y="10375646"/>
                  </a:lnTo>
                  <a:lnTo>
                    <a:pt x="0" y="0"/>
                  </a:lnTo>
                  <a:close/>
                </a:path>
              </a:pathLst>
            </a:custGeom>
            <a:blipFill>
              <a:blip r:embed="rId4"/>
              <a:stretch>
                <a:fillRect l="-4140" t="-15689" r="-3789" b="-10129"/>
              </a:stretch>
            </a:blipFill>
          </p:spPr>
        </p:sp>
      </p:grpSp>
      <p:grpSp>
        <p:nvGrpSpPr>
          <p:cNvPr name="Group 7" id="7"/>
          <p:cNvGrpSpPr/>
          <p:nvPr/>
        </p:nvGrpSpPr>
        <p:grpSpPr>
          <a:xfrm rot="0">
            <a:off x="17007840" y="9692640"/>
            <a:ext cx="914400" cy="548402"/>
            <a:chOff x="0" y="0"/>
            <a:chExt cx="1219200" cy="731202"/>
          </a:xfrm>
        </p:grpSpPr>
        <p:sp>
          <p:nvSpPr>
            <p:cNvPr name="Freeform 8" id="8"/>
            <p:cNvSpPr/>
            <p:nvPr/>
          </p:nvSpPr>
          <p:spPr>
            <a:xfrm flipH="false" flipV="false" rot="0">
              <a:off x="0" y="0"/>
              <a:ext cx="1219200" cy="731200"/>
            </a:xfrm>
            <a:custGeom>
              <a:avLst/>
              <a:gdLst/>
              <a:ahLst/>
              <a:cxnLst/>
              <a:rect r="r" b="b" t="t" l="l"/>
              <a:pathLst>
                <a:path h="731200" w="1219200">
                  <a:moveTo>
                    <a:pt x="0" y="0"/>
                  </a:moveTo>
                  <a:lnTo>
                    <a:pt x="1219200" y="0"/>
                  </a:lnTo>
                  <a:lnTo>
                    <a:pt x="1219200" y="731200"/>
                  </a:lnTo>
                  <a:lnTo>
                    <a:pt x="0" y="731200"/>
                  </a:lnTo>
                  <a:close/>
                </a:path>
              </a:pathLst>
            </a:custGeom>
            <a:blipFill>
              <a:blip r:embed="rId3">
                <a:alphaModFix amt="0"/>
              </a:blip>
              <a:stretch>
                <a:fillRect l="-26948" t="0" r="-26948" b="0"/>
              </a:stretch>
            </a:blipFill>
          </p:spPr>
        </p:sp>
        <p:sp>
          <p:nvSpPr>
            <p:cNvPr name="TextBox 9" id="9"/>
            <p:cNvSpPr txBox="true"/>
            <p:nvPr/>
          </p:nvSpPr>
          <p:spPr>
            <a:xfrm>
              <a:off x="0" y="-38100"/>
              <a:ext cx="1219200" cy="769302"/>
            </a:xfrm>
            <a:prstGeom prst="rect">
              <a:avLst/>
            </a:prstGeom>
          </p:spPr>
          <p:txBody>
            <a:bodyPr anchor="ctr" rtlCol="false" tIns="0" lIns="0" bIns="0" rIns="0"/>
            <a:lstStyle/>
            <a:p>
              <a:pPr algn="r">
                <a:lnSpc>
                  <a:spcPts val="2400"/>
                </a:lnSpc>
              </a:pPr>
              <a:r>
                <a:rPr lang="en-US" sz="2000">
                  <a:solidFill>
                    <a:srgbClr val="808080"/>
                  </a:solidFill>
                  <a:latin typeface="Calibri (MS)"/>
                  <a:ea typeface="Calibri (MS)"/>
                  <a:cs typeface="Calibri (MS)"/>
                  <a:sym typeface="Calibri (MS)"/>
                </a:rPr>
                <a:t>10</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548640"/>
            <a:ext cx="16459200" cy="1097280"/>
            <a:chOff x="0" y="0"/>
            <a:chExt cx="21945600" cy="1463040"/>
          </a:xfrm>
        </p:grpSpPr>
        <p:sp>
          <p:nvSpPr>
            <p:cNvPr name="Freeform 3" id="3"/>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4" id="4"/>
            <p:cNvSpPr txBox="true"/>
            <p:nvPr/>
          </p:nvSpPr>
          <p:spPr>
            <a:xfrm>
              <a:off x="0" y="-28575"/>
              <a:ext cx="21945600" cy="1491615"/>
            </a:xfrm>
            <a:prstGeom prst="rect">
              <a:avLst/>
            </a:prstGeom>
          </p:spPr>
          <p:txBody>
            <a:bodyPr anchor="ctr" rtlCol="false" tIns="0" lIns="0" bIns="0" rIns="0"/>
            <a:lstStyle/>
            <a:p>
              <a:pPr algn="l">
                <a:lnSpc>
                  <a:spcPts val="8640"/>
                </a:lnSpc>
              </a:pPr>
              <a:r>
                <a:rPr lang="en-US" b="true" sz="7200">
                  <a:solidFill>
                    <a:srgbClr val="003D5C"/>
                  </a:solidFill>
                  <a:latin typeface="Arial Bold"/>
                  <a:ea typeface="Arial Bold"/>
                  <a:cs typeface="Arial Bold"/>
                  <a:sym typeface="Arial Bold"/>
                </a:rPr>
                <a:t>Implementation - Resource Planning</a:t>
              </a:r>
            </a:p>
          </p:txBody>
        </p:sp>
      </p:grpSp>
      <p:grpSp>
        <p:nvGrpSpPr>
          <p:cNvPr name="Group 5" id="5"/>
          <p:cNvGrpSpPr/>
          <p:nvPr/>
        </p:nvGrpSpPr>
        <p:grpSpPr>
          <a:xfrm rot="0">
            <a:off x="914400" y="1828800"/>
            <a:ext cx="16459200" cy="2194560"/>
            <a:chOff x="0" y="0"/>
            <a:chExt cx="21945600" cy="2926080"/>
          </a:xfrm>
        </p:grpSpPr>
        <p:sp>
          <p:nvSpPr>
            <p:cNvPr name="Freeform 6" id="6"/>
            <p:cNvSpPr/>
            <p:nvPr/>
          </p:nvSpPr>
          <p:spPr>
            <a:xfrm flipH="false" flipV="false" rot="0">
              <a:off x="0" y="0"/>
              <a:ext cx="21945600" cy="2926080"/>
            </a:xfrm>
            <a:custGeom>
              <a:avLst/>
              <a:gdLst/>
              <a:ahLst/>
              <a:cxnLst/>
              <a:rect r="r" b="b" t="t" l="l"/>
              <a:pathLst>
                <a:path h="2926080" w="21945600">
                  <a:moveTo>
                    <a:pt x="0" y="0"/>
                  </a:moveTo>
                  <a:lnTo>
                    <a:pt x="21945600" y="0"/>
                  </a:lnTo>
                  <a:lnTo>
                    <a:pt x="21945600" y="2926080"/>
                  </a:lnTo>
                  <a:lnTo>
                    <a:pt x="0" y="2926080"/>
                  </a:lnTo>
                  <a:close/>
                </a:path>
              </a:pathLst>
            </a:custGeom>
            <a:solidFill>
              <a:srgbClr val="E8F4F8"/>
            </a:solidFill>
          </p:spPr>
        </p:sp>
      </p:grpSp>
      <p:grpSp>
        <p:nvGrpSpPr>
          <p:cNvPr name="Group 7" id="7"/>
          <p:cNvGrpSpPr/>
          <p:nvPr/>
        </p:nvGrpSpPr>
        <p:grpSpPr>
          <a:xfrm rot="0">
            <a:off x="1280160" y="2011680"/>
            <a:ext cx="9144000" cy="731520"/>
            <a:chOff x="0" y="0"/>
            <a:chExt cx="12192000" cy="975360"/>
          </a:xfrm>
        </p:grpSpPr>
        <p:sp>
          <p:nvSpPr>
            <p:cNvPr name="Freeform 8" id="8"/>
            <p:cNvSpPr/>
            <p:nvPr/>
          </p:nvSpPr>
          <p:spPr>
            <a:xfrm flipH="false" flipV="false" rot="0">
              <a:off x="0" y="0"/>
              <a:ext cx="12192000" cy="975360"/>
            </a:xfrm>
            <a:custGeom>
              <a:avLst/>
              <a:gdLst/>
              <a:ahLst/>
              <a:cxnLst/>
              <a:rect r="r" b="b" t="t" l="l"/>
              <a:pathLst>
                <a:path h="975360" w="12192000">
                  <a:moveTo>
                    <a:pt x="0" y="0"/>
                  </a:moveTo>
                  <a:lnTo>
                    <a:pt x="12192000" y="0"/>
                  </a:lnTo>
                  <a:lnTo>
                    <a:pt x="12192000" y="975360"/>
                  </a:lnTo>
                  <a:lnTo>
                    <a:pt x="0" y="975360"/>
                  </a:lnTo>
                  <a:close/>
                </a:path>
              </a:pathLst>
            </a:custGeom>
            <a:blipFill>
              <a:blip r:embed="rId3">
                <a:alphaModFix amt="0"/>
              </a:blip>
              <a:stretch>
                <a:fillRect l="0" t="-193562" r="0" b="-193562"/>
              </a:stretch>
            </a:blipFill>
          </p:spPr>
        </p:sp>
        <p:sp>
          <p:nvSpPr>
            <p:cNvPr name="TextBox 9" id="9"/>
            <p:cNvSpPr txBox="true"/>
            <p:nvPr/>
          </p:nvSpPr>
          <p:spPr>
            <a:xfrm>
              <a:off x="0" y="-28575"/>
              <a:ext cx="12192000" cy="1003935"/>
            </a:xfrm>
            <a:prstGeom prst="rect">
              <a:avLst/>
            </a:prstGeom>
          </p:spPr>
          <p:txBody>
            <a:bodyPr anchor="ctr" rtlCol="false" tIns="0" lIns="0" bIns="0" rIns="0"/>
            <a:lstStyle/>
            <a:p>
              <a:pPr algn="l">
                <a:lnSpc>
                  <a:spcPts val="3840"/>
                </a:lnSpc>
              </a:pPr>
              <a:r>
                <a:rPr lang="en-US" b="true" sz="3200">
                  <a:solidFill>
                    <a:srgbClr val="003D5C"/>
                  </a:solidFill>
                  <a:latin typeface="Arial Bold"/>
                  <a:ea typeface="Arial Bold"/>
                  <a:cs typeface="Arial Bold"/>
                  <a:sym typeface="Arial Bold"/>
                </a:rPr>
                <a:t>This Week's Discharges: 500 patients</a:t>
              </a:r>
            </a:p>
          </p:txBody>
        </p:sp>
      </p:grpSp>
      <p:grpSp>
        <p:nvGrpSpPr>
          <p:cNvPr name="Group 10" id="10"/>
          <p:cNvGrpSpPr/>
          <p:nvPr/>
        </p:nvGrpSpPr>
        <p:grpSpPr>
          <a:xfrm rot="0">
            <a:off x="1280160" y="2926080"/>
            <a:ext cx="2926080" cy="731520"/>
            <a:chOff x="0" y="0"/>
            <a:chExt cx="3901440" cy="975360"/>
          </a:xfrm>
        </p:grpSpPr>
        <p:sp>
          <p:nvSpPr>
            <p:cNvPr name="Freeform 11" id="11"/>
            <p:cNvSpPr/>
            <p:nvPr/>
          </p:nvSpPr>
          <p:spPr>
            <a:xfrm flipH="false" flipV="false" rot="0">
              <a:off x="0" y="0"/>
              <a:ext cx="3901440" cy="975360"/>
            </a:xfrm>
            <a:custGeom>
              <a:avLst/>
              <a:gdLst/>
              <a:ahLst/>
              <a:cxnLst/>
              <a:rect r="r" b="b" t="t" l="l"/>
              <a:pathLst>
                <a:path h="975360" w="3901440">
                  <a:moveTo>
                    <a:pt x="0" y="0"/>
                  </a:moveTo>
                  <a:lnTo>
                    <a:pt x="3901440" y="0"/>
                  </a:lnTo>
                  <a:lnTo>
                    <a:pt x="3901440" y="975360"/>
                  </a:lnTo>
                  <a:lnTo>
                    <a:pt x="0" y="975360"/>
                  </a:lnTo>
                  <a:close/>
                </a:path>
              </a:pathLst>
            </a:custGeom>
            <a:solidFill>
              <a:srgbClr val="EF4444"/>
            </a:solidFill>
          </p:spPr>
        </p:sp>
      </p:grpSp>
      <p:grpSp>
        <p:nvGrpSpPr>
          <p:cNvPr name="Group 12" id="12"/>
          <p:cNvGrpSpPr/>
          <p:nvPr/>
        </p:nvGrpSpPr>
        <p:grpSpPr>
          <a:xfrm rot="0">
            <a:off x="1280160" y="2926080"/>
            <a:ext cx="2926080" cy="731520"/>
            <a:chOff x="0" y="0"/>
            <a:chExt cx="3901440" cy="975360"/>
          </a:xfrm>
        </p:grpSpPr>
        <p:sp>
          <p:nvSpPr>
            <p:cNvPr name="Freeform 13" id="13"/>
            <p:cNvSpPr/>
            <p:nvPr/>
          </p:nvSpPr>
          <p:spPr>
            <a:xfrm flipH="false" flipV="false" rot="0">
              <a:off x="0" y="0"/>
              <a:ext cx="3901440" cy="975360"/>
            </a:xfrm>
            <a:custGeom>
              <a:avLst/>
              <a:gdLst/>
              <a:ahLst/>
              <a:cxnLst/>
              <a:rect r="r" b="b" t="t" l="l"/>
              <a:pathLst>
                <a:path h="975360" w="3901440">
                  <a:moveTo>
                    <a:pt x="0" y="0"/>
                  </a:moveTo>
                  <a:lnTo>
                    <a:pt x="3901440" y="0"/>
                  </a:lnTo>
                  <a:lnTo>
                    <a:pt x="3901440" y="975360"/>
                  </a:lnTo>
                  <a:lnTo>
                    <a:pt x="0" y="975360"/>
                  </a:lnTo>
                  <a:close/>
                </a:path>
              </a:pathLst>
            </a:custGeom>
            <a:blipFill>
              <a:blip r:embed="rId3">
                <a:alphaModFix amt="0"/>
              </a:blip>
              <a:stretch>
                <a:fillRect l="0" t="-27940" r="0" b="-27940"/>
              </a:stretch>
            </a:blipFill>
          </p:spPr>
        </p:sp>
        <p:sp>
          <p:nvSpPr>
            <p:cNvPr name="TextBox 14" id="14"/>
            <p:cNvSpPr txBox="true"/>
            <p:nvPr/>
          </p:nvSpPr>
          <p:spPr>
            <a:xfrm>
              <a:off x="0" y="-9525"/>
              <a:ext cx="3901440" cy="984885"/>
            </a:xfrm>
            <a:prstGeom prst="rect">
              <a:avLst/>
            </a:prstGeom>
          </p:spPr>
          <p:txBody>
            <a:bodyPr anchor="ctr" rtlCol="false" tIns="0" lIns="0" bIns="0" rIns="0"/>
            <a:lstStyle/>
            <a:p>
              <a:pPr algn="ctr">
                <a:lnSpc>
                  <a:spcPts val="2879"/>
                </a:lnSpc>
              </a:pPr>
              <a:r>
                <a:rPr lang="en-US" sz="2400">
                  <a:solidFill>
                    <a:srgbClr val="FFFFFF"/>
                  </a:solidFill>
                  <a:latin typeface="Arial"/>
                  <a:ea typeface="Arial"/>
                  <a:cs typeface="Arial"/>
                  <a:sym typeface="Arial"/>
                </a:rPr>
                <a:t>High: 80</a:t>
              </a:r>
            </a:p>
          </p:txBody>
        </p:sp>
      </p:grpSp>
      <p:grpSp>
        <p:nvGrpSpPr>
          <p:cNvPr name="Group 15" id="15"/>
          <p:cNvGrpSpPr/>
          <p:nvPr/>
        </p:nvGrpSpPr>
        <p:grpSpPr>
          <a:xfrm rot="0">
            <a:off x="4206240" y="2926080"/>
            <a:ext cx="4389120" cy="731520"/>
            <a:chOff x="0" y="0"/>
            <a:chExt cx="5852160" cy="975360"/>
          </a:xfrm>
        </p:grpSpPr>
        <p:sp>
          <p:nvSpPr>
            <p:cNvPr name="Freeform 16" id="16"/>
            <p:cNvSpPr/>
            <p:nvPr/>
          </p:nvSpPr>
          <p:spPr>
            <a:xfrm flipH="false" flipV="false" rot="0">
              <a:off x="0" y="0"/>
              <a:ext cx="5852160" cy="975360"/>
            </a:xfrm>
            <a:custGeom>
              <a:avLst/>
              <a:gdLst/>
              <a:ahLst/>
              <a:cxnLst/>
              <a:rect r="r" b="b" t="t" l="l"/>
              <a:pathLst>
                <a:path h="975360" w="5852160">
                  <a:moveTo>
                    <a:pt x="0" y="0"/>
                  </a:moveTo>
                  <a:lnTo>
                    <a:pt x="5852160" y="0"/>
                  </a:lnTo>
                  <a:lnTo>
                    <a:pt x="5852160" y="975360"/>
                  </a:lnTo>
                  <a:lnTo>
                    <a:pt x="0" y="975360"/>
                  </a:lnTo>
                  <a:close/>
                </a:path>
              </a:pathLst>
            </a:custGeom>
            <a:solidFill>
              <a:srgbClr val="F59E0B"/>
            </a:solidFill>
          </p:spPr>
        </p:sp>
      </p:grpSp>
      <p:grpSp>
        <p:nvGrpSpPr>
          <p:cNvPr name="Group 17" id="17"/>
          <p:cNvGrpSpPr/>
          <p:nvPr/>
        </p:nvGrpSpPr>
        <p:grpSpPr>
          <a:xfrm rot="0">
            <a:off x="4206240" y="2926080"/>
            <a:ext cx="4389120" cy="731520"/>
            <a:chOff x="0" y="0"/>
            <a:chExt cx="5852160" cy="975360"/>
          </a:xfrm>
        </p:grpSpPr>
        <p:sp>
          <p:nvSpPr>
            <p:cNvPr name="Freeform 18" id="18"/>
            <p:cNvSpPr/>
            <p:nvPr/>
          </p:nvSpPr>
          <p:spPr>
            <a:xfrm flipH="false" flipV="false" rot="0">
              <a:off x="0" y="0"/>
              <a:ext cx="5852160" cy="975360"/>
            </a:xfrm>
            <a:custGeom>
              <a:avLst/>
              <a:gdLst/>
              <a:ahLst/>
              <a:cxnLst/>
              <a:rect r="r" b="b" t="t" l="l"/>
              <a:pathLst>
                <a:path h="975360" w="5852160">
                  <a:moveTo>
                    <a:pt x="0" y="0"/>
                  </a:moveTo>
                  <a:lnTo>
                    <a:pt x="5852160" y="0"/>
                  </a:lnTo>
                  <a:lnTo>
                    <a:pt x="5852160" y="975360"/>
                  </a:lnTo>
                  <a:lnTo>
                    <a:pt x="0" y="975360"/>
                  </a:lnTo>
                  <a:close/>
                </a:path>
              </a:pathLst>
            </a:custGeom>
            <a:blipFill>
              <a:blip r:embed="rId3">
                <a:alphaModFix amt="0"/>
              </a:blip>
              <a:stretch>
                <a:fillRect l="0" t="-66910" r="0" b="-66910"/>
              </a:stretch>
            </a:blipFill>
          </p:spPr>
        </p:sp>
        <p:sp>
          <p:nvSpPr>
            <p:cNvPr name="TextBox 19" id="19"/>
            <p:cNvSpPr txBox="true"/>
            <p:nvPr/>
          </p:nvSpPr>
          <p:spPr>
            <a:xfrm>
              <a:off x="0" y="-9525"/>
              <a:ext cx="5852160" cy="984885"/>
            </a:xfrm>
            <a:prstGeom prst="rect">
              <a:avLst/>
            </a:prstGeom>
          </p:spPr>
          <p:txBody>
            <a:bodyPr anchor="ctr" rtlCol="false" tIns="0" lIns="0" bIns="0" rIns="0"/>
            <a:lstStyle/>
            <a:p>
              <a:pPr algn="ctr">
                <a:lnSpc>
                  <a:spcPts val="2879"/>
                </a:lnSpc>
              </a:pPr>
              <a:r>
                <a:rPr lang="en-US" sz="2400">
                  <a:solidFill>
                    <a:srgbClr val="FFFFFF"/>
                  </a:solidFill>
                  <a:latin typeface="Arial"/>
                  <a:ea typeface="Arial"/>
                  <a:cs typeface="Arial"/>
                  <a:sym typeface="Arial"/>
                </a:rPr>
                <a:t>Medium: 120</a:t>
              </a:r>
            </a:p>
          </p:txBody>
        </p:sp>
      </p:grpSp>
      <p:grpSp>
        <p:nvGrpSpPr>
          <p:cNvPr name="Group 20" id="20"/>
          <p:cNvGrpSpPr/>
          <p:nvPr/>
        </p:nvGrpSpPr>
        <p:grpSpPr>
          <a:xfrm rot="0">
            <a:off x="8595360" y="2926080"/>
            <a:ext cx="7315200" cy="731520"/>
            <a:chOff x="0" y="0"/>
            <a:chExt cx="9753600" cy="975360"/>
          </a:xfrm>
        </p:grpSpPr>
        <p:sp>
          <p:nvSpPr>
            <p:cNvPr name="Freeform 21" id="21"/>
            <p:cNvSpPr/>
            <p:nvPr/>
          </p:nvSpPr>
          <p:spPr>
            <a:xfrm flipH="false" flipV="false" rot="0">
              <a:off x="0" y="0"/>
              <a:ext cx="9753600" cy="975360"/>
            </a:xfrm>
            <a:custGeom>
              <a:avLst/>
              <a:gdLst/>
              <a:ahLst/>
              <a:cxnLst/>
              <a:rect r="r" b="b" t="t" l="l"/>
              <a:pathLst>
                <a:path h="975360" w="9753600">
                  <a:moveTo>
                    <a:pt x="0" y="0"/>
                  </a:moveTo>
                  <a:lnTo>
                    <a:pt x="9753600" y="0"/>
                  </a:lnTo>
                  <a:lnTo>
                    <a:pt x="9753600" y="975360"/>
                  </a:lnTo>
                  <a:lnTo>
                    <a:pt x="0" y="975360"/>
                  </a:lnTo>
                  <a:close/>
                </a:path>
              </a:pathLst>
            </a:custGeom>
            <a:solidFill>
              <a:srgbClr val="10B981"/>
            </a:solidFill>
          </p:spPr>
        </p:sp>
      </p:grpSp>
      <p:grpSp>
        <p:nvGrpSpPr>
          <p:cNvPr name="Group 22" id="22"/>
          <p:cNvGrpSpPr/>
          <p:nvPr/>
        </p:nvGrpSpPr>
        <p:grpSpPr>
          <a:xfrm rot="0">
            <a:off x="8595360" y="2926080"/>
            <a:ext cx="7315200" cy="731520"/>
            <a:chOff x="0" y="0"/>
            <a:chExt cx="9753600" cy="975360"/>
          </a:xfrm>
        </p:grpSpPr>
        <p:sp>
          <p:nvSpPr>
            <p:cNvPr name="Freeform 23" id="23"/>
            <p:cNvSpPr/>
            <p:nvPr/>
          </p:nvSpPr>
          <p:spPr>
            <a:xfrm flipH="false" flipV="false" rot="0">
              <a:off x="0" y="0"/>
              <a:ext cx="9753600" cy="975360"/>
            </a:xfrm>
            <a:custGeom>
              <a:avLst/>
              <a:gdLst/>
              <a:ahLst/>
              <a:cxnLst/>
              <a:rect r="r" b="b" t="t" l="l"/>
              <a:pathLst>
                <a:path h="975360" w="9753600">
                  <a:moveTo>
                    <a:pt x="0" y="0"/>
                  </a:moveTo>
                  <a:lnTo>
                    <a:pt x="9753600" y="0"/>
                  </a:lnTo>
                  <a:lnTo>
                    <a:pt x="9753600" y="975360"/>
                  </a:lnTo>
                  <a:lnTo>
                    <a:pt x="0" y="975360"/>
                  </a:lnTo>
                  <a:close/>
                </a:path>
              </a:pathLst>
            </a:custGeom>
            <a:blipFill>
              <a:blip r:embed="rId3">
                <a:alphaModFix amt="0"/>
              </a:blip>
              <a:stretch>
                <a:fillRect l="0" t="-144850" r="0" b="-144850"/>
              </a:stretch>
            </a:blipFill>
          </p:spPr>
        </p:sp>
        <p:sp>
          <p:nvSpPr>
            <p:cNvPr name="TextBox 24" id="24"/>
            <p:cNvSpPr txBox="true"/>
            <p:nvPr/>
          </p:nvSpPr>
          <p:spPr>
            <a:xfrm>
              <a:off x="0" y="-9525"/>
              <a:ext cx="9753600" cy="984885"/>
            </a:xfrm>
            <a:prstGeom prst="rect">
              <a:avLst/>
            </a:prstGeom>
          </p:spPr>
          <p:txBody>
            <a:bodyPr anchor="ctr" rtlCol="false" tIns="0" lIns="0" bIns="0" rIns="0"/>
            <a:lstStyle/>
            <a:p>
              <a:pPr algn="ctr">
                <a:lnSpc>
                  <a:spcPts val="2879"/>
                </a:lnSpc>
              </a:pPr>
              <a:r>
                <a:rPr lang="en-US" sz="2400">
                  <a:solidFill>
                    <a:srgbClr val="FFFFFF"/>
                  </a:solidFill>
                  <a:latin typeface="Arial"/>
                  <a:ea typeface="Arial"/>
                  <a:cs typeface="Arial"/>
                  <a:sym typeface="Arial"/>
                </a:rPr>
                <a:t>Low: 300</a:t>
              </a:r>
            </a:p>
          </p:txBody>
        </p:sp>
      </p:grpSp>
      <p:grpSp>
        <p:nvGrpSpPr>
          <p:cNvPr name="Group 25" id="25"/>
          <p:cNvGrpSpPr/>
          <p:nvPr/>
        </p:nvGrpSpPr>
        <p:grpSpPr>
          <a:xfrm rot="0">
            <a:off x="914400" y="4389120"/>
            <a:ext cx="5120640" cy="3657600"/>
            <a:chOff x="0" y="0"/>
            <a:chExt cx="6827520" cy="4876800"/>
          </a:xfrm>
        </p:grpSpPr>
        <p:sp>
          <p:nvSpPr>
            <p:cNvPr name="Freeform 26" id="26"/>
            <p:cNvSpPr/>
            <p:nvPr/>
          </p:nvSpPr>
          <p:spPr>
            <a:xfrm flipH="false" flipV="false" rot="0">
              <a:off x="0" y="0"/>
              <a:ext cx="6827520" cy="4876800"/>
            </a:xfrm>
            <a:custGeom>
              <a:avLst/>
              <a:gdLst/>
              <a:ahLst/>
              <a:cxnLst/>
              <a:rect r="r" b="b" t="t" l="l"/>
              <a:pathLst>
                <a:path h="4876800" w="6827520">
                  <a:moveTo>
                    <a:pt x="0" y="0"/>
                  </a:moveTo>
                  <a:lnTo>
                    <a:pt x="6827520" y="0"/>
                  </a:lnTo>
                  <a:lnTo>
                    <a:pt x="6827520" y="4876800"/>
                  </a:lnTo>
                  <a:lnTo>
                    <a:pt x="0" y="4876800"/>
                  </a:lnTo>
                  <a:close/>
                </a:path>
              </a:pathLst>
            </a:custGeom>
            <a:solidFill>
              <a:srgbClr val="FFFFFF"/>
            </a:solidFill>
          </p:spPr>
        </p:sp>
      </p:grpSp>
      <p:grpSp>
        <p:nvGrpSpPr>
          <p:cNvPr name="Group 27" id="27"/>
          <p:cNvGrpSpPr/>
          <p:nvPr/>
        </p:nvGrpSpPr>
        <p:grpSpPr>
          <a:xfrm rot="0">
            <a:off x="914400" y="4389120"/>
            <a:ext cx="146304" cy="3657600"/>
            <a:chOff x="0" y="0"/>
            <a:chExt cx="195072" cy="4876800"/>
          </a:xfrm>
        </p:grpSpPr>
        <p:sp>
          <p:nvSpPr>
            <p:cNvPr name="Freeform 28" id="28"/>
            <p:cNvSpPr/>
            <p:nvPr/>
          </p:nvSpPr>
          <p:spPr>
            <a:xfrm flipH="false" flipV="false" rot="0">
              <a:off x="0" y="0"/>
              <a:ext cx="195072" cy="4876800"/>
            </a:xfrm>
            <a:custGeom>
              <a:avLst/>
              <a:gdLst/>
              <a:ahLst/>
              <a:cxnLst/>
              <a:rect r="r" b="b" t="t" l="l"/>
              <a:pathLst>
                <a:path h="4876800" w="195072">
                  <a:moveTo>
                    <a:pt x="0" y="0"/>
                  </a:moveTo>
                  <a:lnTo>
                    <a:pt x="195072" y="0"/>
                  </a:lnTo>
                  <a:lnTo>
                    <a:pt x="195072" y="4876800"/>
                  </a:lnTo>
                  <a:lnTo>
                    <a:pt x="0" y="4876800"/>
                  </a:lnTo>
                  <a:close/>
                </a:path>
              </a:pathLst>
            </a:custGeom>
            <a:solidFill>
              <a:srgbClr val="EF4444"/>
            </a:solidFill>
          </p:spPr>
        </p:sp>
      </p:grpSp>
      <p:grpSp>
        <p:nvGrpSpPr>
          <p:cNvPr name="Group 29" id="29"/>
          <p:cNvGrpSpPr/>
          <p:nvPr/>
        </p:nvGrpSpPr>
        <p:grpSpPr>
          <a:xfrm rot="0">
            <a:off x="1280160" y="4663440"/>
            <a:ext cx="4389120" cy="731520"/>
            <a:chOff x="0" y="0"/>
            <a:chExt cx="5852160" cy="975360"/>
          </a:xfrm>
        </p:grpSpPr>
        <p:sp>
          <p:nvSpPr>
            <p:cNvPr name="Freeform 30" id="30"/>
            <p:cNvSpPr/>
            <p:nvPr/>
          </p:nvSpPr>
          <p:spPr>
            <a:xfrm flipH="false" flipV="false" rot="0">
              <a:off x="0" y="0"/>
              <a:ext cx="5852160" cy="975360"/>
            </a:xfrm>
            <a:custGeom>
              <a:avLst/>
              <a:gdLst/>
              <a:ahLst/>
              <a:cxnLst/>
              <a:rect r="r" b="b" t="t" l="l"/>
              <a:pathLst>
                <a:path h="975360" w="5852160">
                  <a:moveTo>
                    <a:pt x="0" y="0"/>
                  </a:moveTo>
                  <a:lnTo>
                    <a:pt x="5852160" y="0"/>
                  </a:lnTo>
                  <a:lnTo>
                    <a:pt x="5852160" y="975360"/>
                  </a:lnTo>
                  <a:lnTo>
                    <a:pt x="0" y="975360"/>
                  </a:lnTo>
                  <a:close/>
                </a:path>
              </a:pathLst>
            </a:custGeom>
            <a:blipFill>
              <a:blip r:embed="rId3">
                <a:alphaModFix amt="0"/>
              </a:blip>
              <a:stretch>
                <a:fillRect l="0" t="-66910" r="0" b="-66910"/>
              </a:stretch>
            </a:blipFill>
          </p:spPr>
        </p:sp>
        <p:sp>
          <p:nvSpPr>
            <p:cNvPr name="TextBox 31" id="31"/>
            <p:cNvSpPr txBox="true"/>
            <p:nvPr/>
          </p:nvSpPr>
          <p:spPr>
            <a:xfrm>
              <a:off x="0" y="-19050"/>
              <a:ext cx="5852160" cy="994410"/>
            </a:xfrm>
            <a:prstGeom prst="rect">
              <a:avLst/>
            </a:prstGeom>
          </p:spPr>
          <p:txBody>
            <a:bodyPr anchor="ctr" rtlCol="false" tIns="0" lIns="0" bIns="0" rIns="0"/>
            <a:lstStyle/>
            <a:p>
              <a:pPr algn="l">
                <a:lnSpc>
                  <a:spcPts val="3359"/>
                </a:lnSpc>
              </a:pPr>
              <a:r>
                <a:rPr lang="en-US" b="true" sz="2799">
                  <a:solidFill>
                    <a:srgbClr val="003D5C"/>
                  </a:solidFill>
                  <a:latin typeface="Arial Bold"/>
                  <a:ea typeface="Arial Bold"/>
                  <a:cs typeface="Arial Bold"/>
                  <a:sym typeface="Arial Bold"/>
                </a:rPr>
                <a:t>Bed Planning</a:t>
              </a:r>
            </a:p>
          </p:txBody>
        </p:sp>
      </p:grpSp>
      <p:grpSp>
        <p:nvGrpSpPr>
          <p:cNvPr name="Group 32" id="32"/>
          <p:cNvGrpSpPr/>
          <p:nvPr/>
        </p:nvGrpSpPr>
        <p:grpSpPr>
          <a:xfrm rot="0">
            <a:off x="1280160" y="5394960"/>
            <a:ext cx="4389120" cy="2194560"/>
            <a:chOff x="0" y="0"/>
            <a:chExt cx="5852160" cy="2926080"/>
          </a:xfrm>
        </p:grpSpPr>
        <p:sp>
          <p:nvSpPr>
            <p:cNvPr name="Freeform 33" id="33"/>
            <p:cNvSpPr/>
            <p:nvPr/>
          </p:nvSpPr>
          <p:spPr>
            <a:xfrm flipH="false" flipV="false" rot="0">
              <a:off x="0" y="0"/>
              <a:ext cx="5852160" cy="2926080"/>
            </a:xfrm>
            <a:custGeom>
              <a:avLst/>
              <a:gdLst/>
              <a:ahLst/>
              <a:cxnLst/>
              <a:rect r="r" b="b" t="t" l="l"/>
              <a:pathLst>
                <a:path h="2926080" w="5852160">
                  <a:moveTo>
                    <a:pt x="0" y="0"/>
                  </a:moveTo>
                  <a:lnTo>
                    <a:pt x="5852160" y="0"/>
                  </a:lnTo>
                  <a:lnTo>
                    <a:pt x="5852160" y="2926080"/>
                  </a:lnTo>
                  <a:lnTo>
                    <a:pt x="0" y="2926080"/>
                  </a:lnTo>
                  <a:close/>
                </a:path>
              </a:pathLst>
            </a:custGeom>
            <a:blipFill>
              <a:blip r:embed="rId3">
                <a:alphaModFix amt="0"/>
              </a:blip>
              <a:stretch>
                <a:fillRect l="-14151" t="0" r="-14151" b="0"/>
              </a:stretch>
            </a:blipFill>
          </p:spPr>
        </p:sp>
        <p:sp>
          <p:nvSpPr>
            <p:cNvPr name="TextBox 34" id="34"/>
            <p:cNvSpPr txBox="true"/>
            <p:nvPr/>
          </p:nvSpPr>
          <p:spPr>
            <a:xfrm>
              <a:off x="0" y="-19050"/>
              <a:ext cx="5852160" cy="2945130"/>
            </a:xfrm>
            <a:prstGeom prst="rect">
              <a:avLst/>
            </a:prstGeom>
          </p:spPr>
          <p:txBody>
            <a:bodyPr anchor="ctr" rtlCol="false" tIns="0" lIns="0" bIns="0" rIns="0"/>
            <a:lstStyle/>
            <a:p>
              <a:pPr algn="l">
                <a:lnSpc>
                  <a:spcPts val="3120"/>
                </a:lnSpc>
              </a:pPr>
              <a:r>
                <a:rPr lang="en-US" sz="2600">
                  <a:solidFill>
                    <a:srgbClr val="1E293B"/>
                  </a:solidFill>
                  <a:latin typeface="Arial"/>
                  <a:ea typeface="Arial"/>
                  <a:cs typeface="Arial"/>
                  <a:sym typeface="Arial"/>
                </a:rPr>
                <a:t>Expect ~40+ high-risk patients to return within 30 days. Reserve capacity accordingly.</a:t>
              </a:r>
            </a:p>
          </p:txBody>
        </p:sp>
      </p:grpSp>
      <p:grpSp>
        <p:nvGrpSpPr>
          <p:cNvPr name="Group 35" id="35"/>
          <p:cNvGrpSpPr/>
          <p:nvPr/>
        </p:nvGrpSpPr>
        <p:grpSpPr>
          <a:xfrm rot="0">
            <a:off x="6583680" y="4389120"/>
            <a:ext cx="5120640" cy="3657600"/>
            <a:chOff x="0" y="0"/>
            <a:chExt cx="6827520" cy="4876800"/>
          </a:xfrm>
        </p:grpSpPr>
        <p:sp>
          <p:nvSpPr>
            <p:cNvPr name="Freeform 36" id="36"/>
            <p:cNvSpPr/>
            <p:nvPr/>
          </p:nvSpPr>
          <p:spPr>
            <a:xfrm flipH="false" flipV="false" rot="0">
              <a:off x="0" y="0"/>
              <a:ext cx="6827520" cy="4876800"/>
            </a:xfrm>
            <a:custGeom>
              <a:avLst/>
              <a:gdLst/>
              <a:ahLst/>
              <a:cxnLst/>
              <a:rect r="r" b="b" t="t" l="l"/>
              <a:pathLst>
                <a:path h="4876800" w="6827520">
                  <a:moveTo>
                    <a:pt x="0" y="0"/>
                  </a:moveTo>
                  <a:lnTo>
                    <a:pt x="6827520" y="0"/>
                  </a:lnTo>
                  <a:lnTo>
                    <a:pt x="6827520" y="4876800"/>
                  </a:lnTo>
                  <a:lnTo>
                    <a:pt x="0" y="4876800"/>
                  </a:lnTo>
                  <a:close/>
                </a:path>
              </a:pathLst>
            </a:custGeom>
            <a:solidFill>
              <a:srgbClr val="FFFFFF"/>
            </a:solidFill>
          </p:spPr>
        </p:sp>
      </p:grpSp>
      <p:grpSp>
        <p:nvGrpSpPr>
          <p:cNvPr name="Group 37" id="37"/>
          <p:cNvGrpSpPr/>
          <p:nvPr/>
        </p:nvGrpSpPr>
        <p:grpSpPr>
          <a:xfrm rot="0">
            <a:off x="6583680" y="4389120"/>
            <a:ext cx="146304" cy="3657600"/>
            <a:chOff x="0" y="0"/>
            <a:chExt cx="195072" cy="4876800"/>
          </a:xfrm>
        </p:grpSpPr>
        <p:sp>
          <p:nvSpPr>
            <p:cNvPr name="Freeform 38" id="38"/>
            <p:cNvSpPr/>
            <p:nvPr/>
          </p:nvSpPr>
          <p:spPr>
            <a:xfrm flipH="false" flipV="false" rot="0">
              <a:off x="0" y="0"/>
              <a:ext cx="195072" cy="4876800"/>
            </a:xfrm>
            <a:custGeom>
              <a:avLst/>
              <a:gdLst/>
              <a:ahLst/>
              <a:cxnLst/>
              <a:rect r="r" b="b" t="t" l="l"/>
              <a:pathLst>
                <a:path h="4876800" w="195072">
                  <a:moveTo>
                    <a:pt x="0" y="0"/>
                  </a:moveTo>
                  <a:lnTo>
                    <a:pt x="195072" y="0"/>
                  </a:lnTo>
                  <a:lnTo>
                    <a:pt x="195072" y="4876800"/>
                  </a:lnTo>
                  <a:lnTo>
                    <a:pt x="0" y="4876800"/>
                  </a:lnTo>
                  <a:close/>
                </a:path>
              </a:pathLst>
            </a:custGeom>
            <a:solidFill>
              <a:srgbClr val="F59E0B"/>
            </a:solidFill>
          </p:spPr>
        </p:sp>
      </p:grpSp>
      <p:grpSp>
        <p:nvGrpSpPr>
          <p:cNvPr name="Group 39" id="39"/>
          <p:cNvGrpSpPr/>
          <p:nvPr/>
        </p:nvGrpSpPr>
        <p:grpSpPr>
          <a:xfrm rot="0">
            <a:off x="6949440" y="4663440"/>
            <a:ext cx="4389120" cy="731520"/>
            <a:chOff x="0" y="0"/>
            <a:chExt cx="5852160" cy="975360"/>
          </a:xfrm>
        </p:grpSpPr>
        <p:sp>
          <p:nvSpPr>
            <p:cNvPr name="Freeform 40" id="40"/>
            <p:cNvSpPr/>
            <p:nvPr/>
          </p:nvSpPr>
          <p:spPr>
            <a:xfrm flipH="false" flipV="false" rot="0">
              <a:off x="0" y="0"/>
              <a:ext cx="5852160" cy="975360"/>
            </a:xfrm>
            <a:custGeom>
              <a:avLst/>
              <a:gdLst/>
              <a:ahLst/>
              <a:cxnLst/>
              <a:rect r="r" b="b" t="t" l="l"/>
              <a:pathLst>
                <a:path h="975360" w="5852160">
                  <a:moveTo>
                    <a:pt x="0" y="0"/>
                  </a:moveTo>
                  <a:lnTo>
                    <a:pt x="5852160" y="0"/>
                  </a:lnTo>
                  <a:lnTo>
                    <a:pt x="5852160" y="975360"/>
                  </a:lnTo>
                  <a:lnTo>
                    <a:pt x="0" y="975360"/>
                  </a:lnTo>
                  <a:close/>
                </a:path>
              </a:pathLst>
            </a:custGeom>
            <a:blipFill>
              <a:blip r:embed="rId3">
                <a:alphaModFix amt="0"/>
              </a:blip>
              <a:stretch>
                <a:fillRect l="0" t="-66910" r="0" b="-66910"/>
              </a:stretch>
            </a:blipFill>
          </p:spPr>
        </p:sp>
        <p:sp>
          <p:nvSpPr>
            <p:cNvPr name="TextBox 41" id="41"/>
            <p:cNvSpPr txBox="true"/>
            <p:nvPr/>
          </p:nvSpPr>
          <p:spPr>
            <a:xfrm>
              <a:off x="0" y="-19050"/>
              <a:ext cx="5852160" cy="994410"/>
            </a:xfrm>
            <a:prstGeom prst="rect">
              <a:avLst/>
            </a:prstGeom>
          </p:spPr>
          <p:txBody>
            <a:bodyPr anchor="ctr" rtlCol="false" tIns="0" lIns="0" bIns="0" rIns="0"/>
            <a:lstStyle/>
            <a:p>
              <a:pPr algn="l">
                <a:lnSpc>
                  <a:spcPts val="3359"/>
                </a:lnSpc>
              </a:pPr>
              <a:r>
                <a:rPr lang="en-US" b="true" sz="2799">
                  <a:solidFill>
                    <a:srgbClr val="003D5C"/>
                  </a:solidFill>
                  <a:latin typeface="Arial Bold"/>
                  <a:ea typeface="Arial Bold"/>
                  <a:cs typeface="Arial Bold"/>
                  <a:sym typeface="Arial Bold"/>
                </a:rPr>
                <a:t>Staff Allocation</a:t>
              </a:r>
            </a:p>
          </p:txBody>
        </p:sp>
      </p:grpSp>
      <p:grpSp>
        <p:nvGrpSpPr>
          <p:cNvPr name="Group 42" id="42"/>
          <p:cNvGrpSpPr/>
          <p:nvPr/>
        </p:nvGrpSpPr>
        <p:grpSpPr>
          <a:xfrm rot="0">
            <a:off x="6949440" y="5394960"/>
            <a:ext cx="4389120" cy="2194560"/>
            <a:chOff x="0" y="0"/>
            <a:chExt cx="5852160" cy="2926080"/>
          </a:xfrm>
        </p:grpSpPr>
        <p:sp>
          <p:nvSpPr>
            <p:cNvPr name="Freeform 43" id="43"/>
            <p:cNvSpPr/>
            <p:nvPr/>
          </p:nvSpPr>
          <p:spPr>
            <a:xfrm flipH="false" flipV="false" rot="0">
              <a:off x="0" y="0"/>
              <a:ext cx="5852160" cy="2926080"/>
            </a:xfrm>
            <a:custGeom>
              <a:avLst/>
              <a:gdLst/>
              <a:ahLst/>
              <a:cxnLst/>
              <a:rect r="r" b="b" t="t" l="l"/>
              <a:pathLst>
                <a:path h="2926080" w="5852160">
                  <a:moveTo>
                    <a:pt x="0" y="0"/>
                  </a:moveTo>
                  <a:lnTo>
                    <a:pt x="5852160" y="0"/>
                  </a:lnTo>
                  <a:lnTo>
                    <a:pt x="5852160" y="2926080"/>
                  </a:lnTo>
                  <a:lnTo>
                    <a:pt x="0" y="2926080"/>
                  </a:lnTo>
                  <a:close/>
                </a:path>
              </a:pathLst>
            </a:custGeom>
            <a:blipFill>
              <a:blip r:embed="rId3">
                <a:alphaModFix amt="0"/>
              </a:blip>
              <a:stretch>
                <a:fillRect l="-14151" t="0" r="-14151" b="0"/>
              </a:stretch>
            </a:blipFill>
          </p:spPr>
        </p:sp>
        <p:sp>
          <p:nvSpPr>
            <p:cNvPr name="TextBox 44" id="44"/>
            <p:cNvSpPr txBox="true"/>
            <p:nvPr/>
          </p:nvSpPr>
          <p:spPr>
            <a:xfrm>
              <a:off x="0" y="-19050"/>
              <a:ext cx="5852160" cy="2945130"/>
            </a:xfrm>
            <a:prstGeom prst="rect">
              <a:avLst/>
            </a:prstGeom>
          </p:spPr>
          <p:txBody>
            <a:bodyPr anchor="ctr" rtlCol="false" tIns="0" lIns="0" bIns="0" rIns="0"/>
            <a:lstStyle/>
            <a:p>
              <a:pPr algn="l">
                <a:lnSpc>
                  <a:spcPts val="3120"/>
                </a:lnSpc>
              </a:pPr>
              <a:r>
                <a:rPr lang="en-US" sz="2600">
                  <a:solidFill>
                    <a:srgbClr val="1E293B"/>
                  </a:solidFill>
                  <a:latin typeface="Arial"/>
                  <a:ea typeface="Arial"/>
                  <a:cs typeface="Arial"/>
                  <a:sym typeface="Arial"/>
                </a:rPr>
                <a:t>Need capacity for 200 follow-up calls (80 urgent + 120 standard) this week.</a:t>
              </a:r>
            </a:p>
          </p:txBody>
        </p:sp>
      </p:grpSp>
      <p:grpSp>
        <p:nvGrpSpPr>
          <p:cNvPr name="Group 45" id="45"/>
          <p:cNvGrpSpPr/>
          <p:nvPr/>
        </p:nvGrpSpPr>
        <p:grpSpPr>
          <a:xfrm rot="0">
            <a:off x="12252960" y="4389120"/>
            <a:ext cx="5120640" cy="3657600"/>
            <a:chOff x="0" y="0"/>
            <a:chExt cx="6827520" cy="4876800"/>
          </a:xfrm>
        </p:grpSpPr>
        <p:sp>
          <p:nvSpPr>
            <p:cNvPr name="Freeform 46" id="46"/>
            <p:cNvSpPr/>
            <p:nvPr/>
          </p:nvSpPr>
          <p:spPr>
            <a:xfrm flipH="false" flipV="false" rot="0">
              <a:off x="0" y="0"/>
              <a:ext cx="6827520" cy="4876800"/>
            </a:xfrm>
            <a:custGeom>
              <a:avLst/>
              <a:gdLst/>
              <a:ahLst/>
              <a:cxnLst/>
              <a:rect r="r" b="b" t="t" l="l"/>
              <a:pathLst>
                <a:path h="4876800" w="6827520">
                  <a:moveTo>
                    <a:pt x="0" y="0"/>
                  </a:moveTo>
                  <a:lnTo>
                    <a:pt x="6827520" y="0"/>
                  </a:lnTo>
                  <a:lnTo>
                    <a:pt x="6827520" y="4876800"/>
                  </a:lnTo>
                  <a:lnTo>
                    <a:pt x="0" y="4876800"/>
                  </a:lnTo>
                  <a:close/>
                </a:path>
              </a:pathLst>
            </a:custGeom>
            <a:solidFill>
              <a:srgbClr val="FFFFFF"/>
            </a:solidFill>
          </p:spPr>
        </p:sp>
      </p:grpSp>
      <p:grpSp>
        <p:nvGrpSpPr>
          <p:cNvPr name="Group 47" id="47"/>
          <p:cNvGrpSpPr/>
          <p:nvPr/>
        </p:nvGrpSpPr>
        <p:grpSpPr>
          <a:xfrm rot="0">
            <a:off x="12252960" y="4389120"/>
            <a:ext cx="146304" cy="3657600"/>
            <a:chOff x="0" y="0"/>
            <a:chExt cx="195072" cy="4876800"/>
          </a:xfrm>
        </p:grpSpPr>
        <p:sp>
          <p:nvSpPr>
            <p:cNvPr name="Freeform 48" id="48"/>
            <p:cNvSpPr/>
            <p:nvPr/>
          </p:nvSpPr>
          <p:spPr>
            <a:xfrm flipH="false" flipV="false" rot="0">
              <a:off x="0" y="0"/>
              <a:ext cx="195072" cy="4876800"/>
            </a:xfrm>
            <a:custGeom>
              <a:avLst/>
              <a:gdLst/>
              <a:ahLst/>
              <a:cxnLst/>
              <a:rect r="r" b="b" t="t" l="l"/>
              <a:pathLst>
                <a:path h="4876800" w="195072">
                  <a:moveTo>
                    <a:pt x="0" y="0"/>
                  </a:moveTo>
                  <a:lnTo>
                    <a:pt x="195072" y="0"/>
                  </a:lnTo>
                  <a:lnTo>
                    <a:pt x="195072" y="4876800"/>
                  </a:lnTo>
                  <a:lnTo>
                    <a:pt x="0" y="4876800"/>
                  </a:lnTo>
                  <a:close/>
                </a:path>
              </a:pathLst>
            </a:custGeom>
            <a:solidFill>
              <a:srgbClr val="10B981"/>
            </a:solidFill>
          </p:spPr>
        </p:sp>
      </p:grpSp>
      <p:grpSp>
        <p:nvGrpSpPr>
          <p:cNvPr name="Group 49" id="49"/>
          <p:cNvGrpSpPr/>
          <p:nvPr/>
        </p:nvGrpSpPr>
        <p:grpSpPr>
          <a:xfrm rot="0">
            <a:off x="12618720" y="4663440"/>
            <a:ext cx="4389120" cy="731520"/>
            <a:chOff x="0" y="0"/>
            <a:chExt cx="5852160" cy="975360"/>
          </a:xfrm>
        </p:grpSpPr>
        <p:sp>
          <p:nvSpPr>
            <p:cNvPr name="Freeform 50" id="50"/>
            <p:cNvSpPr/>
            <p:nvPr/>
          </p:nvSpPr>
          <p:spPr>
            <a:xfrm flipH="false" flipV="false" rot="0">
              <a:off x="0" y="0"/>
              <a:ext cx="5852160" cy="975360"/>
            </a:xfrm>
            <a:custGeom>
              <a:avLst/>
              <a:gdLst/>
              <a:ahLst/>
              <a:cxnLst/>
              <a:rect r="r" b="b" t="t" l="l"/>
              <a:pathLst>
                <a:path h="975360" w="5852160">
                  <a:moveTo>
                    <a:pt x="0" y="0"/>
                  </a:moveTo>
                  <a:lnTo>
                    <a:pt x="5852160" y="0"/>
                  </a:lnTo>
                  <a:lnTo>
                    <a:pt x="5852160" y="975360"/>
                  </a:lnTo>
                  <a:lnTo>
                    <a:pt x="0" y="975360"/>
                  </a:lnTo>
                  <a:close/>
                </a:path>
              </a:pathLst>
            </a:custGeom>
            <a:blipFill>
              <a:blip r:embed="rId3">
                <a:alphaModFix amt="0"/>
              </a:blip>
              <a:stretch>
                <a:fillRect l="0" t="-66910" r="0" b="-66910"/>
              </a:stretch>
            </a:blipFill>
          </p:spPr>
        </p:sp>
        <p:sp>
          <p:nvSpPr>
            <p:cNvPr name="TextBox 51" id="51"/>
            <p:cNvSpPr txBox="true"/>
            <p:nvPr/>
          </p:nvSpPr>
          <p:spPr>
            <a:xfrm>
              <a:off x="0" y="-19050"/>
              <a:ext cx="5852160" cy="994410"/>
            </a:xfrm>
            <a:prstGeom prst="rect">
              <a:avLst/>
            </a:prstGeom>
          </p:spPr>
          <p:txBody>
            <a:bodyPr anchor="ctr" rtlCol="false" tIns="0" lIns="0" bIns="0" rIns="0"/>
            <a:lstStyle/>
            <a:p>
              <a:pPr algn="l">
                <a:lnSpc>
                  <a:spcPts val="3359"/>
                </a:lnSpc>
              </a:pPr>
              <a:r>
                <a:rPr lang="en-US" b="true" sz="2799">
                  <a:solidFill>
                    <a:srgbClr val="003D5C"/>
                  </a:solidFill>
                  <a:latin typeface="Arial Bold"/>
                  <a:ea typeface="Arial Bold"/>
                  <a:cs typeface="Arial Bold"/>
                  <a:sym typeface="Arial Bold"/>
                </a:rPr>
                <a:t>Impact Tracking</a:t>
              </a:r>
            </a:p>
          </p:txBody>
        </p:sp>
      </p:grpSp>
      <p:grpSp>
        <p:nvGrpSpPr>
          <p:cNvPr name="Group 52" id="52"/>
          <p:cNvGrpSpPr/>
          <p:nvPr/>
        </p:nvGrpSpPr>
        <p:grpSpPr>
          <a:xfrm rot="0">
            <a:off x="12618720" y="5394960"/>
            <a:ext cx="4389120" cy="2194560"/>
            <a:chOff x="0" y="0"/>
            <a:chExt cx="5852160" cy="2926080"/>
          </a:xfrm>
        </p:grpSpPr>
        <p:sp>
          <p:nvSpPr>
            <p:cNvPr name="Freeform 53" id="53"/>
            <p:cNvSpPr/>
            <p:nvPr/>
          </p:nvSpPr>
          <p:spPr>
            <a:xfrm flipH="false" flipV="false" rot="0">
              <a:off x="0" y="0"/>
              <a:ext cx="5852160" cy="2926080"/>
            </a:xfrm>
            <a:custGeom>
              <a:avLst/>
              <a:gdLst/>
              <a:ahLst/>
              <a:cxnLst/>
              <a:rect r="r" b="b" t="t" l="l"/>
              <a:pathLst>
                <a:path h="2926080" w="5852160">
                  <a:moveTo>
                    <a:pt x="0" y="0"/>
                  </a:moveTo>
                  <a:lnTo>
                    <a:pt x="5852160" y="0"/>
                  </a:lnTo>
                  <a:lnTo>
                    <a:pt x="5852160" y="2926080"/>
                  </a:lnTo>
                  <a:lnTo>
                    <a:pt x="0" y="2926080"/>
                  </a:lnTo>
                  <a:close/>
                </a:path>
              </a:pathLst>
            </a:custGeom>
            <a:blipFill>
              <a:blip r:embed="rId3">
                <a:alphaModFix amt="0"/>
              </a:blip>
              <a:stretch>
                <a:fillRect l="-14151" t="0" r="-14151" b="0"/>
              </a:stretch>
            </a:blipFill>
          </p:spPr>
        </p:sp>
        <p:sp>
          <p:nvSpPr>
            <p:cNvPr name="TextBox 54" id="54"/>
            <p:cNvSpPr txBox="true"/>
            <p:nvPr/>
          </p:nvSpPr>
          <p:spPr>
            <a:xfrm>
              <a:off x="0" y="-19050"/>
              <a:ext cx="5852160" cy="2945130"/>
            </a:xfrm>
            <a:prstGeom prst="rect">
              <a:avLst/>
            </a:prstGeom>
          </p:spPr>
          <p:txBody>
            <a:bodyPr anchor="ctr" rtlCol="false" tIns="0" lIns="0" bIns="0" rIns="0"/>
            <a:lstStyle/>
            <a:p>
              <a:pPr algn="l">
                <a:lnSpc>
                  <a:spcPts val="3120"/>
                </a:lnSpc>
              </a:pPr>
              <a:r>
                <a:rPr lang="en-US" sz="2600">
                  <a:solidFill>
                    <a:srgbClr val="1E293B"/>
                  </a:solidFill>
                  <a:latin typeface="Arial"/>
                  <a:ea typeface="Arial"/>
                  <a:cs typeface="Arial"/>
                  <a:sym typeface="Arial"/>
                </a:rPr>
                <a:t>Track if interventions reduce actual return rates over time.</a:t>
              </a:r>
            </a:p>
          </p:txBody>
        </p:sp>
      </p:grpSp>
      <p:grpSp>
        <p:nvGrpSpPr>
          <p:cNvPr name="Group 55" id="55"/>
          <p:cNvGrpSpPr/>
          <p:nvPr/>
        </p:nvGrpSpPr>
        <p:grpSpPr>
          <a:xfrm rot="0">
            <a:off x="914400" y="8595360"/>
            <a:ext cx="16459200" cy="1097280"/>
            <a:chOff x="0" y="0"/>
            <a:chExt cx="21945600" cy="1463040"/>
          </a:xfrm>
        </p:grpSpPr>
        <p:sp>
          <p:nvSpPr>
            <p:cNvPr name="Freeform 56" id="56"/>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solidFill>
              <a:srgbClr val="003D5C"/>
            </a:solidFill>
          </p:spPr>
        </p:sp>
      </p:grpSp>
      <p:grpSp>
        <p:nvGrpSpPr>
          <p:cNvPr name="Group 57" id="57"/>
          <p:cNvGrpSpPr/>
          <p:nvPr/>
        </p:nvGrpSpPr>
        <p:grpSpPr>
          <a:xfrm rot="0">
            <a:off x="914400" y="8595360"/>
            <a:ext cx="16459200" cy="1097280"/>
            <a:chOff x="0" y="0"/>
            <a:chExt cx="21945600" cy="1463040"/>
          </a:xfrm>
        </p:grpSpPr>
        <p:sp>
          <p:nvSpPr>
            <p:cNvPr name="Freeform 58" id="58"/>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59" id="59"/>
            <p:cNvSpPr txBox="true"/>
            <p:nvPr/>
          </p:nvSpPr>
          <p:spPr>
            <a:xfrm>
              <a:off x="0" y="-28575"/>
              <a:ext cx="21945600" cy="1491615"/>
            </a:xfrm>
            <a:prstGeom prst="rect">
              <a:avLst/>
            </a:prstGeom>
          </p:spPr>
          <p:txBody>
            <a:bodyPr anchor="ctr" rtlCol="false" tIns="0" lIns="0" bIns="0" rIns="0"/>
            <a:lstStyle/>
            <a:p>
              <a:pPr algn="ctr">
                <a:lnSpc>
                  <a:spcPts val="4320"/>
                </a:lnSpc>
              </a:pPr>
              <a:r>
                <a:rPr lang="en-US" b="true" sz="3600">
                  <a:solidFill>
                    <a:srgbClr val="FFFFFF"/>
                  </a:solidFill>
                  <a:latin typeface="Arial Bold"/>
                  <a:ea typeface="Arial Bold"/>
                  <a:cs typeface="Arial Bold"/>
                  <a:sym typeface="Arial Bold"/>
                </a:rPr>
                <a:t>Proactive and Efficient Forecasting</a:t>
              </a:r>
            </a:p>
          </p:txBody>
        </p:sp>
      </p:grpSp>
      <p:grpSp>
        <p:nvGrpSpPr>
          <p:cNvPr name="Group 60" id="60"/>
          <p:cNvGrpSpPr/>
          <p:nvPr/>
        </p:nvGrpSpPr>
        <p:grpSpPr>
          <a:xfrm rot="0">
            <a:off x="17007840" y="9692640"/>
            <a:ext cx="914400" cy="548402"/>
            <a:chOff x="0" y="0"/>
            <a:chExt cx="1219200" cy="731202"/>
          </a:xfrm>
        </p:grpSpPr>
        <p:sp>
          <p:nvSpPr>
            <p:cNvPr name="Freeform 61" id="61"/>
            <p:cNvSpPr/>
            <p:nvPr/>
          </p:nvSpPr>
          <p:spPr>
            <a:xfrm flipH="false" flipV="false" rot="0">
              <a:off x="0" y="0"/>
              <a:ext cx="1219200" cy="731200"/>
            </a:xfrm>
            <a:custGeom>
              <a:avLst/>
              <a:gdLst/>
              <a:ahLst/>
              <a:cxnLst/>
              <a:rect r="r" b="b" t="t" l="l"/>
              <a:pathLst>
                <a:path h="731200" w="1219200">
                  <a:moveTo>
                    <a:pt x="0" y="0"/>
                  </a:moveTo>
                  <a:lnTo>
                    <a:pt x="1219200" y="0"/>
                  </a:lnTo>
                  <a:lnTo>
                    <a:pt x="1219200" y="731200"/>
                  </a:lnTo>
                  <a:lnTo>
                    <a:pt x="0" y="731200"/>
                  </a:lnTo>
                  <a:close/>
                </a:path>
              </a:pathLst>
            </a:custGeom>
            <a:blipFill>
              <a:blip r:embed="rId3">
                <a:alphaModFix amt="0"/>
              </a:blip>
              <a:stretch>
                <a:fillRect l="-26948" t="0" r="-26948" b="0"/>
              </a:stretch>
            </a:blipFill>
          </p:spPr>
        </p:sp>
        <p:sp>
          <p:nvSpPr>
            <p:cNvPr name="TextBox 62" id="62"/>
            <p:cNvSpPr txBox="true"/>
            <p:nvPr/>
          </p:nvSpPr>
          <p:spPr>
            <a:xfrm>
              <a:off x="0" y="-38100"/>
              <a:ext cx="1219200" cy="769302"/>
            </a:xfrm>
            <a:prstGeom prst="rect">
              <a:avLst/>
            </a:prstGeom>
          </p:spPr>
          <p:txBody>
            <a:bodyPr anchor="ctr" rtlCol="false" tIns="0" lIns="0" bIns="0" rIns="0"/>
            <a:lstStyle/>
            <a:p>
              <a:pPr algn="r">
                <a:lnSpc>
                  <a:spcPts val="2400"/>
                </a:lnSpc>
              </a:pPr>
              <a:r>
                <a:rPr lang="en-US" sz="2000">
                  <a:solidFill>
                    <a:srgbClr val="808080"/>
                  </a:solidFill>
                  <a:latin typeface="Calibri (MS)"/>
                  <a:ea typeface="Calibri (MS)"/>
                  <a:cs typeface="Calibri (MS)"/>
                  <a:sym typeface="Calibri (MS)"/>
                </a:rPr>
                <a:t>11</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9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354797" cy="10312403"/>
            <a:chOff x="0" y="0"/>
            <a:chExt cx="473062" cy="13749871"/>
          </a:xfrm>
        </p:grpSpPr>
        <p:sp>
          <p:nvSpPr>
            <p:cNvPr name="Freeform 3" id="3"/>
            <p:cNvSpPr/>
            <p:nvPr/>
          </p:nvSpPr>
          <p:spPr>
            <a:xfrm flipH="false" flipV="false" rot="0">
              <a:off x="16891" y="16891"/>
              <a:ext cx="439293" cy="13715999"/>
            </a:xfrm>
            <a:custGeom>
              <a:avLst/>
              <a:gdLst/>
              <a:ahLst/>
              <a:cxnLst/>
              <a:rect r="r" b="b" t="t" l="l"/>
              <a:pathLst>
                <a:path h="13715999" w="439293">
                  <a:moveTo>
                    <a:pt x="0" y="0"/>
                  </a:moveTo>
                  <a:lnTo>
                    <a:pt x="439293" y="0"/>
                  </a:lnTo>
                  <a:lnTo>
                    <a:pt x="439293" y="13715999"/>
                  </a:lnTo>
                  <a:lnTo>
                    <a:pt x="0" y="13715999"/>
                  </a:lnTo>
                  <a:close/>
                </a:path>
              </a:pathLst>
            </a:custGeom>
            <a:solidFill>
              <a:srgbClr val="0D3D56"/>
            </a:solidFill>
          </p:spPr>
        </p:sp>
        <p:sp>
          <p:nvSpPr>
            <p:cNvPr name="Freeform 4" id="4"/>
            <p:cNvSpPr/>
            <p:nvPr/>
          </p:nvSpPr>
          <p:spPr>
            <a:xfrm flipH="false" flipV="false" rot="0">
              <a:off x="0" y="0"/>
              <a:ext cx="473075" cy="13749782"/>
            </a:xfrm>
            <a:custGeom>
              <a:avLst/>
              <a:gdLst/>
              <a:ahLst/>
              <a:cxnLst/>
              <a:rect r="r" b="b" t="t" l="l"/>
              <a:pathLst>
                <a:path h="13749782" w="473075">
                  <a:moveTo>
                    <a:pt x="16891" y="0"/>
                  </a:moveTo>
                  <a:lnTo>
                    <a:pt x="456184" y="0"/>
                  </a:lnTo>
                  <a:cubicBezTo>
                    <a:pt x="465582" y="0"/>
                    <a:pt x="473075" y="7620"/>
                    <a:pt x="473075" y="16891"/>
                  </a:cubicBezTo>
                  <a:lnTo>
                    <a:pt x="473075" y="13732890"/>
                  </a:lnTo>
                  <a:cubicBezTo>
                    <a:pt x="473075" y="13742290"/>
                    <a:pt x="465455" y="13749782"/>
                    <a:pt x="456184"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456184" y="13716000"/>
                  </a:lnTo>
                  <a:lnTo>
                    <a:pt x="456184" y="13732890"/>
                  </a:lnTo>
                  <a:lnTo>
                    <a:pt x="439166" y="13732890"/>
                  </a:lnTo>
                  <a:lnTo>
                    <a:pt x="439166" y="16891"/>
                  </a:lnTo>
                  <a:lnTo>
                    <a:pt x="456057" y="16891"/>
                  </a:lnTo>
                  <a:lnTo>
                    <a:pt x="456057" y="33909"/>
                  </a:lnTo>
                  <a:lnTo>
                    <a:pt x="16891" y="33909"/>
                  </a:lnTo>
                  <a:close/>
                </a:path>
              </a:pathLst>
            </a:custGeom>
            <a:solidFill>
              <a:srgbClr val="0D3D56"/>
            </a:solidFill>
          </p:spPr>
        </p:sp>
      </p:grpSp>
      <p:grpSp>
        <p:nvGrpSpPr>
          <p:cNvPr name="Group 5" id="5"/>
          <p:cNvGrpSpPr/>
          <p:nvPr/>
        </p:nvGrpSpPr>
        <p:grpSpPr>
          <a:xfrm rot="0">
            <a:off x="731520" y="640080"/>
            <a:ext cx="16825198" cy="1371600"/>
            <a:chOff x="0" y="0"/>
            <a:chExt cx="22433598" cy="1828800"/>
          </a:xfrm>
        </p:grpSpPr>
        <p:sp>
          <p:nvSpPr>
            <p:cNvPr name="Freeform 6" id="6"/>
            <p:cNvSpPr/>
            <p:nvPr/>
          </p:nvSpPr>
          <p:spPr>
            <a:xfrm flipH="false" flipV="false" rot="0">
              <a:off x="0" y="0"/>
              <a:ext cx="22433600" cy="1828800"/>
            </a:xfrm>
            <a:custGeom>
              <a:avLst/>
              <a:gdLst/>
              <a:ahLst/>
              <a:cxnLst/>
              <a:rect r="r" b="b" t="t" l="l"/>
              <a:pathLst>
                <a:path h="1828800" w="22433600">
                  <a:moveTo>
                    <a:pt x="0" y="0"/>
                  </a:moveTo>
                  <a:lnTo>
                    <a:pt x="22433600" y="0"/>
                  </a:lnTo>
                  <a:lnTo>
                    <a:pt x="22433600" y="1828800"/>
                  </a:lnTo>
                  <a:lnTo>
                    <a:pt x="0" y="1828800"/>
                  </a:lnTo>
                  <a:close/>
                </a:path>
              </a:pathLst>
            </a:custGeom>
            <a:blipFill>
              <a:blip r:embed="rId3">
                <a:alphaModFix amt="0"/>
              </a:blip>
              <a:stretch>
                <a:fillRect l="0" t="-189019" r="0" b="-189019"/>
              </a:stretch>
            </a:blipFill>
          </p:spPr>
        </p:sp>
        <p:sp>
          <p:nvSpPr>
            <p:cNvPr name="TextBox 7" id="7"/>
            <p:cNvSpPr txBox="true"/>
            <p:nvPr/>
          </p:nvSpPr>
          <p:spPr>
            <a:xfrm>
              <a:off x="0" y="-9525"/>
              <a:ext cx="22433598" cy="1838325"/>
            </a:xfrm>
            <a:prstGeom prst="rect">
              <a:avLst/>
            </a:prstGeom>
          </p:spPr>
          <p:txBody>
            <a:bodyPr anchor="ctr" rtlCol="false" tIns="0" lIns="0" bIns="0" rIns="0"/>
            <a:lstStyle/>
            <a:p>
              <a:pPr algn="l">
                <a:lnSpc>
                  <a:spcPts val="7200"/>
                </a:lnSpc>
              </a:pPr>
              <a:r>
                <a:rPr lang="en-US" b="true" sz="6000">
                  <a:solidFill>
                    <a:srgbClr val="0D3D56"/>
                  </a:solidFill>
                  <a:latin typeface="Trebuchet MS Bold"/>
                  <a:ea typeface="Trebuchet MS Bold"/>
                  <a:cs typeface="Trebuchet MS Bold"/>
                  <a:sym typeface="Trebuchet MS Bold"/>
                </a:rPr>
                <a:t>Clinical Exploration</a:t>
              </a:r>
            </a:p>
          </p:txBody>
        </p:sp>
      </p:grpSp>
      <p:grpSp>
        <p:nvGrpSpPr>
          <p:cNvPr name="Group 8" id="8"/>
          <p:cNvGrpSpPr/>
          <p:nvPr/>
        </p:nvGrpSpPr>
        <p:grpSpPr>
          <a:xfrm rot="0">
            <a:off x="718823" y="2273303"/>
            <a:ext cx="9900799" cy="6426203"/>
            <a:chOff x="0" y="0"/>
            <a:chExt cx="13201066" cy="8568271"/>
          </a:xfrm>
        </p:grpSpPr>
        <p:sp>
          <p:nvSpPr>
            <p:cNvPr name="Freeform 9" id="9"/>
            <p:cNvSpPr/>
            <p:nvPr/>
          </p:nvSpPr>
          <p:spPr>
            <a:xfrm flipH="false" flipV="false" rot="0">
              <a:off x="16891" y="16891"/>
              <a:ext cx="13167233" cy="8534400"/>
            </a:xfrm>
            <a:custGeom>
              <a:avLst/>
              <a:gdLst/>
              <a:ahLst/>
              <a:cxnLst/>
              <a:rect r="r" b="b" t="t" l="l"/>
              <a:pathLst>
                <a:path h="8534400" w="13167233">
                  <a:moveTo>
                    <a:pt x="0" y="0"/>
                  </a:moveTo>
                  <a:lnTo>
                    <a:pt x="13167233" y="0"/>
                  </a:lnTo>
                  <a:lnTo>
                    <a:pt x="13167233" y="8534400"/>
                  </a:lnTo>
                  <a:lnTo>
                    <a:pt x="0" y="8534400"/>
                  </a:lnTo>
                  <a:close/>
                </a:path>
              </a:pathLst>
            </a:custGeom>
            <a:solidFill>
              <a:srgbClr val="0D3D56"/>
            </a:solidFill>
          </p:spPr>
        </p:sp>
        <p:sp>
          <p:nvSpPr>
            <p:cNvPr name="Freeform 10" id="10"/>
            <p:cNvSpPr/>
            <p:nvPr/>
          </p:nvSpPr>
          <p:spPr>
            <a:xfrm flipH="false" flipV="false" rot="0">
              <a:off x="0" y="0"/>
              <a:ext cx="13201014" cy="8568182"/>
            </a:xfrm>
            <a:custGeom>
              <a:avLst/>
              <a:gdLst/>
              <a:ahLst/>
              <a:cxnLst/>
              <a:rect r="r" b="b" t="t" l="l"/>
              <a:pathLst>
                <a:path h="8568182" w="13201014">
                  <a:moveTo>
                    <a:pt x="16891" y="0"/>
                  </a:moveTo>
                  <a:lnTo>
                    <a:pt x="13184124" y="0"/>
                  </a:lnTo>
                  <a:cubicBezTo>
                    <a:pt x="13193522" y="0"/>
                    <a:pt x="13201014" y="7620"/>
                    <a:pt x="13201014" y="16891"/>
                  </a:cubicBezTo>
                  <a:lnTo>
                    <a:pt x="13201014" y="8551291"/>
                  </a:lnTo>
                  <a:cubicBezTo>
                    <a:pt x="13201014" y="8560689"/>
                    <a:pt x="13193395" y="8568182"/>
                    <a:pt x="13184124" y="8568182"/>
                  </a:cubicBezTo>
                  <a:lnTo>
                    <a:pt x="16891" y="8568182"/>
                  </a:lnTo>
                  <a:cubicBezTo>
                    <a:pt x="7493" y="8568182"/>
                    <a:pt x="0" y="8560562"/>
                    <a:pt x="0" y="8551291"/>
                  </a:cubicBezTo>
                  <a:lnTo>
                    <a:pt x="0" y="16891"/>
                  </a:lnTo>
                  <a:cubicBezTo>
                    <a:pt x="0" y="7620"/>
                    <a:pt x="7620" y="0"/>
                    <a:pt x="16891" y="0"/>
                  </a:cubicBezTo>
                  <a:moveTo>
                    <a:pt x="16891" y="33909"/>
                  </a:moveTo>
                  <a:lnTo>
                    <a:pt x="16891" y="16891"/>
                  </a:lnTo>
                  <a:lnTo>
                    <a:pt x="33909" y="16891"/>
                  </a:lnTo>
                  <a:lnTo>
                    <a:pt x="33909" y="8551291"/>
                  </a:lnTo>
                  <a:lnTo>
                    <a:pt x="16891" y="8551291"/>
                  </a:lnTo>
                  <a:lnTo>
                    <a:pt x="16891" y="8534400"/>
                  </a:lnTo>
                  <a:lnTo>
                    <a:pt x="13184124" y="8534400"/>
                  </a:lnTo>
                  <a:lnTo>
                    <a:pt x="13184124" y="8551291"/>
                  </a:lnTo>
                  <a:lnTo>
                    <a:pt x="13167233" y="8551291"/>
                  </a:lnTo>
                  <a:lnTo>
                    <a:pt x="13167233" y="16891"/>
                  </a:lnTo>
                  <a:lnTo>
                    <a:pt x="13184124" y="16891"/>
                  </a:lnTo>
                  <a:lnTo>
                    <a:pt x="13184124" y="33909"/>
                  </a:lnTo>
                  <a:lnTo>
                    <a:pt x="16891" y="33909"/>
                  </a:lnTo>
                  <a:close/>
                </a:path>
              </a:pathLst>
            </a:custGeom>
            <a:solidFill>
              <a:srgbClr val="0D3D56"/>
            </a:solidFill>
          </p:spPr>
        </p:sp>
      </p:grpSp>
      <p:grpSp>
        <p:nvGrpSpPr>
          <p:cNvPr name="Group 11" id="11"/>
          <p:cNvGrpSpPr/>
          <p:nvPr/>
        </p:nvGrpSpPr>
        <p:grpSpPr>
          <a:xfrm rot="0">
            <a:off x="1097280" y="2651760"/>
            <a:ext cx="1280398" cy="1280398"/>
            <a:chOff x="0" y="0"/>
            <a:chExt cx="1707198" cy="1707198"/>
          </a:xfrm>
        </p:grpSpPr>
        <p:sp>
          <p:nvSpPr>
            <p:cNvPr name="Freeform 12" id="12"/>
            <p:cNvSpPr/>
            <p:nvPr/>
          </p:nvSpPr>
          <p:spPr>
            <a:xfrm flipH="false" flipV="false" rot="0">
              <a:off x="0" y="0"/>
              <a:ext cx="1707200" cy="1707200"/>
            </a:xfrm>
            <a:custGeom>
              <a:avLst/>
              <a:gdLst/>
              <a:ahLst/>
              <a:cxnLst/>
              <a:rect r="r" b="b" t="t" l="l"/>
              <a:pathLst>
                <a:path h="1707200" w="1707200">
                  <a:moveTo>
                    <a:pt x="0" y="0"/>
                  </a:moveTo>
                  <a:lnTo>
                    <a:pt x="1707200" y="0"/>
                  </a:lnTo>
                  <a:lnTo>
                    <a:pt x="1707200" y="1707200"/>
                  </a:lnTo>
                  <a:lnTo>
                    <a:pt x="0" y="1707200"/>
                  </a:lnTo>
                  <a:close/>
                </a:path>
              </a:pathLst>
            </a:custGeom>
            <a:blipFill>
              <a:blip r:embed="rId3">
                <a:alphaModFix amt="0"/>
              </a:blip>
              <a:stretch>
                <a:fillRect l="-78303" t="0" r="-78303" b="0"/>
              </a:stretch>
            </a:blipFill>
          </p:spPr>
        </p:sp>
        <p:sp>
          <p:nvSpPr>
            <p:cNvPr name="TextBox 13" id="13"/>
            <p:cNvSpPr txBox="true"/>
            <p:nvPr/>
          </p:nvSpPr>
          <p:spPr>
            <a:xfrm>
              <a:off x="0" y="-114300"/>
              <a:ext cx="1707198" cy="1821498"/>
            </a:xfrm>
            <a:prstGeom prst="rect">
              <a:avLst/>
            </a:prstGeom>
          </p:spPr>
          <p:txBody>
            <a:bodyPr anchor="ctr" rtlCol="false" tIns="0" lIns="0" bIns="0" rIns="0"/>
            <a:lstStyle/>
            <a:p>
              <a:pPr algn="ctr">
                <a:lnSpc>
                  <a:spcPts val="6719"/>
                </a:lnSpc>
              </a:pPr>
              <a:r>
                <a:rPr lang="en-US" sz="5599">
                  <a:solidFill>
                    <a:srgbClr val="000000"/>
                  </a:solidFill>
                  <a:latin typeface="Calibri (MS)"/>
                  <a:ea typeface="Calibri (MS)"/>
                  <a:cs typeface="Calibri (MS)"/>
                  <a:sym typeface="Calibri (MS)"/>
                </a:rPr>
                <a:t>🔬</a:t>
              </a:r>
            </a:p>
          </p:txBody>
        </p:sp>
      </p:grpSp>
      <p:grpSp>
        <p:nvGrpSpPr>
          <p:cNvPr name="Group 14" id="14"/>
          <p:cNvGrpSpPr/>
          <p:nvPr/>
        </p:nvGrpSpPr>
        <p:grpSpPr>
          <a:xfrm rot="0">
            <a:off x="914400" y="3840480"/>
            <a:ext cx="9509998" cy="914400"/>
            <a:chOff x="0" y="0"/>
            <a:chExt cx="12679998" cy="1219200"/>
          </a:xfrm>
        </p:grpSpPr>
        <p:sp>
          <p:nvSpPr>
            <p:cNvPr name="Freeform 15" id="15"/>
            <p:cNvSpPr/>
            <p:nvPr/>
          </p:nvSpPr>
          <p:spPr>
            <a:xfrm flipH="false" flipV="false" rot="0">
              <a:off x="0" y="0"/>
              <a:ext cx="12680000" cy="1219200"/>
            </a:xfrm>
            <a:custGeom>
              <a:avLst/>
              <a:gdLst/>
              <a:ahLst/>
              <a:cxnLst/>
              <a:rect r="r" b="b" t="t" l="l"/>
              <a:pathLst>
                <a:path h="1219200" w="12680000">
                  <a:moveTo>
                    <a:pt x="0" y="0"/>
                  </a:moveTo>
                  <a:lnTo>
                    <a:pt x="12680000" y="0"/>
                  </a:lnTo>
                  <a:lnTo>
                    <a:pt x="12680000" y="1219200"/>
                  </a:lnTo>
                  <a:lnTo>
                    <a:pt x="0" y="1219200"/>
                  </a:lnTo>
                  <a:close/>
                </a:path>
              </a:pathLst>
            </a:custGeom>
            <a:blipFill>
              <a:blip r:embed="rId3">
                <a:alphaModFix amt="0"/>
              </a:blip>
              <a:stretch>
                <a:fillRect l="0" t="-152649" r="0" b="-152649"/>
              </a:stretch>
            </a:blipFill>
          </p:spPr>
        </p:sp>
        <p:sp>
          <p:nvSpPr>
            <p:cNvPr name="TextBox 16" id="16"/>
            <p:cNvSpPr txBox="true"/>
            <p:nvPr/>
          </p:nvSpPr>
          <p:spPr>
            <a:xfrm>
              <a:off x="0" y="-19050"/>
              <a:ext cx="12679998" cy="1238250"/>
            </a:xfrm>
            <a:prstGeom prst="rect">
              <a:avLst/>
            </a:prstGeom>
          </p:spPr>
          <p:txBody>
            <a:bodyPr anchor="ctr" rtlCol="false" tIns="0" lIns="0" bIns="0" rIns="0"/>
            <a:lstStyle/>
            <a:p>
              <a:pPr algn="l">
                <a:lnSpc>
                  <a:spcPts val="4320"/>
                </a:lnSpc>
              </a:pPr>
              <a:r>
                <a:rPr lang="en-US" b="true" sz="3600">
                  <a:solidFill>
                    <a:srgbClr val="FFFFFF"/>
                  </a:solidFill>
                  <a:latin typeface="Trebuchet MS Bold"/>
                  <a:ea typeface="Trebuchet MS Bold"/>
                  <a:cs typeface="Trebuchet MS Bold"/>
                  <a:sym typeface="Trebuchet MS Bold"/>
                </a:rPr>
                <a:t>‘False Positive’ Analysis</a:t>
              </a:r>
            </a:p>
          </p:txBody>
        </p:sp>
      </p:grpSp>
      <p:grpSp>
        <p:nvGrpSpPr>
          <p:cNvPr name="Group 17" id="17"/>
          <p:cNvGrpSpPr/>
          <p:nvPr/>
        </p:nvGrpSpPr>
        <p:grpSpPr>
          <a:xfrm rot="0">
            <a:off x="17007840" y="9692640"/>
            <a:ext cx="914400" cy="548402"/>
            <a:chOff x="0" y="0"/>
            <a:chExt cx="1219200" cy="731202"/>
          </a:xfrm>
        </p:grpSpPr>
        <p:sp>
          <p:nvSpPr>
            <p:cNvPr name="Freeform 18" id="18"/>
            <p:cNvSpPr/>
            <p:nvPr/>
          </p:nvSpPr>
          <p:spPr>
            <a:xfrm flipH="false" flipV="false" rot="0">
              <a:off x="0" y="0"/>
              <a:ext cx="1219200" cy="731200"/>
            </a:xfrm>
            <a:custGeom>
              <a:avLst/>
              <a:gdLst/>
              <a:ahLst/>
              <a:cxnLst/>
              <a:rect r="r" b="b" t="t" l="l"/>
              <a:pathLst>
                <a:path h="731200" w="1219200">
                  <a:moveTo>
                    <a:pt x="0" y="0"/>
                  </a:moveTo>
                  <a:lnTo>
                    <a:pt x="1219200" y="0"/>
                  </a:lnTo>
                  <a:lnTo>
                    <a:pt x="1219200" y="731200"/>
                  </a:lnTo>
                  <a:lnTo>
                    <a:pt x="0" y="731200"/>
                  </a:lnTo>
                  <a:close/>
                </a:path>
              </a:pathLst>
            </a:custGeom>
            <a:blipFill>
              <a:blip r:embed="rId3">
                <a:alphaModFix amt="0"/>
              </a:blip>
              <a:stretch>
                <a:fillRect l="-26948" t="0" r="-26948" b="0"/>
              </a:stretch>
            </a:blipFill>
          </p:spPr>
        </p:sp>
        <p:sp>
          <p:nvSpPr>
            <p:cNvPr name="TextBox 19" id="19"/>
            <p:cNvSpPr txBox="true"/>
            <p:nvPr/>
          </p:nvSpPr>
          <p:spPr>
            <a:xfrm>
              <a:off x="0" y="-38100"/>
              <a:ext cx="1219200" cy="769302"/>
            </a:xfrm>
            <a:prstGeom prst="rect">
              <a:avLst/>
            </a:prstGeom>
          </p:spPr>
          <p:txBody>
            <a:bodyPr anchor="ctr" rtlCol="false" tIns="0" lIns="0" bIns="0" rIns="0"/>
            <a:lstStyle/>
            <a:p>
              <a:pPr algn="r">
                <a:lnSpc>
                  <a:spcPts val="2400"/>
                </a:lnSpc>
              </a:pPr>
              <a:r>
                <a:rPr lang="en-US" sz="2000">
                  <a:solidFill>
                    <a:srgbClr val="808080"/>
                  </a:solidFill>
                  <a:latin typeface="Calibri (MS)"/>
                  <a:ea typeface="Calibri (MS)"/>
                  <a:cs typeface="Calibri (MS)"/>
                  <a:sym typeface="Calibri (MS)"/>
                </a:rPr>
                <a:t>13</a:t>
              </a:r>
            </a:p>
          </p:txBody>
        </p:sp>
      </p:grpSp>
      <p:sp>
        <p:nvSpPr>
          <p:cNvPr name="Freeform 20" id="20"/>
          <p:cNvSpPr/>
          <p:nvPr/>
        </p:nvSpPr>
        <p:spPr>
          <a:xfrm flipH="false" flipV="false" rot="0">
            <a:off x="11384511" y="3429002"/>
            <a:ext cx="6172207" cy="4114805"/>
          </a:xfrm>
          <a:custGeom>
            <a:avLst/>
            <a:gdLst/>
            <a:ahLst/>
            <a:cxnLst/>
            <a:rect r="r" b="b" t="t" l="l"/>
            <a:pathLst>
              <a:path h="4114805" w="6172207">
                <a:moveTo>
                  <a:pt x="0" y="0"/>
                </a:moveTo>
                <a:lnTo>
                  <a:pt x="6172207" y="0"/>
                </a:lnTo>
                <a:lnTo>
                  <a:pt x="6172207" y="4114805"/>
                </a:lnTo>
                <a:lnTo>
                  <a:pt x="0" y="4114805"/>
                </a:lnTo>
                <a:lnTo>
                  <a:pt x="0" y="0"/>
                </a:lnTo>
                <a:close/>
              </a:path>
            </a:pathLst>
          </a:custGeom>
          <a:blipFill>
            <a:blip r:embed="rId4"/>
            <a:stretch>
              <a:fillRect l="0" t="0" r="0" b="0"/>
            </a:stretch>
          </a:blipFill>
        </p:spPr>
      </p:sp>
      <p:sp>
        <p:nvSpPr>
          <p:cNvPr name="TextBox 21" id="21"/>
          <p:cNvSpPr txBox="true"/>
          <p:nvPr/>
        </p:nvSpPr>
        <p:spPr>
          <a:xfrm rot="0">
            <a:off x="1005821" y="4872971"/>
            <a:ext cx="9327147" cy="2952750"/>
          </a:xfrm>
          <a:prstGeom prst="rect">
            <a:avLst/>
          </a:prstGeom>
        </p:spPr>
        <p:txBody>
          <a:bodyPr anchor="t" rtlCol="false" tIns="0" lIns="0" bIns="0" rIns="0">
            <a:spAutoFit/>
          </a:bodyPr>
          <a:lstStyle/>
          <a:p>
            <a:pPr algn="l">
              <a:lnSpc>
                <a:spcPts val="3359"/>
              </a:lnSpc>
            </a:pPr>
            <a:r>
              <a:rPr lang="en-US" sz="2799">
                <a:solidFill>
                  <a:srgbClr val="CBD5E1"/>
                </a:solidFill>
                <a:latin typeface="Arial"/>
                <a:ea typeface="Arial"/>
                <a:cs typeface="Arial"/>
                <a:sym typeface="Arial"/>
              </a:rPr>
              <a:t>Clinical teams can study the False Positive Data — patients who were </a:t>
            </a:r>
            <a:r>
              <a:rPr lang="en-US" b="true" sz="2799">
                <a:solidFill>
                  <a:srgbClr val="CBD5E1"/>
                </a:solidFill>
                <a:latin typeface="Arial Bold"/>
                <a:ea typeface="Arial Bold"/>
                <a:cs typeface="Arial Bold"/>
                <a:sym typeface="Arial Bold"/>
              </a:rPr>
              <a:t>flagged for readmission but did not actually readmit. </a:t>
            </a:r>
          </a:p>
          <a:p>
            <a:pPr algn="l">
              <a:lnSpc>
                <a:spcPts val="3359"/>
              </a:lnSpc>
            </a:pPr>
          </a:p>
          <a:p>
            <a:pPr algn="l">
              <a:lnSpc>
                <a:spcPts val="3359"/>
              </a:lnSpc>
            </a:pPr>
            <a:r>
              <a:rPr lang="en-US" sz="2799">
                <a:solidFill>
                  <a:srgbClr val="CBD5E1"/>
                </a:solidFill>
                <a:latin typeface="Arial"/>
                <a:ea typeface="Arial"/>
                <a:cs typeface="Arial"/>
                <a:sym typeface="Arial"/>
              </a:rPr>
              <a:t>By examining what these patients have in common, clinicians can identify </a:t>
            </a:r>
            <a:r>
              <a:rPr lang="en-US" b="true" sz="2799">
                <a:solidFill>
                  <a:srgbClr val="CBD5E1"/>
                </a:solidFill>
                <a:latin typeface="Arial Bold"/>
                <a:ea typeface="Arial Bold"/>
                <a:cs typeface="Arial Bold"/>
                <a:sym typeface="Arial Bold"/>
              </a:rPr>
              <a:t>protective factors </a:t>
            </a:r>
            <a:r>
              <a:rPr lang="en-US" sz="2799">
                <a:solidFill>
                  <a:srgbClr val="CBD5E1"/>
                </a:solidFill>
                <a:latin typeface="Arial"/>
                <a:ea typeface="Arial"/>
                <a:cs typeface="Arial"/>
                <a:sym typeface="Arial"/>
              </a:rPr>
              <a:t>and understand what makes recovery successful.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9F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354797" cy="10312403"/>
            <a:chOff x="0" y="0"/>
            <a:chExt cx="473062" cy="13749871"/>
          </a:xfrm>
        </p:grpSpPr>
        <p:sp>
          <p:nvSpPr>
            <p:cNvPr name="Freeform 3" id="3"/>
            <p:cNvSpPr/>
            <p:nvPr/>
          </p:nvSpPr>
          <p:spPr>
            <a:xfrm flipH="false" flipV="false" rot="0">
              <a:off x="16891" y="16891"/>
              <a:ext cx="439293" cy="13715999"/>
            </a:xfrm>
            <a:custGeom>
              <a:avLst/>
              <a:gdLst/>
              <a:ahLst/>
              <a:cxnLst/>
              <a:rect r="r" b="b" t="t" l="l"/>
              <a:pathLst>
                <a:path h="13715999" w="439293">
                  <a:moveTo>
                    <a:pt x="0" y="0"/>
                  </a:moveTo>
                  <a:lnTo>
                    <a:pt x="439293" y="0"/>
                  </a:lnTo>
                  <a:lnTo>
                    <a:pt x="439293" y="13715999"/>
                  </a:lnTo>
                  <a:lnTo>
                    <a:pt x="0" y="13715999"/>
                  </a:lnTo>
                  <a:close/>
                </a:path>
              </a:pathLst>
            </a:custGeom>
            <a:solidFill>
              <a:srgbClr val="0D3D56"/>
            </a:solidFill>
          </p:spPr>
        </p:sp>
        <p:sp>
          <p:nvSpPr>
            <p:cNvPr name="Freeform 4" id="4"/>
            <p:cNvSpPr/>
            <p:nvPr/>
          </p:nvSpPr>
          <p:spPr>
            <a:xfrm flipH="false" flipV="false" rot="0">
              <a:off x="0" y="0"/>
              <a:ext cx="473075" cy="13749782"/>
            </a:xfrm>
            <a:custGeom>
              <a:avLst/>
              <a:gdLst/>
              <a:ahLst/>
              <a:cxnLst/>
              <a:rect r="r" b="b" t="t" l="l"/>
              <a:pathLst>
                <a:path h="13749782" w="473075">
                  <a:moveTo>
                    <a:pt x="16891" y="0"/>
                  </a:moveTo>
                  <a:lnTo>
                    <a:pt x="456184" y="0"/>
                  </a:lnTo>
                  <a:cubicBezTo>
                    <a:pt x="465582" y="0"/>
                    <a:pt x="473075" y="7620"/>
                    <a:pt x="473075" y="16891"/>
                  </a:cubicBezTo>
                  <a:lnTo>
                    <a:pt x="473075" y="13732890"/>
                  </a:lnTo>
                  <a:cubicBezTo>
                    <a:pt x="473075" y="13742290"/>
                    <a:pt x="465455" y="13749782"/>
                    <a:pt x="456184"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456184" y="13716000"/>
                  </a:lnTo>
                  <a:lnTo>
                    <a:pt x="456184" y="13732890"/>
                  </a:lnTo>
                  <a:lnTo>
                    <a:pt x="439166" y="13732890"/>
                  </a:lnTo>
                  <a:lnTo>
                    <a:pt x="439166" y="16891"/>
                  </a:lnTo>
                  <a:lnTo>
                    <a:pt x="456057" y="16891"/>
                  </a:lnTo>
                  <a:lnTo>
                    <a:pt x="456057" y="33909"/>
                  </a:lnTo>
                  <a:lnTo>
                    <a:pt x="16891" y="33909"/>
                  </a:lnTo>
                  <a:close/>
                </a:path>
              </a:pathLst>
            </a:custGeom>
            <a:solidFill>
              <a:srgbClr val="0D3D56"/>
            </a:solidFill>
          </p:spPr>
        </p:sp>
      </p:grpSp>
      <p:grpSp>
        <p:nvGrpSpPr>
          <p:cNvPr name="Group 5" id="5"/>
          <p:cNvGrpSpPr/>
          <p:nvPr/>
        </p:nvGrpSpPr>
        <p:grpSpPr>
          <a:xfrm rot="0">
            <a:off x="731520" y="640080"/>
            <a:ext cx="16825198" cy="1371600"/>
            <a:chOff x="0" y="0"/>
            <a:chExt cx="22433598" cy="1828800"/>
          </a:xfrm>
        </p:grpSpPr>
        <p:sp>
          <p:nvSpPr>
            <p:cNvPr name="Freeform 6" id="6"/>
            <p:cNvSpPr/>
            <p:nvPr/>
          </p:nvSpPr>
          <p:spPr>
            <a:xfrm flipH="false" flipV="false" rot="0">
              <a:off x="0" y="0"/>
              <a:ext cx="22433600" cy="1828800"/>
            </a:xfrm>
            <a:custGeom>
              <a:avLst/>
              <a:gdLst/>
              <a:ahLst/>
              <a:cxnLst/>
              <a:rect r="r" b="b" t="t" l="l"/>
              <a:pathLst>
                <a:path h="1828800" w="22433600">
                  <a:moveTo>
                    <a:pt x="0" y="0"/>
                  </a:moveTo>
                  <a:lnTo>
                    <a:pt x="22433600" y="0"/>
                  </a:lnTo>
                  <a:lnTo>
                    <a:pt x="22433600" y="1828800"/>
                  </a:lnTo>
                  <a:lnTo>
                    <a:pt x="0" y="1828800"/>
                  </a:lnTo>
                  <a:close/>
                </a:path>
              </a:pathLst>
            </a:custGeom>
            <a:blipFill>
              <a:blip r:embed="rId3">
                <a:alphaModFix amt="0"/>
              </a:blip>
              <a:stretch>
                <a:fillRect l="0" t="-189019" r="0" b="-189019"/>
              </a:stretch>
            </a:blipFill>
          </p:spPr>
        </p:sp>
        <p:sp>
          <p:nvSpPr>
            <p:cNvPr name="TextBox 7" id="7"/>
            <p:cNvSpPr txBox="true"/>
            <p:nvPr/>
          </p:nvSpPr>
          <p:spPr>
            <a:xfrm>
              <a:off x="0" y="-9525"/>
              <a:ext cx="22433598" cy="1838325"/>
            </a:xfrm>
            <a:prstGeom prst="rect">
              <a:avLst/>
            </a:prstGeom>
          </p:spPr>
          <p:txBody>
            <a:bodyPr anchor="ctr" rtlCol="false" tIns="0" lIns="0" bIns="0" rIns="0"/>
            <a:lstStyle/>
            <a:p>
              <a:pPr algn="l">
                <a:lnSpc>
                  <a:spcPts val="7200"/>
                </a:lnSpc>
              </a:pPr>
              <a:r>
                <a:rPr lang="en-US" b="true" sz="6000">
                  <a:solidFill>
                    <a:srgbClr val="0D3D56"/>
                  </a:solidFill>
                  <a:latin typeface="Trebuchet MS Bold"/>
                  <a:ea typeface="Trebuchet MS Bold"/>
                  <a:cs typeface="Trebuchet MS Bold"/>
                  <a:sym typeface="Trebuchet MS Bold"/>
                </a:rPr>
                <a:t>Getting more accurate predictions</a:t>
              </a:r>
            </a:p>
          </p:txBody>
        </p:sp>
      </p:grpSp>
      <p:grpSp>
        <p:nvGrpSpPr>
          <p:cNvPr name="Group 8" id="8"/>
          <p:cNvGrpSpPr/>
          <p:nvPr/>
        </p:nvGrpSpPr>
        <p:grpSpPr>
          <a:xfrm rot="0">
            <a:off x="731520" y="1828800"/>
            <a:ext cx="16825198" cy="731400"/>
            <a:chOff x="0" y="0"/>
            <a:chExt cx="22433598" cy="975200"/>
          </a:xfrm>
        </p:grpSpPr>
        <p:sp>
          <p:nvSpPr>
            <p:cNvPr name="Freeform 9" id="9"/>
            <p:cNvSpPr/>
            <p:nvPr/>
          </p:nvSpPr>
          <p:spPr>
            <a:xfrm flipH="false" flipV="false" rot="0">
              <a:off x="0" y="0"/>
              <a:ext cx="22433600" cy="975205"/>
            </a:xfrm>
            <a:custGeom>
              <a:avLst/>
              <a:gdLst/>
              <a:ahLst/>
              <a:cxnLst/>
              <a:rect r="r" b="b" t="t" l="l"/>
              <a:pathLst>
                <a:path h="975205" w="22433600">
                  <a:moveTo>
                    <a:pt x="0" y="0"/>
                  </a:moveTo>
                  <a:lnTo>
                    <a:pt x="22433600" y="0"/>
                  </a:lnTo>
                  <a:lnTo>
                    <a:pt x="22433600" y="975205"/>
                  </a:lnTo>
                  <a:lnTo>
                    <a:pt x="0" y="975205"/>
                  </a:lnTo>
                  <a:close/>
                </a:path>
              </a:pathLst>
            </a:custGeom>
            <a:blipFill>
              <a:blip r:embed="rId3">
                <a:alphaModFix amt="0"/>
              </a:blip>
              <a:stretch>
                <a:fillRect l="0" t="-398233" r="0" b="-398232"/>
              </a:stretch>
            </a:blipFill>
          </p:spPr>
        </p:sp>
        <p:sp>
          <p:nvSpPr>
            <p:cNvPr name="TextBox 10" id="10"/>
            <p:cNvSpPr txBox="true"/>
            <p:nvPr/>
          </p:nvSpPr>
          <p:spPr>
            <a:xfrm>
              <a:off x="0" y="-47625"/>
              <a:ext cx="22433598" cy="1022825"/>
            </a:xfrm>
            <a:prstGeom prst="rect">
              <a:avLst/>
            </a:prstGeom>
          </p:spPr>
          <p:txBody>
            <a:bodyPr anchor="ctr" rtlCol="false" tIns="0" lIns="0" bIns="0" rIns="0"/>
            <a:lstStyle/>
            <a:p>
              <a:pPr algn="l">
                <a:lnSpc>
                  <a:spcPts val="3359"/>
                </a:lnSpc>
              </a:pPr>
              <a:r>
                <a:rPr lang="en-US" sz="2799" i="true">
                  <a:solidFill>
                    <a:srgbClr val="000000"/>
                  </a:solidFill>
                  <a:latin typeface="Calibri (MS) Italics"/>
                  <a:ea typeface="Calibri (MS) Italics"/>
                  <a:cs typeface="Calibri (MS) Italics"/>
                  <a:sym typeface="Calibri (MS) Italics"/>
                </a:rPr>
                <a:t>Beyond getting Singapore data, additional data collection could strengthen the model</a:t>
              </a:r>
            </a:p>
          </p:txBody>
        </p:sp>
      </p:grpSp>
      <p:grpSp>
        <p:nvGrpSpPr>
          <p:cNvPr name="Group 11" id="11"/>
          <p:cNvGrpSpPr/>
          <p:nvPr/>
        </p:nvGrpSpPr>
        <p:grpSpPr>
          <a:xfrm rot="0">
            <a:off x="993143" y="3004823"/>
            <a:ext cx="5145796" cy="5145796"/>
            <a:chOff x="0" y="0"/>
            <a:chExt cx="6861061" cy="6861061"/>
          </a:xfrm>
        </p:grpSpPr>
        <p:sp>
          <p:nvSpPr>
            <p:cNvPr name="Freeform 12" id="12"/>
            <p:cNvSpPr/>
            <p:nvPr/>
          </p:nvSpPr>
          <p:spPr>
            <a:xfrm flipH="false" flipV="false" rot="0">
              <a:off x="16891" y="16891"/>
              <a:ext cx="6827266" cy="6827266"/>
            </a:xfrm>
            <a:custGeom>
              <a:avLst/>
              <a:gdLst/>
              <a:ahLst/>
              <a:cxnLst/>
              <a:rect r="r" b="b" t="t" l="l"/>
              <a:pathLst>
                <a:path h="6827266" w="6827266">
                  <a:moveTo>
                    <a:pt x="0" y="0"/>
                  </a:moveTo>
                  <a:lnTo>
                    <a:pt x="6827266" y="0"/>
                  </a:lnTo>
                  <a:lnTo>
                    <a:pt x="6827266" y="6827266"/>
                  </a:lnTo>
                  <a:lnTo>
                    <a:pt x="0" y="6827266"/>
                  </a:lnTo>
                  <a:close/>
                </a:path>
              </a:pathLst>
            </a:custGeom>
            <a:solidFill>
              <a:srgbClr val="CBD5E1">
                <a:alpha val="15686"/>
              </a:srgbClr>
            </a:solidFill>
          </p:spPr>
        </p:sp>
        <p:sp>
          <p:nvSpPr>
            <p:cNvPr name="Freeform 13" id="13"/>
            <p:cNvSpPr/>
            <p:nvPr/>
          </p:nvSpPr>
          <p:spPr>
            <a:xfrm flipH="false" flipV="false" rot="0">
              <a:off x="0" y="0"/>
              <a:ext cx="6861048" cy="6861048"/>
            </a:xfrm>
            <a:custGeom>
              <a:avLst/>
              <a:gdLst/>
              <a:ahLst/>
              <a:cxnLst/>
              <a:rect r="r" b="b" t="t" l="l"/>
              <a:pathLst>
                <a:path h="6861048" w="6861048">
                  <a:moveTo>
                    <a:pt x="16891" y="0"/>
                  </a:moveTo>
                  <a:lnTo>
                    <a:pt x="6844157" y="0"/>
                  </a:lnTo>
                  <a:cubicBezTo>
                    <a:pt x="6853555" y="0"/>
                    <a:pt x="6861048" y="7620"/>
                    <a:pt x="6861048" y="16891"/>
                  </a:cubicBezTo>
                  <a:lnTo>
                    <a:pt x="6861048" y="6844157"/>
                  </a:lnTo>
                  <a:cubicBezTo>
                    <a:pt x="6861048" y="6853555"/>
                    <a:pt x="6853427" y="6861048"/>
                    <a:pt x="6844157" y="6861048"/>
                  </a:cubicBezTo>
                  <a:lnTo>
                    <a:pt x="16891" y="6861048"/>
                  </a:lnTo>
                  <a:cubicBezTo>
                    <a:pt x="7493" y="6861048"/>
                    <a:pt x="0" y="6853427"/>
                    <a:pt x="0" y="6844157"/>
                  </a:cubicBezTo>
                  <a:lnTo>
                    <a:pt x="0" y="16891"/>
                  </a:lnTo>
                  <a:cubicBezTo>
                    <a:pt x="0" y="7620"/>
                    <a:pt x="7620" y="0"/>
                    <a:pt x="16891" y="0"/>
                  </a:cubicBezTo>
                  <a:moveTo>
                    <a:pt x="16891" y="33909"/>
                  </a:moveTo>
                  <a:lnTo>
                    <a:pt x="16891" y="16891"/>
                  </a:lnTo>
                  <a:lnTo>
                    <a:pt x="33909" y="16891"/>
                  </a:lnTo>
                  <a:lnTo>
                    <a:pt x="33909" y="6844157"/>
                  </a:lnTo>
                  <a:lnTo>
                    <a:pt x="16891" y="6844157"/>
                  </a:lnTo>
                  <a:lnTo>
                    <a:pt x="16891" y="6827265"/>
                  </a:lnTo>
                  <a:lnTo>
                    <a:pt x="6844157" y="6827265"/>
                  </a:lnTo>
                  <a:lnTo>
                    <a:pt x="6844157" y="6844157"/>
                  </a:lnTo>
                  <a:lnTo>
                    <a:pt x="6827265" y="6844157"/>
                  </a:lnTo>
                  <a:lnTo>
                    <a:pt x="6827265" y="16891"/>
                  </a:lnTo>
                  <a:lnTo>
                    <a:pt x="6844157" y="16891"/>
                  </a:lnTo>
                  <a:lnTo>
                    <a:pt x="6844157" y="33909"/>
                  </a:lnTo>
                  <a:lnTo>
                    <a:pt x="16891" y="33909"/>
                  </a:lnTo>
                  <a:close/>
                </a:path>
              </a:pathLst>
            </a:custGeom>
            <a:solidFill>
              <a:srgbClr val="CBD5E1">
                <a:alpha val="15686"/>
              </a:srgbClr>
            </a:solidFill>
          </p:spPr>
        </p:sp>
      </p:grpSp>
      <p:grpSp>
        <p:nvGrpSpPr>
          <p:cNvPr name="Group 14" id="14"/>
          <p:cNvGrpSpPr/>
          <p:nvPr/>
        </p:nvGrpSpPr>
        <p:grpSpPr>
          <a:xfrm rot="0">
            <a:off x="901703" y="2913383"/>
            <a:ext cx="5145796" cy="5145796"/>
            <a:chOff x="0" y="0"/>
            <a:chExt cx="6861061" cy="6861061"/>
          </a:xfrm>
        </p:grpSpPr>
        <p:sp>
          <p:nvSpPr>
            <p:cNvPr name="Freeform 15" id="15"/>
            <p:cNvSpPr/>
            <p:nvPr/>
          </p:nvSpPr>
          <p:spPr>
            <a:xfrm flipH="false" flipV="false" rot="0">
              <a:off x="16891" y="16891"/>
              <a:ext cx="6827266" cy="6827266"/>
            </a:xfrm>
            <a:custGeom>
              <a:avLst/>
              <a:gdLst/>
              <a:ahLst/>
              <a:cxnLst/>
              <a:rect r="r" b="b" t="t" l="l"/>
              <a:pathLst>
                <a:path h="6827266" w="6827266">
                  <a:moveTo>
                    <a:pt x="0" y="0"/>
                  </a:moveTo>
                  <a:lnTo>
                    <a:pt x="6827266" y="0"/>
                  </a:lnTo>
                  <a:lnTo>
                    <a:pt x="6827266" y="6827266"/>
                  </a:lnTo>
                  <a:lnTo>
                    <a:pt x="0" y="6827266"/>
                  </a:lnTo>
                  <a:close/>
                </a:path>
              </a:pathLst>
            </a:custGeom>
            <a:solidFill>
              <a:srgbClr val="FFFFFF"/>
            </a:solidFill>
          </p:spPr>
        </p:sp>
        <p:sp>
          <p:nvSpPr>
            <p:cNvPr name="Freeform 16" id="16"/>
            <p:cNvSpPr/>
            <p:nvPr/>
          </p:nvSpPr>
          <p:spPr>
            <a:xfrm flipH="false" flipV="false" rot="0">
              <a:off x="0" y="0"/>
              <a:ext cx="6861048" cy="6861048"/>
            </a:xfrm>
            <a:custGeom>
              <a:avLst/>
              <a:gdLst/>
              <a:ahLst/>
              <a:cxnLst/>
              <a:rect r="r" b="b" t="t" l="l"/>
              <a:pathLst>
                <a:path h="6861048" w="6861048">
                  <a:moveTo>
                    <a:pt x="16891" y="0"/>
                  </a:moveTo>
                  <a:lnTo>
                    <a:pt x="6844157" y="0"/>
                  </a:lnTo>
                  <a:cubicBezTo>
                    <a:pt x="6853555" y="0"/>
                    <a:pt x="6861048" y="7620"/>
                    <a:pt x="6861048" y="16891"/>
                  </a:cubicBezTo>
                  <a:lnTo>
                    <a:pt x="6861048" y="6844157"/>
                  </a:lnTo>
                  <a:cubicBezTo>
                    <a:pt x="6861048" y="6853555"/>
                    <a:pt x="6853427" y="6861048"/>
                    <a:pt x="6844157" y="6861048"/>
                  </a:cubicBezTo>
                  <a:lnTo>
                    <a:pt x="16891" y="6861048"/>
                  </a:lnTo>
                  <a:cubicBezTo>
                    <a:pt x="7493" y="6861048"/>
                    <a:pt x="0" y="6853427"/>
                    <a:pt x="0" y="6844157"/>
                  </a:cubicBezTo>
                  <a:lnTo>
                    <a:pt x="0" y="16891"/>
                  </a:lnTo>
                  <a:cubicBezTo>
                    <a:pt x="0" y="7620"/>
                    <a:pt x="7620" y="0"/>
                    <a:pt x="16891" y="0"/>
                  </a:cubicBezTo>
                  <a:moveTo>
                    <a:pt x="16891" y="33909"/>
                  </a:moveTo>
                  <a:lnTo>
                    <a:pt x="16891" y="16891"/>
                  </a:lnTo>
                  <a:lnTo>
                    <a:pt x="33909" y="16891"/>
                  </a:lnTo>
                  <a:lnTo>
                    <a:pt x="33909" y="6844157"/>
                  </a:lnTo>
                  <a:lnTo>
                    <a:pt x="16891" y="6844157"/>
                  </a:lnTo>
                  <a:lnTo>
                    <a:pt x="16891" y="6827265"/>
                  </a:lnTo>
                  <a:lnTo>
                    <a:pt x="6844157" y="6827265"/>
                  </a:lnTo>
                  <a:lnTo>
                    <a:pt x="6844157" y="6844157"/>
                  </a:lnTo>
                  <a:lnTo>
                    <a:pt x="6827265" y="6844157"/>
                  </a:lnTo>
                  <a:lnTo>
                    <a:pt x="6827265" y="16891"/>
                  </a:lnTo>
                  <a:lnTo>
                    <a:pt x="6844157" y="16891"/>
                  </a:lnTo>
                  <a:lnTo>
                    <a:pt x="6844157" y="33909"/>
                  </a:lnTo>
                  <a:lnTo>
                    <a:pt x="16891" y="33909"/>
                  </a:lnTo>
                  <a:close/>
                </a:path>
              </a:pathLst>
            </a:custGeom>
            <a:solidFill>
              <a:srgbClr val="E2E8F0"/>
            </a:solidFill>
          </p:spPr>
        </p:sp>
      </p:grpSp>
      <p:grpSp>
        <p:nvGrpSpPr>
          <p:cNvPr name="Group 17" id="17"/>
          <p:cNvGrpSpPr/>
          <p:nvPr/>
        </p:nvGrpSpPr>
        <p:grpSpPr>
          <a:xfrm rot="0">
            <a:off x="901703" y="2913383"/>
            <a:ext cx="5145796" cy="171802"/>
            <a:chOff x="0" y="0"/>
            <a:chExt cx="6861061" cy="229070"/>
          </a:xfrm>
        </p:grpSpPr>
        <p:sp>
          <p:nvSpPr>
            <p:cNvPr name="Freeform 18" id="18"/>
            <p:cNvSpPr/>
            <p:nvPr/>
          </p:nvSpPr>
          <p:spPr>
            <a:xfrm flipH="false" flipV="false" rot="0">
              <a:off x="16891" y="16891"/>
              <a:ext cx="6827266" cy="195199"/>
            </a:xfrm>
            <a:custGeom>
              <a:avLst/>
              <a:gdLst/>
              <a:ahLst/>
              <a:cxnLst/>
              <a:rect r="r" b="b" t="t" l="l"/>
              <a:pathLst>
                <a:path h="195199" w="6827266">
                  <a:moveTo>
                    <a:pt x="0" y="0"/>
                  </a:moveTo>
                  <a:lnTo>
                    <a:pt x="6827266" y="0"/>
                  </a:lnTo>
                  <a:lnTo>
                    <a:pt x="6827266" y="195199"/>
                  </a:lnTo>
                  <a:lnTo>
                    <a:pt x="0" y="195199"/>
                  </a:lnTo>
                  <a:close/>
                </a:path>
              </a:pathLst>
            </a:custGeom>
            <a:solidFill>
              <a:srgbClr val="028090"/>
            </a:solidFill>
          </p:spPr>
        </p:sp>
        <p:sp>
          <p:nvSpPr>
            <p:cNvPr name="Freeform 19" id="19"/>
            <p:cNvSpPr/>
            <p:nvPr/>
          </p:nvSpPr>
          <p:spPr>
            <a:xfrm flipH="false" flipV="false" rot="0">
              <a:off x="0" y="0"/>
              <a:ext cx="6861048" cy="228983"/>
            </a:xfrm>
            <a:custGeom>
              <a:avLst/>
              <a:gdLst/>
              <a:ahLst/>
              <a:cxnLst/>
              <a:rect r="r" b="b" t="t" l="l"/>
              <a:pathLst>
                <a:path h="228983" w="6861048">
                  <a:moveTo>
                    <a:pt x="16891" y="0"/>
                  </a:moveTo>
                  <a:lnTo>
                    <a:pt x="6844157" y="0"/>
                  </a:lnTo>
                  <a:cubicBezTo>
                    <a:pt x="6853555" y="0"/>
                    <a:pt x="6861048" y="7620"/>
                    <a:pt x="6861048" y="16891"/>
                  </a:cubicBezTo>
                  <a:lnTo>
                    <a:pt x="6861048" y="212090"/>
                  </a:lnTo>
                  <a:cubicBezTo>
                    <a:pt x="6861048" y="221488"/>
                    <a:pt x="6853427" y="228981"/>
                    <a:pt x="6844157" y="228981"/>
                  </a:cubicBezTo>
                  <a:lnTo>
                    <a:pt x="16891" y="228981"/>
                  </a:lnTo>
                  <a:cubicBezTo>
                    <a:pt x="7620" y="229108"/>
                    <a:pt x="0" y="221488"/>
                    <a:pt x="0" y="212090"/>
                  </a:cubicBezTo>
                  <a:lnTo>
                    <a:pt x="0" y="16891"/>
                  </a:lnTo>
                  <a:cubicBezTo>
                    <a:pt x="0" y="7620"/>
                    <a:pt x="7620" y="0"/>
                    <a:pt x="16891" y="0"/>
                  </a:cubicBezTo>
                  <a:moveTo>
                    <a:pt x="16891" y="33909"/>
                  </a:moveTo>
                  <a:lnTo>
                    <a:pt x="16891" y="16891"/>
                  </a:lnTo>
                  <a:lnTo>
                    <a:pt x="33909" y="16891"/>
                  </a:lnTo>
                  <a:lnTo>
                    <a:pt x="33909" y="212090"/>
                  </a:lnTo>
                  <a:lnTo>
                    <a:pt x="16891" y="212090"/>
                  </a:lnTo>
                  <a:lnTo>
                    <a:pt x="16891" y="195199"/>
                  </a:lnTo>
                  <a:lnTo>
                    <a:pt x="6844157" y="195199"/>
                  </a:lnTo>
                  <a:lnTo>
                    <a:pt x="6844157" y="212090"/>
                  </a:lnTo>
                  <a:lnTo>
                    <a:pt x="6827265" y="212090"/>
                  </a:lnTo>
                  <a:lnTo>
                    <a:pt x="6827265" y="16891"/>
                  </a:lnTo>
                  <a:lnTo>
                    <a:pt x="6844157" y="16891"/>
                  </a:lnTo>
                  <a:lnTo>
                    <a:pt x="6844157" y="33909"/>
                  </a:lnTo>
                  <a:lnTo>
                    <a:pt x="16891" y="33909"/>
                  </a:lnTo>
                  <a:close/>
                </a:path>
              </a:pathLst>
            </a:custGeom>
            <a:solidFill>
              <a:srgbClr val="028090"/>
            </a:solidFill>
          </p:spPr>
        </p:sp>
      </p:grpSp>
      <p:grpSp>
        <p:nvGrpSpPr>
          <p:cNvPr name="Group 20" id="20"/>
          <p:cNvGrpSpPr/>
          <p:nvPr/>
        </p:nvGrpSpPr>
        <p:grpSpPr>
          <a:xfrm rot="0">
            <a:off x="1280160" y="3291840"/>
            <a:ext cx="1097404" cy="1097404"/>
            <a:chOff x="0" y="0"/>
            <a:chExt cx="1463205" cy="1463205"/>
          </a:xfrm>
        </p:grpSpPr>
        <p:sp>
          <p:nvSpPr>
            <p:cNvPr name="Freeform 21" id="21"/>
            <p:cNvSpPr/>
            <p:nvPr/>
          </p:nvSpPr>
          <p:spPr>
            <a:xfrm flipH="false" flipV="false" rot="0">
              <a:off x="0" y="0"/>
              <a:ext cx="1463200" cy="1463200"/>
            </a:xfrm>
            <a:custGeom>
              <a:avLst/>
              <a:gdLst/>
              <a:ahLst/>
              <a:cxnLst/>
              <a:rect r="r" b="b" t="t" l="l"/>
              <a:pathLst>
                <a:path h="1463200" w="1463200">
                  <a:moveTo>
                    <a:pt x="0" y="0"/>
                  </a:moveTo>
                  <a:lnTo>
                    <a:pt x="1463200" y="0"/>
                  </a:lnTo>
                  <a:lnTo>
                    <a:pt x="1463200" y="1463200"/>
                  </a:lnTo>
                  <a:lnTo>
                    <a:pt x="0" y="1463200"/>
                  </a:lnTo>
                  <a:close/>
                </a:path>
              </a:pathLst>
            </a:custGeom>
            <a:blipFill>
              <a:blip r:embed="rId3">
                <a:alphaModFix amt="0"/>
              </a:blip>
              <a:stretch>
                <a:fillRect l="-78303" t="0" r="-78304" b="0"/>
              </a:stretch>
            </a:blipFill>
          </p:spPr>
        </p:sp>
        <p:sp>
          <p:nvSpPr>
            <p:cNvPr name="TextBox 22" id="22"/>
            <p:cNvSpPr txBox="true"/>
            <p:nvPr/>
          </p:nvSpPr>
          <p:spPr>
            <a:xfrm>
              <a:off x="0" y="-76200"/>
              <a:ext cx="1463205" cy="1539405"/>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23" id="23"/>
          <p:cNvGrpSpPr/>
          <p:nvPr/>
        </p:nvGrpSpPr>
        <p:grpSpPr>
          <a:xfrm rot="0">
            <a:off x="1188720" y="4480560"/>
            <a:ext cx="4572000" cy="823198"/>
            <a:chOff x="0" y="0"/>
            <a:chExt cx="6096000" cy="1097598"/>
          </a:xfrm>
        </p:grpSpPr>
        <p:sp>
          <p:nvSpPr>
            <p:cNvPr name="Freeform 24" id="24"/>
            <p:cNvSpPr/>
            <p:nvPr/>
          </p:nvSpPr>
          <p:spPr>
            <a:xfrm flipH="false" flipV="false" rot="0">
              <a:off x="0" y="0"/>
              <a:ext cx="6096000" cy="1097600"/>
            </a:xfrm>
            <a:custGeom>
              <a:avLst/>
              <a:gdLst/>
              <a:ahLst/>
              <a:cxnLst/>
              <a:rect r="r" b="b" t="t" l="l"/>
              <a:pathLst>
                <a:path h="1097600" w="6096000">
                  <a:moveTo>
                    <a:pt x="0" y="0"/>
                  </a:moveTo>
                  <a:lnTo>
                    <a:pt x="6096000" y="0"/>
                  </a:lnTo>
                  <a:lnTo>
                    <a:pt x="6096000" y="1097600"/>
                  </a:lnTo>
                  <a:lnTo>
                    <a:pt x="0" y="1097600"/>
                  </a:lnTo>
                  <a:close/>
                </a:path>
              </a:pathLst>
            </a:custGeom>
            <a:blipFill>
              <a:blip r:embed="rId3">
                <a:alphaModFix amt="0"/>
              </a:blip>
              <a:stretch>
                <a:fillRect l="0" t="-58218" r="0" b="-58218"/>
              </a:stretch>
            </a:blipFill>
          </p:spPr>
        </p:sp>
        <p:sp>
          <p:nvSpPr>
            <p:cNvPr name="TextBox 25" id="25"/>
            <p:cNvSpPr txBox="true"/>
            <p:nvPr/>
          </p:nvSpPr>
          <p:spPr>
            <a:xfrm>
              <a:off x="0" y="0"/>
              <a:ext cx="6096000" cy="1097598"/>
            </a:xfrm>
            <a:prstGeom prst="rect">
              <a:avLst/>
            </a:prstGeom>
          </p:spPr>
          <p:txBody>
            <a:bodyPr anchor="ctr" rtlCol="false" tIns="0" lIns="0" bIns="0" rIns="0"/>
            <a:lstStyle/>
            <a:p>
              <a:pPr algn="l">
                <a:lnSpc>
                  <a:spcPts val="3840"/>
                </a:lnSpc>
              </a:pPr>
              <a:r>
                <a:rPr lang="en-US" b="true" sz="3200">
                  <a:solidFill>
                    <a:srgbClr val="0D3D56"/>
                  </a:solidFill>
                  <a:latin typeface="Trebuchet MS Bold"/>
                  <a:ea typeface="Trebuchet MS Bold"/>
                  <a:cs typeface="Trebuchet MS Bold"/>
                  <a:sym typeface="Trebuchet MS Bold"/>
                </a:rPr>
                <a:t>Weight</a:t>
              </a:r>
            </a:p>
          </p:txBody>
        </p:sp>
      </p:grpSp>
      <p:grpSp>
        <p:nvGrpSpPr>
          <p:cNvPr name="Group 26" id="26"/>
          <p:cNvGrpSpPr/>
          <p:nvPr/>
        </p:nvGrpSpPr>
        <p:grpSpPr>
          <a:xfrm rot="0">
            <a:off x="6845303" y="3004823"/>
            <a:ext cx="5145796" cy="5145796"/>
            <a:chOff x="0" y="0"/>
            <a:chExt cx="6861061" cy="6861061"/>
          </a:xfrm>
        </p:grpSpPr>
        <p:sp>
          <p:nvSpPr>
            <p:cNvPr name="Freeform 27" id="27"/>
            <p:cNvSpPr/>
            <p:nvPr/>
          </p:nvSpPr>
          <p:spPr>
            <a:xfrm flipH="false" flipV="false" rot="0">
              <a:off x="16891" y="16891"/>
              <a:ext cx="6827266" cy="6827266"/>
            </a:xfrm>
            <a:custGeom>
              <a:avLst/>
              <a:gdLst/>
              <a:ahLst/>
              <a:cxnLst/>
              <a:rect r="r" b="b" t="t" l="l"/>
              <a:pathLst>
                <a:path h="6827266" w="6827266">
                  <a:moveTo>
                    <a:pt x="0" y="0"/>
                  </a:moveTo>
                  <a:lnTo>
                    <a:pt x="6827266" y="0"/>
                  </a:lnTo>
                  <a:lnTo>
                    <a:pt x="6827266" y="6827266"/>
                  </a:lnTo>
                  <a:lnTo>
                    <a:pt x="0" y="6827266"/>
                  </a:lnTo>
                  <a:close/>
                </a:path>
              </a:pathLst>
            </a:custGeom>
            <a:solidFill>
              <a:srgbClr val="CBD5E1">
                <a:alpha val="15686"/>
              </a:srgbClr>
            </a:solidFill>
          </p:spPr>
        </p:sp>
        <p:sp>
          <p:nvSpPr>
            <p:cNvPr name="Freeform 28" id="28"/>
            <p:cNvSpPr/>
            <p:nvPr/>
          </p:nvSpPr>
          <p:spPr>
            <a:xfrm flipH="false" flipV="false" rot="0">
              <a:off x="0" y="0"/>
              <a:ext cx="6861048" cy="6861048"/>
            </a:xfrm>
            <a:custGeom>
              <a:avLst/>
              <a:gdLst/>
              <a:ahLst/>
              <a:cxnLst/>
              <a:rect r="r" b="b" t="t" l="l"/>
              <a:pathLst>
                <a:path h="6861048" w="6861048">
                  <a:moveTo>
                    <a:pt x="16891" y="0"/>
                  </a:moveTo>
                  <a:lnTo>
                    <a:pt x="6844157" y="0"/>
                  </a:lnTo>
                  <a:cubicBezTo>
                    <a:pt x="6853555" y="0"/>
                    <a:pt x="6861048" y="7620"/>
                    <a:pt x="6861048" y="16891"/>
                  </a:cubicBezTo>
                  <a:lnTo>
                    <a:pt x="6861048" y="6844157"/>
                  </a:lnTo>
                  <a:cubicBezTo>
                    <a:pt x="6861048" y="6853555"/>
                    <a:pt x="6853427" y="6861048"/>
                    <a:pt x="6844157" y="6861048"/>
                  </a:cubicBezTo>
                  <a:lnTo>
                    <a:pt x="16891" y="6861048"/>
                  </a:lnTo>
                  <a:cubicBezTo>
                    <a:pt x="7493" y="6861048"/>
                    <a:pt x="0" y="6853427"/>
                    <a:pt x="0" y="6844157"/>
                  </a:cubicBezTo>
                  <a:lnTo>
                    <a:pt x="0" y="16891"/>
                  </a:lnTo>
                  <a:cubicBezTo>
                    <a:pt x="0" y="7620"/>
                    <a:pt x="7620" y="0"/>
                    <a:pt x="16891" y="0"/>
                  </a:cubicBezTo>
                  <a:moveTo>
                    <a:pt x="16891" y="33909"/>
                  </a:moveTo>
                  <a:lnTo>
                    <a:pt x="16891" y="16891"/>
                  </a:lnTo>
                  <a:lnTo>
                    <a:pt x="33909" y="16891"/>
                  </a:lnTo>
                  <a:lnTo>
                    <a:pt x="33909" y="6844157"/>
                  </a:lnTo>
                  <a:lnTo>
                    <a:pt x="16891" y="6844157"/>
                  </a:lnTo>
                  <a:lnTo>
                    <a:pt x="16891" y="6827265"/>
                  </a:lnTo>
                  <a:lnTo>
                    <a:pt x="6844157" y="6827265"/>
                  </a:lnTo>
                  <a:lnTo>
                    <a:pt x="6844157" y="6844157"/>
                  </a:lnTo>
                  <a:lnTo>
                    <a:pt x="6827265" y="6844157"/>
                  </a:lnTo>
                  <a:lnTo>
                    <a:pt x="6827265" y="16891"/>
                  </a:lnTo>
                  <a:lnTo>
                    <a:pt x="6844157" y="16891"/>
                  </a:lnTo>
                  <a:lnTo>
                    <a:pt x="6844157" y="33909"/>
                  </a:lnTo>
                  <a:lnTo>
                    <a:pt x="16891" y="33909"/>
                  </a:lnTo>
                  <a:close/>
                </a:path>
              </a:pathLst>
            </a:custGeom>
            <a:solidFill>
              <a:srgbClr val="CBD5E1">
                <a:alpha val="15686"/>
              </a:srgbClr>
            </a:solidFill>
          </p:spPr>
        </p:sp>
      </p:grpSp>
      <p:grpSp>
        <p:nvGrpSpPr>
          <p:cNvPr name="Group 29" id="29"/>
          <p:cNvGrpSpPr/>
          <p:nvPr/>
        </p:nvGrpSpPr>
        <p:grpSpPr>
          <a:xfrm rot="0">
            <a:off x="6753863" y="2913383"/>
            <a:ext cx="5145796" cy="5145796"/>
            <a:chOff x="0" y="0"/>
            <a:chExt cx="6861061" cy="6861061"/>
          </a:xfrm>
        </p:grpSpPr>
        <p:sp>
          <p:nvSpPr>
            <p:cNvPr name="Freeform 30" id="30"/>
            <p:cNvSpPr/>
            <p:nvPr/>
          </p:nvSpPr>
          <p:spPr>
            <a:xfrm flipH="false" flipV="false" rot="0">
              <a:off x="16891" y="16891"/>
              <a:ext cx="6827266" cy="6827266"/>
            </a:xfrm>
            <a:custGeom>
              <a:avLst/>
              <a:gdLst/>
              <a:ahLst/>
              <a:cxnLst/>
              <a:rect r="r" b="b" t="t" l="l"/>
              <a:pathLst>
                <a:path h="6827266" w="6827266">
                  <a:moveTo>
                    <a:pt x="0" y="0"/>
                  </a:moveTo>
                  <a:lnTo>
                    <a:pt x="6827266" y="0"/>
                  </a:lnTo>
                  <a:lnTo>
                    <a:pt x="6827266" y="6827266"/>
                  </a:lnTo>
                  <a:lnTo>
                    <a:pt x="0" y="6827266"/>
                  </a:lnTo>
                  <a:close/>
                </a:path>
              </a:pathLst>
            </a:custGeom>
            <a:solidFill>
              <a:srgbClr val="FFFFFF"/>
            </a:solidFill>
          </p:spPr>
        </p:sp>
        <p:sp>
          <p:nvSpPr>
            <p:cNvPr name="Freeform 31" id="31"/>
            <p:cNvSpPr/>
            <p:nvPr/>
          </p:nvSpPr>
          <p:spPr>
            <a:xfrm flipH="false" flipV="false" rot="0">
              <a:off x="0" y="0"/>
              <a:ext cx="6861048" cy="6861048"/>
            </a:xfrm>
            <a:custGeom>
              <a:avLst/>
              <a:gdLst/>
              <a:ahLst/>
              <a:cxnLst/>
              <a:rect r="r" b="b" t="t" l="l"/>
              <a:pathLst>
                <a:path h="6861048" w="6861048">
                  <a:moveTo>
                    <a:pt x="16891" y="0"/>
                  </a:moveTo>
                  <a:lnTo>
                    <a:pt x="6844157" y="0"/>
                  </a:lnTo>
                  <a:cubicBezTo>
                    <a:pt x="6853555" y="0"/>
                    <a:pt x="6861048" y="7620"/>
                    <a:pt x="6861048" y="16891"/>
                  </a:cubicBezTo>
                  <a:lnTo>
                    <a:pt x="6861048" y="6844157"/>
                  </a:lnTo>
                  <a:cubicBezTo>
                    <a:pt x="6861048" y="6853555"/>
                    <a:pt x="6853427" y="6861048"/>
                    <a:pt x="6844157" y="6861048"/>
                  </a:cubicBezTo>
                  <a:lnTo>
                    <a:pt x="16891" y="6861048"/>
                  </a:lnTo>
                  <a:cubicBezTo>
                    <a:pt x="7493" y="6861048"/>
                    <a:pt x="0" y="6853427"/>
                    <a:pt x="0" y="6844157"/>
                  </a:cubicBezTo>
                  <a:lnTo>
                    <a:pt x="0" y="16891"/>
                  </a:lnTo>
                  <a:cubicBezTo>
                    <a:pt x="0" y="7620"/>
                    <a:pt x="7620" y="0"/>
                    <a:pt x="16891" y="0"/>
                  </a:cubicBezTo>
                  <a:moveTo>
                    <a:pt x="16891" y="33909"/>
                  </a:moveTo>
                  <a:lnTo>
                    <a:pt x="16891" y="16891"/>
                  </a:lnTo>
                  <a:lnTo>
                    <a:pt x="33909" y="16891"/>
                  </a:lnTo>
                  <a:lnTo>
                    <a:pt x="33909" y="6844157"/>
                  </a:lnTo>
                  <a:lnTo>
                    <a:pt x="16891" y="6844157"/>
                  </a:lnTo>
                  <a:lnTo>
                    <a:pt x="16891" y="6827265"/>
                  </a:lnTo>
                  <a:lnTo>
                    <a:pt x="6844157" y="6827265"/>
                  </a:lnTo>
                  <a:lnTo>
                    <a:pt x="6844157" y="6844157"/>
                  </a:lnTo>
                  <a:lnTo>
                    <a:pt x="6827265" y="6844157"/>
                  </a:lnTo>
                  <a:lnTo>
                    <a:pt x="6827265" y="16891"/>
                  </a:lnTo>
                  <a:lnTo>
                    <a:pt x="6844157" y="16891"/>
                  </a:lnTo>
                  <a:lnTo>
                    <a:pt x="6844157" y="33909"/>
                  </a:lnTo>
                  <a:lnTo>
                    <a:pt x="16891" y="33909"/>
                  </a:lnTo>
                  <a:close/>
                </a:path>
              </a:pathLst>
            </a:custGeom>
            <a:solidFill>
              <a:srgbClr val="E2E8F0"/>
            </a:solidFill>
          </p:spPr>
        </p:sp>
      </p:grpSp>
      <p:grpSp>
        <p:nvGrpSpPr>
          <p:cNvPr name="Group 32" id="32"/>
          <p:cNvGrpSpPr/>
          <p:nvPr/>
        </p:nvGrpSpPr>
        <p:grpSpPr>
          <a:xfrm rot="0">
            <a:off x="6753863" y="2913383"/>
            <a:ext cx="5145796" cy="171802"/>
            <a:chOff x="0" y="0"/>
            <a:chExt cx="6861061" cy="229070"/>
          </a:xfrm>
        </p:grpSpPr>
        <p:sp>
          <p:nvSpPr>
            <p:cNvPr name="Freeform 33" id="33"/>
            <p:cNvSpPr/>
            <p:nvPr/>
          </p:nvSpPr>
          <p:spPr>
            <a:xfrm flipH="false" flipV="false" rot="0">
              <a:off x="16891" y="16891"/>
              <a:ext cx="6827266" cy="195199"/>
            </a:xfrm>
            <a:custGeom>
              <a:avLst/>
              <a:gdLst/>
              <a:ahLst/>
              <a:cxnLst/>
              <a:rect r="r" b="b" t="t" l="l"/>
              <a:pathLst>
                <a:path h="195199" w="6827266">
                  <a:moveTo>
                    <a:pt x="0" y="0"/>
                  </a:moveTo>
                  <a:lnTo>
                    <a:pt x="6827266" y="0"/>
                  </a:lnTo>
                  <a:lnTo>
                    <a:pt x="6827266" y="195199"/>
                  </a:lnTo>
                  <a:lnTo>
                    <a:pt x="0" y="195199"/>
                  </a:lnTo>
                  <a:close/>
                </a:path>
              </a:pathLst>
            </a:custGeom>
            <a:solidFill>
              <a:srgbClr val="028090"/>
            </a:solidFill>
          </p:spPr>
        </p:sp>
        <p:sp>
          <p:nvSpPr>
            <p:cNvPr name="Freeform 34" id="34"/>
            <p:cNvSpPr/>
            <p:nvPr/>
          </p:nvSpPr>
          <p:spPr>
            <a:xfrm flipH="false" flipV="false" rot="0">
              <a:off x="0" y="0"/>
              <a:ext cx="6861048" cy="228983"/>
            </a:xfrm>
            <a:custGeom>
              <a:avLst/>
              <a:gdLst/>
              <a:ahLst/>
              <a:cxnLst/>
              <a:rect r="r" b="b" t="t" l="l"/>
              <a:pathLst>
                <a:path h="228983" w="6861048">
                  <a:moveTo>
                    <a:pt x="16891" y="0"/>
                  </a:moveTo>
                  <a:lnTo>
                    <a:pt x="6844157" y="0"/>
                  </a:lnTo>
                  <a:cubicBezTo>
                    <a:pt x="6853555" y="0"/>
                    <a:pt x="6861048" y="7620"/>
                    <a:pt x="6861048" y="16891"/>
                  </a:cubicBezTo>
                  <a:lnTo>
                    <a:pt x="6861048" y="212090"/>
                  </a:lnTo>
                  <a:cubicBezTo>
                    <a:pt x="6861048" y="221488"/>
                    <a:pt x="6853427" y="228981"/>
                    <a:pt x="6844157" y="228981"/>
                  </a:cubicBezTo>
                  <a:lnTo>
                    <a:pt x="16891" y="228981"/>
                  </a:lnTo>
                  <a:cubicBezTo>
                    <a:pt x="7620" y="229108"/>
                    <a:pt x="0" y="221488"/>
                    <a:pt x="0" y="212090"/>
                  </a:cubicBezTo>
                  <a:lnTo>
                    <a:pt x="0" y="16891"/>
                  </a:lnTo>
                  <a:cubicBezTo>
                    <a:pt x="0" y="7620"/>
                    <a:pt x="7620" y="0"/>
                    <a:pt x="16891" y="0"/>
                  </a:cubicBezTo>
                  <a:moveTo>
                    <a:pt x="16891" y="33909"/>
                  </a:moveTo>
                  <a:lnTo>
                    <a:pt x="16891" y="16891"/>
                  </a:lnTo>
                  <a:lnTo>
                    <a:pt x="33909" y="16891"/>
                  </a:lnTo>
                  <a:lnTo>
                    <a:pt x="33909" y="212090"/>
                  </a:lnTo>
                  <a:lnTo>
                    <a:pt x="16891" y="212090"/>
                  </a:lnTo>
                  <a:lnTo>
                    <a:pt x="16891" y="195199"/>
                  </a:lnTo>
                  <a:lnTo>
                    <a:pt x="6844157" y="195199"/>
                  </a:lnTo>
                  <a:lnTo>
                    <a:pt x="6844157" y="212090"/>
                  </a:lnTo>
                  <a:lnTo>
                    <a:pt x="6827265" y="212090"/>
                  </a:lnTo>
                  <a:lnTo>
                    <a:pt x="6827265" y="16891"/>
                  </a:lnTo>
                  <a:lnTo>
                    <a:pt x="6844157" y="16891"/>
                  </a:lnTo>
                  <a:lnTo>
                    <a:pt x="6844157" y="33909"/>
                  </a:lnTo>
                  <a:lnTo>
                    <a:pt x="16891" y="33909"/>
                  </a:lnTo>
                  <a:close/>
                </a:path>
              </a:pathLst>
            </a:custGeom>
            <a:solidFill>
              <a:srgbClr val="028090"/>
            </a:solidFill>
          </p:spPr>
        </p:sp>
      </p:grpSp>
      <p:grpSp>
        <p:nvGrpSpPr>
          <p:cNvPr name="Group 35" id="35"/>
          <p:cNvGrpSpPr/>
          <p:nvPr/>
        </p:nvGrpSpPr>
        <p:grpSpPr>
          <a:xfrm rot="0">
            <a:off x="7040880" y="4480560"/>
            <a:ext cx="4572000" cy="823200"/>
            <a:chOff x="0" y="0"/>
            <a:chExt cx="6096000" cy="1097600"/>
          </a:xfrm>
        </p:grpSpPr>
        <p:sp>
          <p:nvSpPr>
            <p:cNvPr name="Freeform 36" id="36"/>
            <p:cNvSpPr/>
            <p:nvPr/>
          </p:nvSpPr>
          <p:spPr>
            <a:xfrm flipH="false" flipV="false" rot="0">
              <a:off x="0" y="0"/>
              <a:ext cx="6096000" cy="1097603"/>
            </a:xfrm>
            <a:custGeom>
              <a:avLst/>
              <a:gdLst/>
              <a:ahLst/>
              <a:cxnLst/>
              <a:rect r="r" b="b" t="t" l="l"/>
              <a:pathLst>
                <a:path h="1097603" w="6096000">
                  <a:moveTo>
                    <a:pt x="0" y="0"/>
                  </a:moveTo>
                  <a:lnTo>
                    <a:pt x="6096000" y="0"/>
                  </a:lnTo>
                  <a:lnTo>
                    <a:pt x="6096000" y="1097603"/>
                  </a:lnTo>
                  <a:lnTo>
                    <a:pt x="0" y="1097603"/>
                  </a:lnTo>
                  <a:close/>
                </a:path>
              </a:pathLst>
            </a:custGeom>
            <a:blipFill>
              <a:blip r:embed="rId3">
                <a:alphaModFix amt="0"/>
              </a:blip>
              <a:stretch>
                <a:fillRect l="0" t="-58218" r="0" b="-58218"/>
              </a:stretch>
            </a:blipFill>
          </p:spPr>
        </p:sp>
        <p:sp>
          <p:nvSpPr>
            <p:cNvPr name="TextBox 37" id="37"/>
            <p:cNvSpPr txBox="true"/>
            <p:nvPr/>
          </p:nvSpPr>
          <p:spPr>
            <a:xfrm>
              <a:off x="0" y="0"/>
              <a:ext cx="6096000" cy="1097600"/>
            </a:xfrm>
            <a:prstGeom prst="rect">
              <a:avLst/>
            </a:prstGeom>
          </p:spPr>
          <p:txBody>
            <a:bodyPr anchor="ctr" rtlCol="false" tIns="0" lIns="0" bIns="0" rIns="0"/>
            <a:lstStyle/>
            <a:p>
              <a:pPr algn="l">
                <a:lnSpc>
                  <a:spcPts val="3840"/>
                </a:lnSpc>
              </a:pPr>
              <a:r>
                <a:rPr lang="en-US" b="true" sz="3200">
                  <a:solidFill>
                    <a:srgbClr val="0D3D56"/>
                  </a:solidFill>
                  <a:latin typeface="Trebuchet MS Bold"/>
                  <a:ea typeface="Trebuchet MS Bold"/>
                  <a:cs typeface="Trebuchet MS Bold"/>
                  <a:sym typeface="Trebuchet MS Bold"/>
                </a:rPr>
                <a:t>Singapore Specifc </a:t>
              </a:r>
            </a:p>
          </p:txBody>
        </p:sp>
      </p:grpSp>
      <p:grpSp>
        <p:nvGrpSpPr>
          <p:cNvPr name="Group 38" id="38"/>
          <p:cNvGrpSpPr/>
          <p:nvPr/>
        </p:nvGrpSpPr>
        <p:grpSpPr>
          <a:xfrm rot="0">
            <a:off x="12697463" y="3004823"/>
            <a:ext cx="5145796" cy="5145796"/>
            <a:chOff x="0" y="0"/>
            <a:chExt cx="6861061" cy="6861061"/>
          </a:xfrm>
        </p:grpSpPr>
        <p:sp>
          <p:nvSpPr>
            <p:cNvPr name="Freeform 39" id="39"/>
            <p:cNvSpPr/>
            <p:nvPr/>
          </p:nvSpPr>
          <p:spPr>
            <a:xfrm flipH="false" flipV="false" rot="0">
              <a:off x="16891" y="16891"/>
              <a:ext cx="6827266" cy="6827266"/>
            </a:xfrm>
            <a:custGeom>
              <a:avLst/>
              <a:gdLst/>
              <a:ahLst/>
              <a:cxnLst/>
              <a:rect r="r" b="b" t="t" l="l"/>
              <a:pathLst>
                <a:path h="6827266" w="6827266">
                  <a:moveTo>
                    <a:pt x="0" y="0"/>
                  </a:moveTo>
                  <a:lnTo>
                    <a:pt x="6827266" y="0"/>
                  </a:lnTo>
                  <a:lnTo>
                    <a:pt x="6827266" y="6827266"/>
                  </a:lnTo>
                  <a:lnTo>
                    <a:pt x="0" y="6827266"/>
                  </a:lnTo>
                  <a:close/>
                </a:path>
              </a:pathLst>
            </a:custGeom>
            <a:solidFill>
              <a:srgbClr val="CBD5E1">
                <a:alpha val="15686"/>
              </a:srgbClr>
            </a:solidFill>
          </p:spPr>
        </p:sp>
        <p:sp>
          <p:nvSpPr>
            <p:cNvPr name="Freeform 40" id="40"/>
            <p:cNvSpPr/>
            <p:nvPr/>
          </p:nvSpPr>
          <p:spPr>
            <a:xfrm flipH="false" flipV="false" rot="0">
              <a:off x="0" y="0"/>
              <a:ext cx="6861048" cy="6861048"/>
            </a:xfrm>
            <a:custGeom>
              <a:avLst/>
              <a:gdLst/>
              <a:ahLst/>
              <a:cxnLst/>
              <a:rect r="r" b="b" t="t" l="l"/>
              <a:pathLst>
                <a:path h="6861048" w="6861048">
                  <a:moveTo>
                    <a:pt x="16891" y="0"/>
                  </a:moveTo>
                  <a:lnTo>
                    <a:pt x="6844157" y="0"/>
                  </a:lnTo>
                  <a:cubicBezTo>
                    <a:pt x="6853555" y="0"/>
                    <a:pt x="6861048" y="7620"/>
                    <a:pt x="6861048" y="16891"/>
                  </a:cubicBezTo>
                  <a:lnTo>
                    <a:pt x="6861048" y="6844157"/>
                  </a:lnTo>
                  <a:cubicBezTo>
                    <a:pt x="6861048" y="6853555"/>
                    <a:pt x="6853427" y="6861048"/>
                    <a:pt x="6844157" y="6861048"/>
                  </a:cubicBezTo>
                  <a:lnTo>
                    <a:pt x="16891" y="6861048"/>
                  </a:lnTo>
                  <a:cubicBezTo>
                    <a:pt x="7493" y="6861048"/>
                    <a:pt x="0" y="6853427"/>
                    <a:pt x="0" y="6844157"/>
                  </a:cubicBezTo>
                  <a:lnTo>
                    <a:pt x="0" y="16891"/>
                  </a:lnTo>
                  <a:cubicBezTo>
                    <a:pt x="0" y="7620"/>
                    <a:pt x="7620" y="0"/>
                    <a:pt x="16891" y="0"/>
                  </a:cubicBezTo>
                  <a:moveTo>
                    <a:pt x="16891" y="33909"/>
                  </a:moveTo>
                  <a:lnTo>
                    <a:pt x="16891" y="16891"/>
                  </a:lnTo>
                  <a:lnTo>
                    <a:pt x="33909" y="16891"/>
                  </a:lnTo>
                  <a:lnTo>
                    <a:pt x="33909" y="6844157"/>
                  </a:lnTo>
                  <a:lnTo>
                    <a:pt x="16891" y="6844157"/>
                  </a:lnTo>
                  <a:lnTo>
                    <a:pt x="16891" y="6827265"/>
                  </a:lnTo>
                  <a:lnTo>
                    <a:pt x="6844157" y="6827265"/>
                  </a:lnTo>
                  <a:lnTo>
                    <a:pt x="6844157" y="6844157"/>
                  </a:lnTo>
                  <a:lnTo>
                    <a:pt x="6827265" y="6844157"/>
                  </a:lnTo>
                  <a:lnTo>
                    <a:pt x="6827265" y="16891"/>
                  </a:lnTo>
                  <a:lnTo>
                    <a:pt x="6844157" y="16891"/>
                  </a:lnTo>
                  <a:lnTo>
                    <a:pt x="6844157" y="33909"/>
                  </a:lnTo>
                  <a:lnTo>
                    <a:pt x="16891" y="33909"/>
                  </a:lnTo>
                  <a:close/>
                </a:path>
              </a:pathLst>
            </a:custGeom>
            <a:solidFill>
              <a:srgbClr val="CBD5E1">
                <a:alpha val="15686"/>
              </a:srgbClr>
            </a:solidFill>
          </p:spPr>
        </p:sp>
      </p:grpSp>
      <p:grpSp>
        <p:nvGrpSpPr>
          <p:cNvPr name="Group 41" id="41"/>
          <p:cNvGrpSpPr/>
          <p:nvPr/>
        </p:nvGrpSpPr>
        <p:grpSpPr>
          <a:xfrm rot="0">
            <a:off x="12606023" y="2913383"/>
            <a:ext cx="5145796" cy="5145796"/>
            <a:chOff x="0" y="0"/>
            <a:chExt cx="6861061" cy="6861061"/>
          </a:xfrm>
        </p:grpSpPr>
        <p:sp>
          <p:nvSpPr>
            <p:cNvPr name="Freeform 42" id="42"/>
            <p:cNvSpPr/>
            <p:nvPr/>
          </p:nvSpPr>
          <p:spPr>
            <a:xfrm flipH="false" flipV="false" rot="0">
              <a:off x="16891" y="16891"/>
              <a:ext cx="6827266" cy="6827266"/>
            </a:xfrm>
            <a:custGeom>
              <a:avLst/>
              <a:gdLst/>
              <a:ahLst/>
              <a:cxnLst/>
              <a:rect r="r" b="b" t="t" l="l"/>
              <a:pathLst>
                <a:path h="6827266" w="6827266">
                  <a:moveTo>
                    <a:pt x="0" y="0"/>
                  </a:moveTo>
                  <a:lnTo>
                    <a:pt x="6827266" y="0"/>
                  </a:lnTo>
                  <a:lnTo>
                    <a:pt x="6827266" y="6827266"/>
                  </a:lnTo>
                  <a:lnTo>
                    <a:pt x="0" y="6827266"/>
                  </a:lnTo>
                  <a:close/>
                </a:path>
              </a:pathLst>
            </a:custGeom>
            <a:solidFill>
              <a:srgbClr val="FFFFFF"/>
            </a:solidFill>
          </p:spPr>
        </p:sp>
        <p:sp>
          <p:nvSpPr>
            <p:cNvPr name="Freeform 43" id="43"/>
            <p:cNvSpPr/>
            <p:nvPr/>
          </p:nvSpPr>
          <p:spPr>
            <a:xfrm flipH="false" flipV="false" rot="0">
              <a:off x="0" y="0"/>
              <a:ext cx="6861048" cy="6861048"/>
            </a:xfrm>
            <a:custGeom>
              <a:avLst/>
              <a:gdLst/>
              <a:ahLst/>
              <a:cxnLst/>
              <a:rect r="r" b="b" t="t" l="l"/>
              <a:pathLst>
                <a:path h="6861048" w="6861048">
                  <a:moveTo>
                    <a:pt x="16891" y="0"/>
                  </a:moveTo>
                  <a:lnTo>
                    <a:pt x="6844157" y="0"/>
                  </a:lnTo>
                  <a:cubicBezTo>
                    <a:pt x="6853555" y="0"/>
                    <a:pt x="6861048" y="7620"/>
                    <a:pt x="6861048" y="16891"/>
                  </a:cubicBezTo>
                  <a:lnTo>
                    <a:pt x="6861048" y="6844157"/>
                  </a:lnTo>
                  <a:cubicBezTo>
                    <a:pt x="6861048" y="6853555"/>
                    <a:pt x="6853427" y="6861048"/>
                    <a:pt x="6844157" y="6861048"/>
                  </a:cubicBezTo>
                  <a:lnTo>
                    <a:pt x="16891" y="6861048"/>
                  </a:lnTo>
                  <a:cubicBezTo>
                    <a:pt x="7493" y="6861048"/>
                    <a:pt x="0" y="6853427"/>
                    <a:pt x="0" y="6844157"/>
                  </a:cubicBezTo>
                  <a:lnTo>
                    <a:pt x="0" y="16891"/>
                  </a:lnTo>
                  <a:cubicBezTo>
                    <a:pt x="0" y="7620"/>
                    <a:pt x="7620" y="0"/>
                    <a:pt x="16891" y="0"/>
                  </a:cubicBezTo>
                  <a:moveTo>
                    <a:pt x="16891" y="33909"/>
                  </a:moveTo>
                  <a:lnTo>
                    <a:pt x="16891" y="16891"/>
                  </a:lnTo>
                  <a:lnTo>
                    <a:pt x="33909" y="16891"/>
                  </a:lnTo>
                  <a:lnTo>
                    <a:pt x="33909" y="6844157"/>
                  </a:lnTo>
                  <a:lnTo>
                    <a:pt x="16891" y="6844157"/>
                  </a:lnTo>
                  <a:lnTo>
                    <a:pt x="16891" y="6827265"/>
                  </a:lnTo>
                  <a:lnTo>
                    <a:pt x="6844157" y="6827265"/>
                  </a:lnTo>
                  <a:lnTo>
                    <a:pt x="6844157" y="6844157"/>
                  </a:lnTo>
                  <a:lnTo>
                    <a:pt x="6827265" y="6844157"/>
                  </a:lnTo>
                  <a:lnTo>
                    <a:pt x="6827265" y="16891"/>
                  </a:lnTo>
                  <a:lnTo>
                    <a:pt x="6844157" y="16891"/>
                  </a:lnTo>
                  <a:lnTo>
                    <a:pt x="6844157" y="33909"/>
                  </a:lnTo>
                  <a:lnTo>
                    <a:pt x="16891" y="33909"/>
                  </a:lnTo>
                  <a:close/>
                </a:path>
              </a:pathLst>
            </a:custGeom>
            <a:solidFill>
              <a:srgbClr val="E2E8F0"/>
            </a:solidFill>
          </p:spPr>
        </p:sp>
      </p:grpSp>
      <p:grpSp>
        <p:nvGrpSpPr>
          <p:cNvPr name="Group 44" id="44"/>
          <p:cNvGrpSpPr/>
          <p:nvPr/>
        </p:nvGrpSpPr>
        <p:grpSpPr>
          <a:xfrm rot="0">
            <a:off x="12606023" y="2913383"/>
            <a:ext cx="5145796" cy="171802"/>
            <a:chOff x="0" y="0"/>
            <a:chExt cx="6861061" cy="229070"/>
          </a:xfrm>
        </p:grpSpPr>
        <p:sp>
          <p:nvSpPr>
            <p:cNvPr name="Freeform 45" id="45"/>
            <p:cNvSpPr/>
            <p:nvPr/>
          </p:nvSpPr>
          <p:spPr>
            <a:xfrm flipH="false" flipV="false" rot="0">
              <a:off x="16891" y="16891"/>
              <a:ext cx="6827266" cy="195199"/>
            </a:xfrm>
            <a:custGeom>
              <a:avLst/>
              <a:gdLst/>
              <a:ahLst/>
              <a:cxnLst/>
              <a:rect r="r" b="b" t="t" l="l"/>
              <a:pathLst>
                <a:path h="195199" w="6827266">
                  <a:moveTo>
                    <a:pt x="0" y="0"/>
                  </a:moveTo>
                  <a:lnTo>
                    <a:pt x="6827266" y="0"/>
                  </a:lnTo>
                  <a:lnTo>
                    <a:pt x="6827266" y="195199"/>
                  </a:lnTo>
                  <a:lnTo>
                    <a:pt x="0" y="195199"/>
                  </a:lnTo>
                  <a:close/>
                </a:path>
              </a:pathLst>
            </a:custGeom>
            <a:solidFill>
              <a:srgbClr val="028090"/>
            </a:solidFill>
          </p:spPr>
        </p:sp>
        <p:sp>
          <p:nvSpPr>
            <p:cNvPr name="Freeform 46" id="46"/>
            <p:cNvSpPr/>
            <p:nvPr/>
          </p:nvSpPr>
          <p:spPr>
            <a:xfrm flipH="false" flipV="false" rot="0">
              <a:off x="0" y="0"/>
              <a:ext cx="6861048" cy="228983"/>
            </a:xfrm>
            <a:custGeom>
              <a:avLst/>
              <a:gdLst/>
              <a:ahLst/>
              <a:cxnLst/>
              <a:rect r="r" b="b" t="t" l="l"/>
              <a:pathLst>
                <a:path h="228983" w="6861048">
                  <a:moveTo>
                    <a:pt x="16891" y="0"/>
                  </a:moveTo>
                  <a:lnTo>
                    <a:pt x="6844157" y="0"/>
                  </a:lnTo>
                  <a:cubicBezTo>
                    <a:pt x="6853555" y="0"/>
                    <a:pt x="6861048" y="7620"/>
                    <a:pt x="6861048" y="16891"/>
                  </a:cubicBezTo>
                  <a:lnTo>
                    <a:pt x="6861048" y="212090"/>
                  </a:lnTo>
                  <a:cubicBezTo>
                    <a:pt x="6861048" y="221488"/>
                    <a:pt x="6853427" y="228981"/>
                    <a:pt x="6844157" y="228981"/>
                  </a:cubicBezTo>
                  <a:lnTo>
                    <a:pt x="16891" y="228981"/>
                  </a:lnTo>
                  <a:cubicBezTo>
                    <a:pt x="7620" y="229108"/>
                    <a:pt x="0" y="221488"/>
                    <a:pt x="0" y="212090"/>
                  </a:cubicBezTo>
                  <a:lnTo>
                    <a:pt x="0" y="16891"/>
                  </a:lnTo>
                  <a:cubicBezTo>
                    <a:pt x="0" y="7620"/>
                    <a:pt x="7620" y="0"/>
                    <a:pt x="16891" y="0"/>
                  </a:cubicBezTo>
                  <a:moveTo>
                    <a:pt x="16891" y="33909"/>
                  </a:moveTo>
                  <a:lnTo>
                    <a:pt x="16891" y="16891"/>
                  </a:lnTo>
                  <a:lnTo>
                    <a:pt x="33909" y="16891"/>
                  </a:lnTo>
                  <a:lnTo>
                    <a:pt x="33909" y="212090"/>
                  </a:lnTo>
                  <a:lnTo>
                    <a:pt x="16891" y="212090"/>
                  </a:lnTo>
                  <a:lnTo>
                    <a:pt x="16891" y="195199"/>
                  </a:lnTo>
                  <a:lnTo>
                    <a:pt x="6844157" y="195199"/>
                  </a:lnTo>
                  <a:lnTo>
                    <a:pt x="6844157" y="212090"/>
                  </a:lnTo>
                  <a:lnTo>
                    <a:pt x="6827265" y="212090"/>
                  </a:lnTo>
                  <a:lnTo>
                    <a:pt x="6827265" y="16891"/>
                  </a:lnTo>
                  <a:lnTo>
                    <a:pt x="6844157" y="16891"/>
                  </a:lnTo>
                  <a:lnTo>
                    <a:pt x="6844157" y="33909"/>
                  </a:lnTo>
                  <a:lnTo>
                    <a:pt x="16891" y="33909"/>
                  </a:lnTo>
                  <a:close/>
                </a:path>
              </a:pathLst>
            </a:custGeom>
            <a:solidFill>
              <a:srgbClr val="028090"/>
            </a:solidFill>
          </p:spPr>
        </p:sp>
      </p:grpSp>
      <p:grpSp>
        <p:nvGrpSpPr>
          <p:cNvPr name="Group 47" id="47"/>
          <p:cNvGrpSpPr/>
          <p:nvPr/>
        </p:nvGrpSpPr>
        <p:grpSpPr>
          <a:xfrm rot="0">
            <a:off x="12984480" y="3291840"/>
            <a:ext cx="1097404" cy="1097404"/>
            <a:chOff x="0" y="0"/>
            <a:chExt cx="1463205" cy="1463205"/>
          </a:xfrm>
        </p:grpSpPr>
        <p:sp>
          <p:nvSpPr>
            <p:cNvPr name="Freeform 48" id="48"/>
            <p:cNvSpPr/>
            <p:nvPr/>
          </p:nvSpPr>
          <p:spPr>
            <a:xfrm flipH="false" flipV="false" rot="0">
              <a:off x="0" y="0"/>
              <a:ext cx="1463200" cy="1463200"/>
            </a:xfrm>
            <a:custGeom>
              <a:avLst/>
              <a:gdLst/>
              <a:ahLst/>
              <a:cxnLst/>
              <a:rect r="r" b="b" t="t" l="l"/>
              <a:pathLst>
                <a:path h="1463200" w="1463200">
                  <a:moveTo>
                    <a:pt x="0" y="0"/>
                  </a:moveTo>
                  <a:lnTo>
                    <a:pt x="1463200" y="0"/>
                  </a:lnTo>
                  <a:lnTo>
                    <a:pt x="1463200" y="1463200"/>
                  </a:lnTo>
                  <a:lnTo>
                    <a:pt x="0" y="1463200"/>
                  </a:lnTo>
                  <a:close/>
                </a:path>
              </a:pathLst>
            </a:custGeom>
            <a:blipFill>
              <a:blip r:embed="rId3">
                <a:alphaModFix amt="0"/>
              </a:blip>
              <a:stretch>
                <a:fillRect l="-78303" t="0" r="-78304" b="0"/>
              </a:stretch>
            </a:blipFill>
          </p:spPr>
        </p:sp>
        <p:sp>
          <p:nvSpPr>
            <p:cNvPr name="TextBox 49" id="49"/>
            <p:cNvSpPr txBox="true"/>
            <p:nvPr/>
          </p:nvSpPr>
          <p:spPr>
            <a:xfrm>
              <a:off x="0" y="-76200"/>
              <a:ext cx="1463205" cy="1539405"/>
            </a:xfrm>
            <a:prstGeom prst="rect">
              <a:avLst/>
            </a:prstGeom>
          </p:spPr>
          <p:txBody>
            <a:bodyPr anchor="ctr" rtlCol="false" tIns="0" lIns="0" bIns="0" rIns="0"/>
            <a:lstStyle/>
            <a:p>
              <a:pPr algn="ctr">
                <a:lnSpc>
                  <a:spcPts val="5280"/>
                </a:lnSpc>
              </a:pPr>
              <a:r>
                <a:rPr lang="en-US" sz="4400">
                  <a:solidFill>
                    <a:srgbClr val="000000"/>
                  </a:solidFill>
                  <a:latin typeface="Calibri (MS)"/>
                  <a:ea typeface="Calibri (MS)"/>
                  <a:cs typeface="Calibri (MS)"/>
                  <a:sym typeface="Calibri (MS)"/>
                </a:rPr>
                <a:t>🏠</a:t>
              </a:r>
            </a:p>
          </p:txBody>
        </p:sp>
      </p:grpSp>
      <p:grpSp>
        <p:nvGrpSpPr>
          <p:cNvPr name="Group 50" id="50"/>
          <p:cNvGrpSpPr/>
          <p:nvPr/>
        </p:nvGrpSpPr>
        <p:grpSpPr>
          <a:xfrm rot="0">
            <a:off x="12893040" y="4480560"/>
            <a:ext cx="4572000" cy="823198"/>
            <a:chOff x="0" y="0"/>
            <a:chExt cx="6096000" cy="1097598"/>
          </a:xfrm>
        </p:grpSpPr>
        <p:sp>
          <p:nvSpPr>
            <p:cNvPr name="Freeform 51" id="51"/>
            <p:cNvSpPr/>
            <p:nvPr/>
          </p:nvSpPr>
          <p:spPr>
            <a:xfrm flipH="false" flipV="false" rot="0">
              <a:off x="0" y="0"/>
              <a:ext cx="6096000" cy="1097600"/>
            </a:xfrm>
            <a:custGeom>
              <a:avLst/>
              <a:gdLst/>
              <a:ahLst/>
              <a:cxnLst/>
              <a:rect r="r" b="b" t="t" l="l"/>
              <a:pathLst>
                <a:path h="1097600" w="6096000">
                  <a:moveTo>
                    <a:pt x="0" y="0"/>
                  </a:moveTo>
                  <a:lnTo>
                    <a:pt x="6096000" y="0"/>
                  </a:lnTo>
                  <a:lnTo>
                    <a:pt x="6096000" y="1097600"/>
                  </a:lnTo>
                  <a:lnTo>
                    <a:pt x="0" y="1097600"/>
                  </a:lnTo>
                  <a:close/>
                </a:path>
              </a:pathLst>
            </a:custGeom>
            <a:blipFill>
              <a:blip r:embed="rId3">
                <a:alphaModFix amt="0"/>
              </a:blip>
              <a:stretch>
                <a:fillRect l="0" t="-58218" r="0" b="-58218"/>
              </a:stretch>
            </a:blipFill>
          </p:spPr>
        </p:sp>
        <p:sp>
          <p:nvSpPr>
            <p:cNvPr name="TextBox 52" id="52"/>
            <p:cNvSpPr txBox="true"/>
            <p:nvPr/>
          </p:nvSpPr>
          <p:spPr>
            <a:xfrm>
              <a:off x="0" y="0"/>
              <a:ext cx="6096000" cy="1097598"/>
            </a:xfrm>
            <a:prstGeom prst="rect">
              <a:avLst/>
            </a:prstGeom>
          </p:spPr>
          <p:txBody>
            <a:bodyPr anchor="ctr" rtlCol="false" tIns="0" lIns="0" bIns="0" rIns="0"/>
            <a:lstStyle/>
            <a:p>
              <a:pPr algn="l">
                <a:lnSpc>
                  <a:spcPts val="3840"/>
                </a:lnSpc>
              </a:pPr>
              <a:r>
                <a:rPr lang="en-US" b="true" sz="3200">
                  <a:solidFill>
                    <a:srgbClr val="0D3D56"/>
                  </a:solidFill>
                  <a:latin typeface="Trebuchet MS Bold"/>
                  <a:ea typeface="Trebuchet MS Bold"/>
                  <a:cs typeface="Trebuchet MS Bold"/>
                  <a:sym typeface="Trebuchet MS Bold"/>
                </a:rPr>
                <a:t>Socio-Economic Status</a:t>
              </a:r>
            </a:p>
          </p:txBody>
        </p:sp>
      </p:grpSp>
      <p:grpSp>
        <p:nvGrpSpPr>
          <p:cNvPr name="Group 53" id="53"/>
          <p:cNvGrpSpPr/>
          <p:nvPr/>
        </p:nvGrpSpPr>
        <p:grpSpPr>
          <a:xfrm rot="0">
            <a:off x="17007840" y="9692640"/>
            <a:ext cx="914400" cy="548402"/>
            <a:chOff x="0" y="0"/>
            <a:chExt cx="1219200" cy="731202"/>
          </a:xfrm>
        </p:grpSpPr>
        <p:sp>
          <p:nvSpPr>
            <p:cNvPr name="Freeform 54" id="54"/>
            <p:cNvSpPr/>
            <p:nvPr/>
          </p:nvSpPr>
          <p:spPr>
            <a:xfrm flipH="false" flipV="false" rot="0">
              <a:off x="0" y="0"/>
              <a:ext cx="1219200" cy="731200"/>
            </a:xfrm>
            <a:custGeom>
              <a:avLst/>
              <a:gdLst/>
              <a:ahLst/>
              <a:cxnLst/>
              <a:rect r="r" b="b" t="t" l="l"/>
              <a:pathLst>
                <a:path h="731200" w="1219200">
                  <a:moveTo>
                    <a:pt x="0" y="0"/>
                  </a:moveTo>
                  <a:lnTo>
                    <a:pt x="1219200" y="0"/>
                  </a:lnTo>
                  <a:lnTo>
                    <a:pt x="1219200" y="731200"/>
                  </a:lnTo>
                  <a:lnTo>
                    <a:pt x="0" y="731200"/>
                  </a:lnTo>
                  <a:close/>
                </a:path>
              </a:pathLst>
            </a:custGeom>
            <a:blipFill>
              <a:blip r:embed="rId3">
                <a:alphaModFix amt="0"/>
              </a:blip>
              <a:stretch>
                <a:fillRect l="-26948" t="0" r="-26948" b="0"/>
              </a:stretch>
            </a:blipFill>
          </p:spPr>
        </p:sp>
        <p:sp>
          <p:nvSpPr>
            <p:cNvPr name="TextBox 55" id="55"/>
            <p:cNvSpPr txBox="true"/>
            <p:nvPr/>
          </p:nvSpPr>
          <p:spPr>
            <a:xfrm>
              <a:off x="0" y="-38100"/>
              <a:ext cx="1219200" cy="769302"/>
            </a:xfrm>
            <a:prstGeom prst="rect">
              <a:avLst/>
            </a:prstGeom>
          </p:spPr>
          <p:txBody>
            <a:bodyPr anchor="ctr" rtlCol="false" tIns="0" lIns="0" bIns="0" rIns="0"/>
            <a:lstStyle/>
            <a:p>
              <a:pPr algn="r">
                <a:lnSpc>
                  <a:spcPts val="2400"/>
                </a:lnSpc>
              </a:pPr>
              <a:r>
                <a:rPr lang="en-US" sz="2000">
                  <a:solidFill>
                    <a:srgbClr val="808080"/>
                  </a:solidFill>
                  <a:latin typeface="Calibri (MS)"/>
                  <a:ea typeface="Calibri (MS)"/>
                  <a:cs typeface="Calibri (MS)"/>
                  <a:sym typeface="Calibri (MS)"/>
                </a:rPr>
                <a:t>12</a:t>
              </a:r>
            </a:p>
          </p:txBody>
        </p:sp>
      </p:grpSp>
      <p:sp>
        <p:nvSpPr>
          <p:cNvPr name="Freeform 56" id="56"/>
          <p:cNvSpPr/>
          <p:nvPr/>
        </p:nvSpPr>
        <p:spPr>
          <a:xfrm flipH="false" flipV="false" rot="0">
            <a:off x="7132301" y="3535244"/>
            <a:ext cx="814129" cy="610596"/>
          </a:xfrm>
          <a:custGeom>
            <a:avLst/>
            <a:gdLst/>
            <a:ahLst/>
            <a:cxnLst/>
            <a:rect r="r" b="b" t="t" l="l"/>
            <a:pathLst>
              <a:path h="610596" w="814129">
                <a:moveTo>
                  <a:pt x="0" y="0"/>
                </a:moveTo>
                <a:lnTo>
                  <a:pt x="814129" y="0"/>
                </a:lnTo>
                <a:lnTo>
                  <a:pt x="814129" y="610596"/>
                </a:lnTo>
                <a:lnTo>
                  <a:pt x="0" y="6105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7" id="57"/>
          <p:cNvSpPr txBox="true"/>
          <p:nvPr/>
        </p:nvSpPr>
        <p:spPr>
          <a:xfrm rot="0">
            <a:off x="1280141" y="5421611"/>
            <a:ext cx="4389149" cy="1971675"/>
          </a:xfrm>
          <a:prstGeom prst="rect">
            <a:avLst/>
          </a:prstGeom>
        </p:spPr>
        <p:txBody>
          <a:bodyPr anchor="t" rtlCol="false" tIns="0" lIns="0" bIns="0" rIns="0">
            <a:spAutoFit/>
          </a:bodyPr>
          <a:lstStyle/>
          <a:p>
            <a:pPr algn="l">
              <a:lnSpc>
                <a:spcPts val="3120"/>
              </a:lnSpc>
            </a:pPr>
            <a:r>
              <a:rPr lang="en-US" sz="2600">
                <a:solidFill>
                  <a:srgbClr val="000000"/>
                </a:solidFill>
                <a:latin typeface="Arial"/>
                <a:ea typeface="Arial"/>
                <a:cs typeface="Arial"/>
                <a:sym typeface="Arial"/>
              </a:rPr>
              <a:t>Patient weight is a critical clinical indicator linked to chronic conditions, malnutrition risk, and post-discharge complications.</a:t>
            </a:r>
          </a:p>
        </p:txBody>
      </p:sp>
      <p:sp>
        <p:nvSpPr>
          <p:cNvPr name="TextBox 58" id="58"/>
          <p:cNvSpPr txBox="true"/>
          <p:nvPr/>
        </p:nvSpPr>
        <p:spPr>
          <a:xfrm rot="0">
            <a:off x="7132301" y="5421611"/>
            <a:ext cx="4389149" cy="1190625"/>
          </a:xfrm>
          <a:prstGeom prst="rect">
            <a:avLst/>
          </a:prstGeom>
        </p:spPr>
        <p:txBody>
          <a:bodyPr anchor="t" rtlCol="false" tIns="0" lIns="0" bIns="0" rIns="0">
            <a:spAutoFit/>
          </a:bodyPr>
          <a:lstStyle/>
          <a:p>
            <a:pPr algn="l">
              <a:lnSpc>
                <a:spcPts val="3120"/>
              </a:lnSpc>
            </a:pPr>
            <a:r>
              <a:rPr lang="en-US" sz="2600">
                <a:solidFill>
                  <a:srgbClr val="000000"/>
                </a:solidFill>
                <a:latin typeface="Arial"/>
                <a:ea typeface="Arial"/>
                <a:cs typeface="Arial"/>
                <a:sym typeface="Arial"/>
              </a:rPr>
              <a:t>Local data is essential to train the model before implementation.</a:t>
            </a:r>
          </a:p>
        </p:txBody>
      </p:sp>
      <p:sp>
        <p:nvSpPr>
          <p:cNvPr name="TextBox 59" id="59"/>
          <p:cNvSpPr txBox="true"/>
          <p:nvPr/>
        </p:nvSpPr>
        <p:spPr>
          <a:xfrm rot="0">
            <a:off x="12984461" y="5421611"/>
            <a:ext cx="4389149" cy="2362200"/>
          </a:xfrm>
          <a:prstGeom prst="rect">
            <a:avLst/>
          </a:prstGeom>
        </p:spPr>
        <p:txBody>
          <a:bodyPr anchor="t" rtlCol="false" tIns="0" lIns="0" bIns="0" rIns="0">
            <a:spAutoFit/>
          </a:bodyPr>
          <a:lstStyle/>
          <a:p>
            <a:pPr algn="l">
              <a:lnSpc>
                <a:spcPts val="3120"/>
              </a:lnSpc>
            </a:pPr>
            <a:r>
              <a:rPr lang="en-US" sz="2600">
                <a:solidFill>
                  <a:srgbClr val="000000"/>
                </a:solidFill>
                <a:latin typeface="Arial"/>
                <a:ea typeface="Arial"/>
                <a:cs typeface="Arial"/>
                <a:sym typeface="Arial"/>
              </a:rPr>
              <a:t>Socioeconomic factors — income, insurance, housing, family support system —  are strong predictors of whether patients can manage recovery at home.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3D5C"/>
        </a:solidFill>
      </p:bgPr>
    </p:bg>
    <p:spTree>
      <p:nvGrpSpPr>
        <p:cNvPr id="1" name=""/>
        <p:cNvGrpSpPr/>
        <p:nvPr/>
      </p:nvGrpSpPr>
      <p:grpSpPr>
        <a:xfrm>
          <a:off x="0" y="0"/>
          <a:ext cx="0" cy="0"/>
          <a:chOff x="0" y="0"/>
          <a:chExt cx="0" cy="0"/>
        </a:xfrm>
      </p:grpSpPr>
      <p:grpSp>
        <p:nvGrpSpPr>
          <p:cNvPr name="Group 2" id="2"/>
          <p:cNvGrpSpPr/>
          <p:nvPr/>
        </p:nvGrpSpPr>
        <p:grpSpPr>
          <a:xfrm rot="0">
            <a:off x="914400" y="0"/>
            <a:ext cx="16459200" cy="2585889"/>
            <a:chOff x="0" y="0"/>
            <a:chExt cx="21945600" cy="3447852"/>
          </a:xfrm>
        </p:grpSpPr>
        <p:sp>
          <p:nvSpPr>
            <p:cNvPr name="Freeform 3" id="3"/>
            <p:cNvSpPr/>
            <p:nvPr/>
          </p:nvSpPr>
          <p:spPr>
            <a:xfrm flipH="false" flipV="false" rot="0">
              <a:off x="0" y="0"/>
              <a:ext cx="21945600" cy="3447852"/>
            </a:xfrm>
            <a:custGeom>
              <a:avLst/>
              <a:gdLst/>
              <a:ahLst/>
              <a:cxnLst/>
              <a:rect r="r" b="b" t="t" l="l"/>
              <a:pathLst>
                <a:path h="3447852" w="21945600">
                  <a:moveTo>
                    <a:pt x="0" y="0"/>
                  </a:moveTo>
                  <a:lnTo>
                    <a:pt x="21945600" y="0"/>
                  </a:lnTo>
                  <a:lnTo>
                    <a:pt x="21945600" y="3447852"/>
                  </a:lnTo>
                  <a:lnTo>
                    <a:pt x="0" y="3447852"/>
                  </a:lnTo>
                  <a:close/>
                </a:path>
              </a:pathLst>
            </a:custGeom>
            <a:blipFill>
              <a:blip r:embed="rId3">
                <a:alphaModFix amt="0"/>
              </a:blip>
              <a:stretch>
                <a:fillRect l="0" t="-95733" r="0" b="-52311"/>
              </a:stretch>
            </a:blipFill>
          </p:spPr>
        </p:sp>
        <p:sp>
          <p:nvSpPr>
            <p:cNvPr name="TextBox 4" id="4"/>
            <p:cNvSpPr txBox="true"/>
            <p:nvPr/>
          </p:nvSpPr>
          <p:spPr>
            <a:xfrm>
              <a:off x="0" y="-28575"/>
              <a:ext cx="21945600" cy="3476427"/>
            </a:xfrm>
            <a:prstGeom prst="rect">
              <a:avLst/>
            </a:prstGeom>
          </p:spPr>
          <p:txBody>
            <a:bodyPr anchor="ctr" rtlCol="false" tIns="0" lIns="0" bIns="0" rIns="0"/>
            <a:lstStyle/>
            <a:p>
              <a:pPr algn="l">
                <a:lnSpc>
                  <a:spcPts val="8640"/>
                </a:lnSpc>
              </a:pPr>
              <a:r>
                <a:rPr lang="en-US" b="true" sz="7200">
                  <a:solidFill>
                    <a:srgbClr val="FFFFFF"/>
                  </a:solidFill>
                  <a:latin typeface="Arial Bold"/>
                  <a:ea typeface="Arial Bold"/>
                  <a:cs typeface="Arial Bold"/>
                  <a:sym typeface="Arial Bold"/>
                </a:rPr>
                <a:t>Looking Ahead: Prevention Over Reaction</a:t>
              </a:r>
            </a:p>
          </p:txBody>
        </p:sp>
      </p:grpSp>
      <p:grpSp>
        <p:nvGrpSpPr>
          <p:cNvPr name="Group 5" id="5"/>
          <p:cNvGrpSpPr/>
          <p:nvPr/>
        </p:nvGrpSpPr>
        <p:grpSpPr>
          <a:xfrm rot="0">
            <a:off x="914400" y="2560320"/>
            <a:ext cx="8229600" cy="4784651"/>
            <a:chOff x="0" y="0"/>
            <a:chExt cx="10485120" cy="6096000"/>
          </a:xfrm>
        </p:grpSpPr>
        <p:sp>
          <p:nvSpPr>
            <p:cNvPr name="Freeform 6" id="6"/>
            <p:cNvSpPr/>
            <p:nvPr/>
          </p:nvSpPr>
          <p:spPr>
            <a:xfrm flipH="false" flipV="false" rot="0">
              <a:off x="0" y="0"/>
              <a:ext cx="10485120" cy="6096000"/>
            </a:xfrm>
            <a:custGeom>
              <a:avLst/>
              <a:gdLst/>
              <a:ahLst/>
              <a:cxnLst/>
              <a:rect r="r" b="b" t="t" l="l"/>
              <a:pathLst>
                <a:path h="6096000" w="10485120">
                  <a:moveTo>
                    <a:pt x="0" y="0"/>
                  </a:moveTo>
                  <a:lnTo>
                    <a:pt x="10485120" y="0"/>
                  </a:lnTo>
                  <a:lnTo>
                    <a:pt x="10485120" y="6096000"/>
                  </a:lnTo>
                  <a:lnTo>
                    <a:pt x="0" y="6096000"/>
                  </a:lnTo>
                  <a:close/>
                </a:path>
              </a:pathLst>
            </a:custGeom>
            <a:blipFill>
              <a:blip r:embed="rId4"/>
              <a:stretch>
                <a:fillRect l="0" t="-7385" r="0" b="-7385"/>
              </a:stretch>
            </a:blipFill>
          </p:spPr>
        </p:sp>
      </p:grpSp>
      <p:grpSp>
        <p:nvGrpSpPr>
          <p:cNvPr name="Group 7" id="7"/>
          <p:cNvGrpSpPr/>
          <p:nvPr/>
        </p:nvGrpSpPr>
        <p:grpSpPr>
          <a:xfrm rot="0">
            <a:off x="9500235" y="2560320"/>
            <a:ext cx="7863840" cy="4572000"/>
            <a:chOff x="0" y="0"/>
            <a:chExt cx="10485120" cy="6096000"/>
          </a:xfrm>
        </p:grpSpPr>
        <p:sp>
          <p:nvSpPr>
            <p:cNvPr name="Freeform 8" id="8"/>
            <p:cNvSpPr/>
            <p:nvPr/>
          </p:nvSpPr>
          <p:spPr>
            <a:xfrm flipH="false" flipV="false" rot="0">
              <a:off x="0" y="0"/>
              <a:ext cx="10485120" cy="6096000"/>
            </a:xfrm>
            <a:custGeom>
              <a:avLst/>
              <a:gdLst/>
              <a:ahLst/>
              <a:cxnLst/>
              <a:rect r="r" b="b" t="t" l="l"/>
              <a:pathLst>
                <a:path h="6096000" w="10485120">
                  <a:moveTo>
                    <a:pt x="0" y="0"/>
                  </a:moveTo>
                  <a:lnTo>
                    <a:pt x="10485120" y="0"/>
                  </a:lnTo>
                  <a:lnTo>
                    <a:pt x="10485120" y="6096000"/>
                  </a:lnTo>
                  <a:lnTo>
                    <a:pt x="0" y="6096000"/>
                  </a:lnTo>
                  <a:close/>
                </a:path>
              </a:pathLst>
            </a:custGeom>
            <a:solidFill>
              <a:srgbClr val="00A4A6"/>
            </a:solidFill>
          </p:spPr>
        </p:sp>
      </p:grpSp>
      <p:grpSp>
        <p:nvGrpSpPr>
          <p:cNvPr name="Group 9" id="9"/>
          <p:cNvGrpSpPr/>
          <p:nvPr/>
        </p:nvGrpSpPr>
        <p:grpSpPr>
          <a:xfrm rot="0">
            <a:off x="9875520" y="2743200"/>
            <a:ext cx="7315200" cy="731520"/>
            <a:chOff x="0" y="0"/>
            <a:chExt cx="9753600" cy="975360"/>
          </a:xfrm>
        </p:grpSpPr>
        <p:sp>
          <p:nvSpPr>
            <p:cNvPr name="Freeform 10" id="10"/>
            <p:cNvSpPr/>
            <p:nvPr/>
          </p:nvSpPr>
          <p:spPr>
            <a:xfrm flipH="false" flipV="false" rot="0">
              <a:off x="0" y="0"/>
              <a:ext cx="9753600" cy="975360"/>
            </a:xfrm>
            <a:custGeom>
              <a:avLst/>
              <a:gdLst/>
              <a:ahLst/>
              <a:cxnLst/>
              <a:rect r="r" b="b" t="t" l="l"/>
              <a:pathLst>
                <a:path h="975360" w="9753600">
                  <a:moveTo>
                    <a:pt x="0" y="0"/>
                  </a:moveTo>
                  <a:lnTo>
                    <a:pt x="9753600" y="0"/>
                  </a:lnTo>
                  <a:lnTo>
                    <a:pt x="9753600" y="975360"/>
                  </a:lnTo>
                  <a:lnTo>
                    <a:pt x="0" y="975360"/>
                  </a:lnTo>
                  <a:close/>
                </a:path>
              </a:pathLst>
            </a:custGeom>
            <a:blipFill>
              <a:blip r:embed="rId3">
                <a:alphaModFix amt="0"/>
              </a:blip>
              <a:stretch>
                <a:fillRect l="0" t="-144850" r="0" b="-144850"/>
              </a:stretch>
            </a:blipFill>
          </p:spPr>
        </p:sp>
        <p:sp>
          <p:nvSpPr>
            <p:cNvPr name="TextBox 11" id="11"/>
            <p:cNvSpPr txBox="true"/>
            <p:nvPr/>
          </p:nvSpPr>
          <p:spPr>
            <a:xfrm>
              <a:off x="0" y="-28575"/>
              <a:ext cx="9753600" cy="1003935"/>
            </a:xfrm>
            <a:prstGeom prst="rect">
              <a:avLst/>
            </a:prstGeom>
          </p:spPr>
          <p:txBody>
            <a:bodyPr anchor="ctr" rtlCol="false" tIns="0" lIns="0" bIns="0" rIns="0"/>
            <a:lstStyle/>
            <a:p>
              <a:pPr algn="l">
                <a:lnSpc>
                  <a:spcPts val="4320"/>
                </a:lnSpc>
              </a:pPr>
              <a:r>
                <a:rPr lang="en-US" b="true" sz="3600">
                  <a:solidFill>
                    <a:srgbClr val="FFFFFF"/>
                  </a:solidFill>
                  <a:latin typeface="Arial Bold"/>
                  <a:ea typeface="Arial Bold"/>
                  <a:cs typeface="Arial Bold"/>
                  <a:sym typeface="Arial Bold"/>
                </a:rPr>
                <a:t>The Future</a:t>
              </a:r>
            </a:p>
          </p:txBody>
        </p:sp>
      </p:grpSp>
      <p:grpSp>
        <p:nvGrpSpPr>
          <p:cNvPr name="Group 12" id="12"/>
          <p:cNvGrpSpPr/>
          <p:nvPr/>
        </p:nvGrpSpPr>
        <p:grpSpPr>
          <a:xfrm rot="0">
            <a:off x="9774555" y="3771900"/>
            <a:ext cx="7315200" cy="2743200"/>
            <a:chOff x="0" y="0"/>
            <a:chExt cx="9753600" cy="3657600"/>
          </a:xfrm>
        </p:grpSpPr>
        <p:sp>
          <p:nvSpPr>
            <p:cNvPr name="Freeform 13" id="13"/>
            <p:cNvSpPr/>
            <p:nvPr/>
          </p:nvSpPr>
          <p:spPr>
            <a:xfrm flipH="false" flipV="false" rot="0">
              <a:off x="0" y="0"/>
              <a:ext cx="9753600" cy="3657600"/>
            </a:xfrm>
            <a:custGeom>
              <a:avLst/>
              <a:gdLst/>
              <a:ahLst/>
              <a:cxnLst/>
              <a:rect r="r" b="b" t="t" l="l"/>
              <a:pathLst>
                <a:path h="3657600" w="9753600">
                  <a:moveTo>
                    <a:pt x="0" y="0"/>
                  </a:moveTo>
                  <a:lnTo>
                    <a:pt x="9753600" y="0"/>
                  </a:lnTo>
                  <a:lnTo>
                    <a:pt x="9753600" y="3657600"/>
                  </a:lnTo>
                  <a:lnTo>
                    <a:pt x="0" y="3657600"/>
                  </a:lnTo>
                  <a:close/>
                </a:path>
              </a:pathLst>
            </a:custGeom>
            <a:blipFill>
              <a:blip r:embed="rId3">
                <a:alphaModFix amt="0"/>
              </a:blip>
              <a:stretch>
                <a:fillRect l="0" t="-1960" r="0" b="-1960"/>
              </a:stretch>
            </a:blipFill>
          </p:spPr>
        </p:sp>
        <p:sp>
          <p:nvSpPr>
            <p:cNvPr name="TextBox 14" id="14"/>
            <p:cNvSpPr txBox="true"/>
            <p:nvPr/>
          </p:nvSpPr>
          <p:spPr>
            <a:xfrm>
              <a:off x="0" y="-19050"/>
              <a:ext cx="9753600" cy="3676650"/>
            </a:xfrm>
            <a:prstGeom prst="rect">
              <a:avLst/>
            </a:prstGeom>
          </p:spPr>
          <p:txBody>
            <a:bodyPr anchor="ctr" rtlCol="false" tIns="0" lIns="0" bIns="0" rIns="0"/>
            <a:lstStyle/>
            <a:p>
              <a:pPr algn="l">
                <a:lnSpc>
                  <a:spcPts val="4559"/>
                </a:lnSpc>
              </a:pPr>
              <a:r>
                <a:rPr lang="en-US" sz="3799">
                  <a:solidFill>
                    <a:srgbClr val="FFFFFF"/>
                  </a:solidFill>
                  <a:latin typeface="Arial"/>
                  <a:ea typeface="Arial"/>
                  <a:cs typeface="Arial"/>
                  <a:sym typeface="Arial"/>
                </a:rPr>
                <a:t>Predicting </a:t>
              </a:r>
              <a:r>
                <a:rPr lang="en-US" b="true" sz="3799">
                  <a:solidFill>
                    <a:srgbClr val="FFFFFF"/>
                  </a:solidFill>
                  <a:latin typeface="Arial Bold"/>
                  <a:ea typeface="Arial Bold"/>
                  <a:cs typeface="Arial Bold"/>
                  <a:sym typeface="Arial Bold"/>
                </a:rPr>
                <a:t>first-time admissions</a:t>
              </a:r>
              <a:r>
                <a:rPr lang="en-US" sz="3799">
                  <a:solidFill>
                    <a:srgbClr val="FFFFFF"/>
                  </a:solidFill>
                  <a:latin typeface="Arial"/>
                  <a:ea typeface="Arial"/>
                  <a:cs typeface="Arial"/>
                  <a:sym typeface="Arial"/>
                </a:rPr>
                <a:t>: Gather data to predict the probability of </a:t>
              </a:r>
              <a:r>
                <a:rPr lang="en-US" b="true" sz="3799">
                  <a:solidFill>
                    <a:srgbClr val="FFFFFF"/>
                  </a:solidFill>
                  <a:latin typeface="Arial Bold"/>
                  <a:ea typeface="Arial Bold"/>
                  <a:cs typeface="Arial Bold"/>
                  <a:sym typeface="Arial Bold"/>
                </a:rPr>
                <a:t>first-time </a:t>
              </a:r>
              <a:r>
                <a:rPr lang="en-US" sz="3799">
                  <a:solidFill>
                    <a:srgbClr val="FFFFFF"/>
                  </a:solidFill>
                  <a:latin typeface="Arial"/>
                  <a:ea typeface="Arial"/>
                  <a:cs typeface="Arial"/>
                  <a:sym typeface="Arial"/>
                </a:rPr>
                <a:t>admissions</a:t>
              </a:r>
            </a:p>
          </p:txBody>
        </p:sp>
      </p:grpSp>
      <p:grpSp>
        <p:nvGrpSpPr>
          <p:cNvPr name="Group 15" id="15"/>
          <p:cNvGrpSpPr/>
          <p:nvPr/>
        </p:nvGrpSpPr>
        <p:grpSpPr>
          <a:xfrm rot="0">
            <a:off x="1005840" y="8061606"/>
            <a:ext cx="16459200" cy="1283419"/>
            <a:chOff x="0" y="0"/>
            <a:chExt cx="21945600" cy="1711226"/>
          </a:xfrm>
        </p:grpSpPr>
        <p:sp>
          <p:nvSpPr>
            <p:cNvPr name="Freeform 16" id="16"/>
            <p:cNvSpPr/>
            <p:nvPr/>
          </p:nvSpPr>
          <p:spPr>
            <a:xfrm flipH="false" flipV="false" rot="0">
              <a:off x="0" y="0"/>
              <a:ext cx="21945600" cy="1711226"/>
            </a:xfrm>
            <a:custGeom>
              <a:avLst/>
              <a:gdLst/>
              <a:ahLst/>
              <a:cxnLst/>
              <a:rect r="r" b="b" t="t" l="l"/>
              <a:pathLst>
                <a:path h="1711226" w="21945600">
                  <a:moveTo>
                    <a:pt x="0" y="0"/>
                  </a:moveTo>
                  <a:lnTo>
                    <a:pt x="21945600" y="0"/>
                  </a:lnTo>
                  <a:lnTo>
                    <a:pt x="21945600" y="1711226"/>
                  </a:lnTo>
                  <a:lnTo>
                    <a:pt x="0" y="1711226"/>
                  </a:lnTo>
                  <a:close/>
                </a:path>
              </a:pathLst>
            </a:custGeom>
            <a:blipFill>
              <a:blip r:embed="rId3">
                <a:alphaModFix amt="0"/>
              </a:blip>
              <a:stretch>
                <a:fillRect l="0" t="-214262" r="0" b="-185509"/>
              </a:stretch>
            </a:blipFill>
          </p:spPr>
        </p:sp>
        <p:sp>
          <p:nvSpPr>
            <p:cNvPr name="TextBox 17" id="17"/>
            <p:cNvSpPr txBox="true"/>
            <p:nvPr/>
          </p:nvSpPr>
          <p:spPr>
            <a:xfrm>
              <a:off x="0" y="-28575"/>
              <a:ext cx="21945600" cy="1739801"/>
            </a:xfrm>
            <a:prstGeom prst="rect">
              <a:avLst/>
            </a:prstGeom>
          </p:spPr>
          <p:txBody>
            <a:bodyPr anchor="ctr" rtlCol="false" tIns="0" lIns="0" bIns="0" rIns="0"/>
            <a:lstStyle/>
            <a:p>
              <a:pPr algn="l">
                <a:lnSpc>
                  <a:spcPts val="4320"/>
                </a:lnSpc>
              </a:pPr>
              <a:r>
                <a:rPr lang="en-US" b="true" sz="3600">
                  <a:solidFill>
                    <a:srgbClr val="00A4A6"/>
                  </a:solidFill>
                  <a:latin typeface="Arial Bold"/>
                  <a:ea typeface="Arial Bold"/>
                  <a:cs typeface="Arial Bold"/>
                  <a:sym typeface="Arial Bold"/>
                </a:rPr>
                <a:t>Models predicting even 10-15% of future admissions could be transformative for </a:t>
              </a:r>
              <a:r>
                <a:rPr lang="en-US" b="true" sz="3600" u="sng">
                  <a:solidFill>
                    <a:srgbClr val="00A4A6"/>
                  </a:solidFill>
                  <a:latin typeface="Arial Bold"/>
                  <a:ea typeface="Arial Bold"/>
                  <a:cs typeface="Arial Bold"/>
                  <a:sym typeface="Arial Bold"/>
                </a:rPr>
                <a:t>preventive healthcare</a:t>
              </a:r>
              <a:r>
                <a:rPr lang="en-US" b="true" sz="3600">
                  <a:solidFill>
                    <a:srgbClr val="00A4A6"/>
                  </a:solidFill>
                  <a:latin typeface="Arial Bold"/>
                  <a:ea typeface="Arial Bold"/>
                  <a:cs typeface="Arial Bold"/>
                  <a:sym typeface="Arial Bold"/>
                </a:rPr>
                <a:t>.</a:t>
              </a:r>
            </a:p>
          </p:txBody>
        </p:sp>
      </p:grpSp>
      <p:grpSp>
        <p:nvGrpSpPr>
          <p:cNvPr name="Group 18" id="18"/>
          <p:cNvGrpSpPr/>
          <p:nvPr/>
        </p:nvGrpSpPr>
        <p:grpSpPr>
          <a:xfrm rot="0">
            <a:off x="914400" y="9692640"/>
            <a:ext cx="14630400" cy="548402"/>
            <a:chOff x="0" y="0"/>
            <a:chExt cx="19507200" cy="731202"/>
          </a:xfrm>
        </p:grpSpPr>
        <p:sp>
          <p:nvSpPr>
            <p:cNvPr name="Freeform 19" id="19"/>
            <p:cNvSpPr/>
            <p:nvPr/>
          </p:nvSpPr>
          <p:spPr>
            <a:xfrm flipH="false" flipV="false" rot="0">
              <a:off x="0" y="0"/>
              <a:ext cx="19507200" cy="731200"/>
            </a:xfrm>
            <a:custGeom>
              <a:avLst/>
              <a:gdLst/>
              <a:ahLst/>
              <a:cxnLst/>
              <a:rect r="r" b="b" t="t" l="l"/>
              <a:pathLst>
                <a:path h="731200" w="19507200">
                  <a:moveTo>
                    <a:pt x="0" y="0"/>
                  </a:moveTo>
                  <a:lnTo>
                    <a:pt x="19507200" y="0"/>
                  </a:lnTo>
                  <a:lnTo>
                    <a:pt x="19507200" y="731200"/>
                  </a:lnTo>
                  <a:lnTo>
                    <a:pt x="0" y="731200"/>
                  </a:lnTo>
                  <a:close/>
                </a:path>
              </a:pathLst>
            </a:custGeom>
            <a:blipFill>
              <a:blip r:embed="rId3">
                <a:alphaModFix amt="0"/>
              </a:blip>
              <a:stretch>
                <a:fillRect l="0" t="-469828" r="0" b="-469828"/>
              </a:stretch>
            </a:blipFill>
          </p:spPr>
        </p:sp>
        <p:sp>
          <p:nvSpPr>
            <p:cNvPr name="TextBox 20" id="20"/>
            <p:cNvSpPr txBox="true"/>
            <p:nvPr/>
          </p:nvSpPr>
          <p:spPr>
            <a:xfrm>
              <a:off x="0" y="-38100"/>
              <a:ext cx="19507200" cy="769302"/>
            </a:xfrm>
            <a:prstGeom prst="rect">
              <a:avLst/>
            </a:prstGeom>
          </p:spPr>
          <p:txBody>
            <a:bodyPr anchor="ctr" rtlCol="false" tIns="0" lIns="0" bIns="0" rIns="0"/>
            <a:lstStyle/>
            <a:p>
              <a:pPr algn="l">
                <a:lnSpc>
                  <a:spcPts val="2160"/>
                </a:lnSpc>
              </a:pPr>
              <a:r>
                <a:rPr lang="en-US" sz="1800">
                  <a:solidFill>
                    <a:srgbClr val="808080"/>
                  </a:solidFill>
                  <a:latin typeface="Calibri (MS)"/>
                  <a:ea typeface="Calibri (MS)"/>
                  <a:cs typeface="Calibri (MS)"/>
                  <a:sym typeface="Calibri (MS)"/>
                </a:rPr>
                <a:t>SOURCE: HeatlhHub Singapore</a:t>
              </a:r>
            </a:p>
          </p:txBody>
        </p:sp>
      </p:grpSp>
      <p:grpSp>
        <p:nvGrpSpPr>
          <p:cNvPr name="Group 21" id="21"/>
          <p:cNvGrpSpPr/>
          <p:nvPr/>
        </p:nvGrpSpPr>
        <p:grpSpPr>
          <a:xfrm rot="0">
            <a:off x="17007840" y="9692640"/>
            <a:ext cx="914400" cy="548402"/>
            <a:chOff x="0" y="0"/>
            <a:chExt cx="1219200" cy="731202"/>
          </a:xfrm>
        </p:grpSpPr>
        <p:sp>
          <p:nvSpPr>
            <p:cNvPr name="Freeform 22" id="22"/>
            <p:cNvSpPr/>
            <p:nvPr/>
          </p:nvSpPr>
          <p:spPr>
            <a:xfrm flipH="false" flipV="false" rot="0">
              <a:off x="0" y="0"/>
              <a:ext cx="1219200" cy="731200"/>
            </a:xfrm>
            <a:custGeom>
              <a:avLst/>
              <a:gdLst/>
              <a:ahLst/>
              <a:cxnLst/>
              <a:rect r="r" b="b" t="t" l="l"/>
              <a:pathLst>
                <a:path h="731200" w="1219200">
                  <a:moveTo>
                    <a:pt x="0" y="0"/>
                  </a:moveTo>
                  <a:lnTo>
                    <a:pt x="1219200" y="0"/>
                  </a:lnTo>
                  <a:lnTo>
                    <a:pt x="1219200" y="731200"/>
                  </a:lnTo>
                  <a:lnTo>
                    <a:pt x="0" y="731200"/>
                  </a:lnTo>
                  <a:close/>
                </a:path>
              </a:pathLst>
            </a:custGeom>
            <a:blipFill>
              <a:blip r:embed="rId3">
                <a:alphaModFix amt="0"/>
              </a:blip>
              <a:stretch>
                <a:fillRect l="-26948" t="0" r="-26948" b="0"/>
              </a:stretch>
            </a:blipFill>
          </p:spPr>
        </p:sp>
        <p:sp>
          <p:nvSpPr>
            <p:cNvPr name="TextBox 23" id="23"/>
            <p:cNvSpPr txBox="true"/>
            <p:nvPr/>
          </p:nvSpPr>
          <p:spPr>
            <a:xfrm>
              <a:off x="0" y="-38100"/>
              <a:ext cx="1219200" cy="769302"/>
            </a:xfrm>
            <a:prstGeom prst="rect">
              <a:avLst/>
            </a:prstGeom>
          </p:spPr>
          <p:txBody>
            <a:bodyPr anchor="ctr" rtlCol="false" tIns="0" lIns="0" bIns="0" rIns="0"/>
            <a:lstStyle/>
            <a:p>
              <a:pPr algn="r">
                <a:lnSpc>
                  <a:spcPts val="2400"/>
                </a:lnSpc>
              </a:pPr>
              <a:r>
                <a:rPr lang="en-US" sz="2000">
                  <a:solidFill>
                    <a:srgbClr val="808080"/>
                  </a:solidFill>
                  <a:latin typeface="Calibri (MS)"/>
                  <a:ea typeface="Calibri (MS)"/>
                  <a:cs typeface="Calibri (MS)"/>
                  <a:sym typeface="Calibri (MS)"/>
                </a:rPr>
                <a:t>14</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DAHCT8i_dQI</dc:identifier>
  <dcterms:modified xsi:type="dcterms:W3CDTF">2011-08-01T06:04:30Z</dcterms:modified>
  <cp:revision>1</cp:revision>
  <dc:title>Diabetes Readmission Presentation</dc:title>
</cp:coreProperties>
</file>